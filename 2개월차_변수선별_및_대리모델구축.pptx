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설계변수 11개를 정의하고, 확정적 선별 설계(DSD) 29회로 활성 변수 8개를 선별했다. 활성 변수로 최적라틴방격법(OLHD) 80점을 해석해 가우시안 프로세스 회귀(GPR) 대리모델을 학습시켰고, 교차검증으로 처음 보는 설계도 잘 맞히는지 확인했다. 2단계로 나눈 이유는 역할이 다르기 때문이다. DSD는 적은 해석으로 주효과(변수 하나만의 효과)를 판정하는 데 강하지만, 교호작용(변수끼리 얽힌 효과)의 크기는 정확히 분리하지 못한다. 그 부분은 GPR이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변수 11개 중 영향 있는 변수만 골라내기 위해 선별 실험을 했습니다. 기법은 DSD, 확정적 선별 설계로, 29번 해석으로 11개 변수를 판정하는 표준 실험표입니다. 왼쪽 표에서 한 줄이 해석 한 번이고, 매번 변수 하나만 중간값, 나머지는 최소·최대값에 둡니다. 아래 절반은 위 절반을 정반대로 뒤집은 것이고, 마지막 한 번은 전부 중간값입니다. 여기에 형상에 아무 영향도 주지 않는 가짜 인자 3개를 같이 넣었습니다. 오른쪽은 최고온도 예시인데, 가짜 인자에서도 0.15℃ 정도 차이가 나는데, 이게 잡음 수준입니다. 1차 핀 개수는 2.5℃로 이보다 훨씬 커서 영향 있는 변수로, 1차 핀 두께는 0.19℃로 잡음과 비슷해 최고온도에는 영향 없는 것으로 판정합니다. 판정 규칙은 결과를 보기 전에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분산 기여율, 즉 응답 변동 중 그 변수가 설명하는 비율이다. 11개 중 8개가 활성, 입구 각도·중간 각도·출구 유로 두께 3개는 어떤 응답에서도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활성 변수 8개로 최적라틴방격법(OLHD) 80점을 해석했다. OLHD는 각 변수의 범위를 80구간으로 나눠 구간마다 한 점씩 쓰고, 점 사이 최소 거리가 최대가 되도록 배치해 적은 점으로도 설계공간을 고르게 채우는 실험계획법이다.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회귀(GPR)는 해석 결과를 학습해 해석하지 않은 설계의 성능을 예측하는 대리모델이다. 다른 회귀 모델과 달리 예측값과 함께 불확실성(신뢰구간)을 준다. 실험점이 촘촘한 곳은 불확실성이 작고, 실험점 사이가 먼 곳은 커진다. 불확실성이 큰 곳은 정보가 부족한 곳이라, 차월 적응 샘플링에서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 생성(DSD.py)과 선별 판정·대리모델 학습(DSD_analysis.py, ML.py)을 추가했다. 형상 빌드, 해석, 결과 저장 모듈은 그대로 활용한다. 선별이 끝나면 프로그램이 멈추고 판정 결과를 사람이 확인한 뒤 2단계로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10-fold 교차검증으로 정확도를 확인했다. 80점을 10묶음으로 나눠 한 묶음씩 빼고 학습한 모델로 빠진 묶음을 예측했다. 즉 모델이 처음 보는 설계를 얼마나 맞히는지 본 것이다. 점이 빨간 대각선에 가까울수록 정확하다. 결정계수 R²는 1에 가까울수록 정확한데, 응답 7개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응답마다 1순위 변수를 DSD 분산 기여율(29회)과 GPR 기반 Sobol 주효과 지수 S1(80점 학습)에서 각각 뽑아 비교한 것이다. 방법도 데이터도 다른데 7개 중 6개가 같았고, 중량은 핀 변수 4개가 비슷하게 영향을 줘서 순위 차이에 의미가 없다. 오른쪽은 DSD로는 분리할 수 없는 교호작용의 비율로, 1에서 주효과 지수의 합을 뺀 값이다. 온도나 분기비는 거의 주효과로 설명되지만, 1차·2차 균일도는 13~19%가 교호작용이다. 예를 들어 분기 입구 두께는 2차 균일도에 주효과 지수 7% 정도지만, 교호작용까지 포함한 총효과 지수는 18%다. 그래서 균일도는 변수를 하나씩 조정해서는 최적점을 찾기 어렵고, 대리모델 기반으로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응답은 2차 균일도다. 값 자체가 0에 가깝고, 분기 이후 구간이라 교호작용이 응답 중 가장 크다. 80점만으로는 이 영역을 충분히 덮지 못했다. 차월에는 대리모델의 불확실성이 큰 지점을 골라 해석을 추가하는 적응 샘플링으로 이 부분을 보강하고, 그 위에서 다목적 최적화로 파레토 최적해를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기본 14회는 회의 행렬이라는 표로, 대각선은 0, 나머지는 ±1이고, 아무 두 변수를 골라도 같은 쪽인 횟수와 반대쪽인 횟수가 같다. 거울상은 기본 14회의 부호를 모두 뒤집은 것으로, 쌍에서 주효과는 부호가 뒤집히고 교호작용·곡률은 그대로라 주효과가 교호작용·곡률과 섞이지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정의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선별 실험(DSD) 설계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및 활성 변수 확정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활성 변수 실험계획(OLHD)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가우시안 프로세스 회귀(GPR)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예측값 · 실측값 비교 (교차검증)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변수별 민감도(Sobol)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11개에서 대리모델까지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정의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통과별 독립)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(확정적 선별 설계)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활성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채우도록 실험점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구축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(가우시안 프로세스 회귀)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민감도 분석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Sobol 지수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 —  목적함수 5 + 제약조건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출구 사이 압력 차이 (펌프 부담)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중 가장 높은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간 평균 온도의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'DSD → GPR' 2단계인가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주효과(변수 하나만의 효과)를 29회로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비활성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교호작용(변수끼리 얽힌 효과)까지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 예측 · Sobol 민감도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통과별 독립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갭(핀 사이 간격)은 두께 · 개수로 정해지는 종속값 — 최소 2.0 mm (제작 한계 2.5 mm는 최적화 단계 제약으로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11차원 설계공간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필요한 해석 수 급증 → 변수 선별 먼저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 설계  —  DSD (확정적 선별 설계)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선별부터 · 어떻게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0136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013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177393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모두 학습하면 해석 수 급증 → 영향 없는 변수를 먼저 고정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3816" y="216712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2167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618488" y="213969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(Jones &amp; Nachtsheim, 2011) — 3수준 표준 선별 실험표, 29회 해석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560320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560320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65960" y="2798064"/>
            <a:ext cx="2688336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98064"/>
            <a:ext cx="713232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4436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1284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5973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662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351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728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4106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8795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3484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81728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8616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75504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6596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12848" y="301020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59736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0662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53512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47288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94176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4106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87952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3484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81728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28616" y="301020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75504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6596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1284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59736" y="307604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06624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5351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0040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4728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94176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41064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8795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34840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81728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28616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75504" y="307604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65960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2848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45973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06624" y="314187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53512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47288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9417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41064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87952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3484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81728" y="314187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28616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75504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212848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459736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0662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953512" y="320771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0040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47288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94176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4106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87952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434840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81728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28616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75504" y="320771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65960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21284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59736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06624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95351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0" y="327355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44728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694176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941064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18795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34840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681728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8616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75504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6596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212848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5973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706624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53512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20040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47288" y="333938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9417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941064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187952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43484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81728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28616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75504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596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212848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59736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70662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953512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200400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47288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94176" y="340522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4106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187952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43484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81728" y="340522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928616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75504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96596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84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459736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6624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5351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20040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44728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694176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941064" y="347106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8795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434840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681728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928616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175504" y="347106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96596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212848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45973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706624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953512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20040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447288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69417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941064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187952" y="353689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3484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681728" y="353689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928616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75504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960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21284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459736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0662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953512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200400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44728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3694176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94106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187952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434840" y="360273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681728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928616" y="360273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175504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96596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212848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45973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706624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5351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200400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447288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9417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941064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18795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43484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4681728" y="3668573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4928616" y="3668573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175504" y="366857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965960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21284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459736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70662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953512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320040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44728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3694176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394106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187952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43484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681728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3734410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175504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6596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212848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45973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706624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95351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200400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447288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69417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941064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18795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43484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681728" y="380024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928616" y="380024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175504" y="3800246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1965960" y="3911803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21284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45973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70662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95351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20040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44728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69417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94106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18795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43484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681728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928616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175504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96596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212848" y="397764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459736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70662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953512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20040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447288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694176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394106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187952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43484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681728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928616" y="397764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175504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96596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1284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459736" y="404347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706624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95351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20040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44728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94176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3941064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18795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434840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681728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928616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175504" y="404347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1965960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212848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45973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706624" y="410931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953512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320040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447288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9417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3941064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187952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43484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81728" y="410931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928616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5175504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96596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212848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459736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70662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953512" y="417515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20040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447288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94176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94106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187952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434840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681728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4928616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175504" y="417515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965960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21284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459736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706624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95351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200400" y="424098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44728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694176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941064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18795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434840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4681728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4928616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175504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96596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212848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45973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706624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953512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20040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447288" y="430682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9417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941064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4187952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443484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4681728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4928616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175504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96596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212848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459736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70662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953512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200400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447288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694176" y="437266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94106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4187952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43484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4681728" y="437266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4928616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175504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96596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21284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59736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706624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95351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20040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44728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694176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941064" y="443849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18795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434840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681728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4928616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5175504" y="443849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96596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212848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45973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06624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953512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20040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7288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9417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941064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187952" y="450433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43484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4681728" y="450433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28616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5175504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965960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21284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459736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70662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953512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200400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4728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694176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94106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4187952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4434840" y="457017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4681728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4928616" y="457017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5175504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196596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212848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45973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06624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95351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200400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447288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9417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941064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418795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443484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681728" y="463600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928616" y="463600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5175504" y="463600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1965960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21284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459736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0662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953512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20040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44728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94176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94106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4187952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443484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4681728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4928616" y="4701845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5175504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196596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212848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45973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06624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95351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200400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47288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69417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941064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418795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443484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4681728" y="476768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4928616" y="476768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5175504" y="4767682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196596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21284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45973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70662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95351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20040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44728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69417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94106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418795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443484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4681728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4928616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5175504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1874520" y="2953512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6" name="Text 424"/>
          <p:cNvSpPr txBox="1"/>
          <p:nvPr/>
        </p:nvSpPr>
        <p:spPr>
          <a:xfrm>
            <a:off x="722376" y="328635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기본 14회</a:t>
            </a:r>
            <a:endParaRPr lang="en-US" sz="850" dirty="0"/>
          </a:p>
        </p:txBody>
      </p:sp>
      <p:sp>
        <p:nvSpPr>
          <p:cNvPr id="427" name="Shape 425"/>
          <p:cNvSpPr/>
          <p:nvPr/>
        </p:nvSpPr>
        <p:spPr>
          <a:xfrm>
            <a:off x="1874520" y="3920947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8" name="Text 426"/>
          <p:cNvSpPr txBox="1"/>
          <p:nvPr/>
        </p:nvSpPr>
        <p:spPr>
          <a:xfrm>
            <a:off x="722376" y="4253789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거울상 14회</a:t>
            </a:r>
            <a:endParaRPr lang="en-US" sz="850" dirty="0"/>
          </a:p>
        </p:txBody>
      </p:sp>
      <p:sp>
        <p:nvSpPr>
          <p:cNvPr id="429" name="Shape 427"/>
          <p:cNvSpPr/>
          <p:nvPr/>
        </p:nvSpPr>
        <p:spPr>
          <a:xfrm>
            <a:off x="1874520" y="4888382"/>
            <a:ext cx="0" cy="38405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30" name="Text 428"/>
          <p:cNvSpPr txBox="1"/>
          <p:nvPr/>
        </p:nvSpPr>
        <p:spPr>
          <a:xfrm>
            <a:off x="722376" y="4793285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중심점 1회</a:t>
            </a:r>
            <a:endParaRPr lang="en-US" sz="850" dirty="0"/>
          </a:p>
        </p:txBody>
      </p:sp>
      <p:sp>
        <p:nvSpPr>
          <p:cNvPr id="431" name="Shape 429"/>
          <p:cNvSpPr/>
          <p:nvPr/>
        </p:nvSpPr>
        <p:spPr>
          <a:xfrm>
            <a:off x="1965960" y="5027371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220370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최소값</a:t>
            </a:r>
            <a:endParaRPr lang="en-US" sz="850" dirty="0"/>
          </a:p>
        </p:txBody>
      </p:sp>
      <p:sp>
        <p:nvSpPr>
          <p:cNvPr id="433" name="Shape 431"/>
          <p:cNvSpPr/>
          <p:nvPr/>
        </p:nvSpPr>
        <p:spPr>
          <a:xfrm>
            <a:off x="2926080" y="5027371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4" name="Text 432"/>
          <p:cNvSpPr txBox="1"/>
          <p:nvPr/>
        </p:nvSpPr>
        <p:spPr>
          <a:xfrm>
            <a:off x="316382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중간값</a:t>
            </a:r>
            <a:endParaRPr lang="en-US" sz="850" dirty="0"/>
          </a:p>
        </p:txBody>
      </p:sp>
      <p:sp>
        <p:nvSpPr>
          <p:cNvPr id="435" name="Shape 433"/>
          <p:cNvSpPr/>
          <p:nvPr/>
        </p:nvSpPr>
        <p:spPr>
          <a:xfrm>
            <a:off x="3886200" y="5027371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6" name="Text 434"/>
          <p:cNvSpPr txBox="1"/>
          <p:nvPr/>
        </p:nvSpPr>
        <p:spPr>
          <a:xfrm>
            <a:off x="412394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</a:t>
            </a:r>
            <a:endParaRPr lang="en-US" sz="850" dirty="0"/>
          </a:p>
        </p:txBody>
      </p:sp>
      <p:sp>
        <p:nvSpPr>
          <p:cNvPr id="437" name="Text 435"/>
          <p:cNvSpPr txBox="1"/>
          <p:nvPr/>
        </p:nvSpPr>
        <p:spPr>
          <a:xfrm>
            <a:off x="813816" y="5310835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1회. 매번 변수 하나만 중간값, 나머지는 최소 · 최대값</a:t>
            </a:r>
            <a:endParaRPr lang="en-US" sz="900" dirty="0"/>
          </a:p>
        </p:txBody>
      </p:sp>
      <p:sp>
        <p:nvSpPr>
          <p:cNvPr id="438" name="Text 436"/>
          <p:cNvSpPr txBox="1"/>
          <p:nvPr/>
        </p:nvSpPr>
        <p:spPr>
          <a:xfrm>
            <a:off x="813816" y="5557723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①을 정반대(최소 ↔ 최대)로 뒤집어 한 번 더</a:t>
            </a:r>
            <a:endParaRPr lang="en-US" sz="900" dirty="0"/>
          </a:p>
        </p:txBody>
      </p:sp>
      <p:sp>
        <p:nvSpPr>
          <p:cNvPr id="439" name="Text 437"/>
          <p:cNvSpPr txBox="1"/>
          <p:nvPr/>
        </p:nvSpPr>
        <p:spPr>
          <a:xfrm>
            <a:off x="813816" y="5804611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중간값으로 한 번</a:t>
            </a:r>
            <a:endParaRPr lang="en-US" sz="900" dirty="0"/>
          </a:p>
        </p:txBody>
      </p:sp>
      <p:sp>
        <p:nvSpPr>
          <p:cNvPr id="440" name="Shape 438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41" name="Shape 439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2" name="Text 440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인자로 잡음 수준 추정</a:t>
            </a:r>
            <a:endParaRPr lang="en-US" sz="1300" dirty="0"/>
          </a:p>
        </p:txBody>
      </p:sp>
      <p:sp>
        <p:nvSpPr>
          <p:cNvPr id="443" name="Text 441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</a:t>
            </a:r>
            <a:pPr indent="0" marL="0"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표에 칸만 있고 형상은 바꾸지 않는 빈 변수 → 효과가 0이어야 정상</a:t>
            </a:r>
            <a:endParaRPr lang="en-US" sz="920" dirty="0"/>
          </a:p>
        </p:txBody>
      </p:sp>
      <p:sp>
        <p:nvSpPr>
          <p:cNvPr id="444" name="Text 442"/>
          <p:cNvSpPr txBox="1"/>
          <p:nvPr/>
        </p:nvSpPr>
        <p:spPr>
          <a:xfrm>
            <a:off x="6647688" y="20848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 예시  —  최대값 13회 평균과 최소값 13회 평균의 차이</a:t>
            </a:r>
            <a:endParaRPr lang="en-US" sz="950" dirty="0"/>
          </a:p>
        </p:txBody>
      </p:sp>
      <p:sp>
        <p:nvSpPr>
          <p:cNvPr id="445" name="Text 443"/>
          <p:cNvSpPr txBox="1"/>
          <p:nvPr/>
        </p:nvSpPr>
        <p:spPr>
          <a:xfrm>
            <a:off x="6647688" y="239572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900" dirty="0"/>
          </a:p>
        </p:txBody>
      </p:sp>
      <p:sp>
        <p:nvSpPr>
          <p:cNvPr id="446" name="Shape 444"/>
          <p:cNvSpPr/>
          <p:nvPr/>
        </p:nvSpPr>
        <p:spPr>
          <a:xfrm>
            <a:off x="7836408" y="2441448"/>
            <a:ext cx="2822067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7" name="Text 445"/>
          <p:cNvSpPr txBox="1"/>
          <p:nvPr/>
        </p:nvSpPr>
        <p:spPr>
          <a:xfrm>
            <a:off x="10731627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 ℃</a:t>
            </a:r>
            <a:endParaRPr lang="en-US" sz="900" dirty="0"/>
          </a:p>
        </p:txBody>
      </p:sp>
      <p:sp>
        <p:nvSpPr>
          <p:cNvPr id="448" name="Text 446"/>
          <p:cNvSpPr txBox="1"/>
          <p:nvPr/>
        </p:nvSpPr>
        <p:spPr>
          <a:xfrm>
            <a:off x="6647688" y="269748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7836408" y="2743200"/>
            <a:ext cx="1692783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50" name="Text 448"/>
          <p:cNvSpPr txBox="1"/>
          <p:nvPr/>
        </p:nvSpPr>
        <p:spPr>
          <a:xfrm>
            <a:off x="9602343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1.48 ℃</a:t>
            </a:r>
            <a:endParaRPr lang="en-US" sz="900" dirty="0"/>
          </a:p>
        </p:txBody>
      </p:sp>
      <p:sp>
        <p:nvSpPr>
          <p:cNvPr id="451" name="Text 449"/>
          <p:cNvSpPr txBox="1"/>
          <p:nvPr/>
        </p:nvSpPr>
        <p:spPr>
          <a:xfrm>
            <a:off x="6647688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900" dirty="0"/>
          </a:p>
        </p:txBody>
      </p:sp>
      <p:sp>
        <p:nvSpPr>
          <p:cNvPr id="452" name="Shape 450"/>
          <p:cNvSpPr/>
          <p:nvPr/>
        </p:nvSpPr>
        <p:spPr>
          <a:xfrm>
            <a:off x="7836408" y="3044952"/>
            <a:ext cx="213741" cy="146304"/>
          </a:xfrm>
          <a:prstGeom prst="rect">
            <a:avLst/>
          </a:prstGeom>
          <a:solidFill>
            <a:srgbClr val="B9C7D8"/>
          </a:solidFill>
          <a:ln w="12700">
            <a:solidFill>
              <a:srgbClr val="B9C7D8"/>
            </a:solidFill>
            <a:prstDash val="solid"/>
          </a:ln>
        </p:spPr>
      </p:sp>
      <p:sp>
        <p:nvSpPr>
          <p:cNvPr id="453" name="Text 451"/>
          <p:cNvSpPr txBox="1"/>
          <p:nvPr/>
        </p:nvSpPr>
        <p:spPr>
          <a:xfrm>
            <a:off x="8123301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0.19 ℃</a:t>
            </a:r>
            <a:endParaRPr lang="en-US" sz="900" dirty="0"/>
          </a:p>
        </p:txBody>
      </p:sp>
      <p:sp>
        <p:nvSpPr>
          <p:cNvPr id="454" name="Text 452"/>
          <p:cNvSpPr txBox="1"/>
          <p:nvPr/>
        </p:nvSpPr>
        <p:spPr>
          <a:xfrm>
            <a:off x="6647688" y="33009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2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7836408" y="3346704"/>
            <a:ext cx="170307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6" name="Text 454"/>
          <p:cNvSpPr txBox="1"/>
          <p:nvPr/>
        </p:nvSpPr>
        <p:spPr>
          <a:xfrm>
            <a:off x="8079867" y="33009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 ℃</a:t>
            </a:r>
            <a:endParaRPr lang="en-US" sz="900" dirty="0"/>
          </a:p>
        </p:txBody>
      </p:sp>
      <p:sp>
        <p:nvSpPr>
          <p:cNvPr id="457" name="Text 455"/>
          <p:cNvSpPr txBox="1"/>
          <p:nvPr/>
        </p:nvSpPr>
        <p:spPr>
          <a:xfrm>
            <a:off x="6647688" y="36027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</a:t>
            </a:r>
            <a:endParaRPr lang="en-US" sz="900" dirty="0"/>
          </a:p>
        </p:txBody>
      </p:sp>
      <p:sp>
        <p:nvSpPr>
          <p:cNvPr id="458" name="Shape 456"/>
          <p:cNvSpPr/>
          <p:nvPr/>
        </p:nvSpPr>
        <p:spPr>
          <a:xfrm>
            <a:off x="7836408" y="3648456"/>
            <a:ext cx="2400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9" name="Text 457"/>
          <p:cNvSpPr txBox="1"/>
          <p:nvPr/>
        </p:nvSpPr>
        <p:spPr>
          <a:xfrm>
            <a:off x="8079867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0.02 ℃</a:t>
            </a:r>
            <a:endParaRPr lang="en-US" sz="900" dirty="0"/>
          </a:p>
        </p:txBody>
      </p:sp>
      <p:sp>
        <p:nvSpPr>
          <p:cNvPr id="460" name="Text 458"/>
          <p:cNvSpPr txBox="1"/>
          <p:nvPr/>
        </p:nvSpPr>
        <p:spPr>
          <a:xfrm>
            <a:off x="6647688" y="390448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1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7836408" y="3950208"/>
            <a:ext cx="22860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2" name="Text 460"/>
          <p:cNvSpPr txBox="1"/>
          <p:nvPr/>
        </p:nvSpPr>
        <p:spPr>
          <a:xfrm>
            <a:off x="8079867" y="3904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℃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8006715" y="2359152"/>
            <a:ext cx="0" cy="1847088"/>
          </a:xfrm>
          <a:prstGeom prst="line">
            <a:avLst/>
          </a:prstGeom>
          <a:noFill/>
          <a:ln w="12700">
            <a:solidFill>
              <a:srgbClr val="0088A6"/>
            </a:solidFill>
            <a:prstDash val="dash"/>
          </a:ln>
        </p:spPr>
      </p:sp>
      <p:sp>
        <p:nvSpPr>
          <p:cNvPr id="464" name="Text 462"/>
          <p:cNvSpPr txBox="1"/>
          <p:nvPr/>
        </p:nvSpPr>
        <p:spPr>
          <a:xfrm>
            <a:off x="8043291" y="4187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수준</a:t>
            </a:r>
            <a:endParaRPr lang="en-US" sz="800" dirty="0"/>
          </a:p>
        </p:txBody>
      </p:sp>
      <p:sp>
        <p:nvSpPr>
          <p:cNvPr id="465" name="Text 463"/>
          <p:cNvSpPr txBox="1"/>
          <p:nvPr/>
        </p:nvSpPr>
        <p:spPr>
          <a:xfrm>
            <a:off x="6647688" y="44439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인자도 최대 0.15 ℃ 차이 → 이 정도는 잡음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2.47 ℃ → 잡음보다 훨씬 큼 → 영향 있음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 0.19 ℃ → 잡음과 비슷 → 최고온도에는 영향 없음</a:t>
            </a:r>
            <a:endParaRPr lang="en-US" sz="900" dirty="0"/>
          </a:p>
        </p:txBody>
      </p:sp>
      <p:sp>
        <p:nvSpPr>
          <p:cNvPr id="466" name="Shape 464"/>
          <p:cNvSpPr/>
          <p:nvPr/>
        </p:nvSpPr>
        <p:spPr>
          <a:xfrm>
            <a:off x="6647688" y="5266944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7" name="Text 465"/>
          <p:cNvSpPr txBox="1"/>
          <p:nvPr/>
        </p:nvSpPr>
        <p:spPr>
          <a:xfrm>
            <a:off x="6793992" y="52669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 —  실험 전에 고정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통계적 유의성  p ≤ 0.05 : 가짜 인자(잡음) 수준보다 확실히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분산 기여율  ≥ 2% : 응답 변동의 2% 이상을 차지할 만큼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둘 다 만족하면 '영향 있음', 응답 7개 모두에서 영향 없으면 고정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및 활성 변수 확정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분산 기여율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기여율 = 응답 변동 중 그 변수가 설명하는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인정 (p ≤ 0.05 그리고 기여율 ≥ 2%)  ·  회색 숫자 = 영향 없음  ·  고정값: 주효과가 유의한 목적함수(차압)가 유리한 끝값,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 갭 제약(핀이 많을수록 두께 상한이 낮아짐) 영역 안에만 분포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제약이 없는 변수 쌍은 설계공간 전체에 고르게 분포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8)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실험계획법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최적라틴방격법(OLHD) — 각 변수 범위를 80구간으로 나눠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구간마다 한 점씩 + 점 간 최소 거리 최대화 →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사이가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커짐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(±2σ, 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+ 불확실성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예측과 함께 신뢰구간을 제공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 규모에 적합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해석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Sobol 지수 · 교호작용 산출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곳을 다음 해석 후보로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7개 → 응답별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(목적함수 5 + 제약조건 2)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Matern(ν = 2.5) + ARD(변수별 길이척도)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매끄러운 응답 가정, 변수마다 민감도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단계 관리  —  선별 29회 → 판정 확인 → 실험계획 80점, 실험점마다 아래 단계를 순서대로 호출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생성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빌드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11개 갱신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리빌드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산출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모델 7개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데이터셋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· 대리모델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경로 일원화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목적함수 · 제약조건 목록 일원화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판정을 확인한 뒤 2단계로 진행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코드화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고정 규칙을 코드에 명시 — 임의 변경 차단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자동해석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  —  10-fold 교차검증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R²  (결정계수)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 = 응답 변동의 90%를 설명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10-fold: 80점을 10묶음으로 나눠 한 묶음씩 빼고 학습 → 뺀 묶음을 예측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예측값 = 실측값 (선에 가까울수록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1순위 변수  —  DSD vs GPR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08760"/>
                <a:gridCol w="17373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기여율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GPR Sobol S1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응답에서 1순위 일치 — 서로 다른 방법 · 데이터로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주효과(S1)로 설명되지 않는 부분 = 변수끼리 얽힌 효과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두께: 주효과 지수 S1 7% → 총효과 지수 ST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변수별 개별 조정으로 최적점 탐색 곤란 → 대리모델 기반 최적화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응답 5개에서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GPR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19% → DSD로는 분리 못 하는 부분을 GPR로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응답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 유량의 표준편차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이후 구간이라 여러 변수가 함께 작용 — 교호작용 19%로 응답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 영역의 변화를 충분히 덮지 못함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지점을 골라 해석을 추가해 정확도 보강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위에서 파레토 최적해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교차검증 R²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구성 원리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14회의 정체  —  회의 행렬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79222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①  대각선은 0 (해석마다 변수 하나만 중간값)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②  나머지는 +1 또는 −1 (최대값 또는 최소값)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③  아무 두 변수를 골라도, 같은 쪽인 횟수 = 반대쪽인 횟수 (직교)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4개 예시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80944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813816" y="4498848"/>
            <a:ext cx="4846320" cy="1554480"/>
          </a:xfrm>
          <a:prstGeom prst="roundRect">
            <a:avLst>
              <a:gd name="adj" fmla="val 35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49884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A와 B가 함께 값을 갖는 해석은 3번 · 4번 두 번뿐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3번: A −, B − → 같은 쪽   /   4번: A −, B + → 반대쪽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쪽 1번, 반대쪽 1번 (다른 두 변수도 모두 동일)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행만 정하면 나머지는 규칙 ③을 맞추다 보면 자동으로 채워짐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과제 14 × 14는 Paley 구성법으로 코드가 자동 생성 · 검증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거울상을 붙이는 이유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7922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 = 변수 하나만의 효과   ·   교호작용 = 두 변수가 함께 바뀔 때의 추가 효과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교호작용 A×B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곡률 A²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행  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거울상  −x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쌍에서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6647688" y="3474720"/>
            <a:ext cx="4846320" cy="118872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93992" y="34747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차이 → 주효과만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평균 → 교호작용 · 곡률만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주효과가 교호작용 · 곡률과 섞이지 않음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647688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중심점 1회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 → 곡률(중간값이 나은지) 판단의 기준점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교호작용끼리는 서로 일부 섞임 (부분 교락)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2026-10-27T04:19:01Z</dcterms:created>
  <dcterms:modified xsi:type="dcterms:W3CDTF">2026-10-27T04:19:01Z</dcterms:modified>
</cp:coreProperties>
</file>