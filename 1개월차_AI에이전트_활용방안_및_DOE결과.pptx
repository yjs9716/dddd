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1개월차 산출물 발표. 해석 자동화 파이프라인 구축과 DOE 데이터 확보까지가 이번 달 범위이며, 대리모델 학습은 차월 주제임을 먼저 밝힌다.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01은 망분리 환경에서 AI를 어떻게 활용했는지, 02는 무엇을 설계변수로 두었는지, 03은 자동해석을 통해 실제로 확보한 데이터를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변수를 늘리기만 한 것이 아니라, 근거를 갖고 2개를 고정해 탐색 예산을 방열핀 쪽으로 재배분했다는 점을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핀 두께와 개수는 독립 변수처럼 보이지만 가공 제약 때문에 서로 묶인다. 이 점이 DOE 실험점 생성 방식에 영향을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조용히 잘못된 데이터가 쌓이는 실패 모드를 어떻게 막았는지가 이 장의 요지.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1회 해석에 수십 분이 걸리므로 무인 연속 운전이 전제 조건. 사람이 붙어 있지 않아도 데이터가 쌓이는 구조를 만든 것이 이번 달의 실질적 성과.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달은 데이터 생산 설비를 만들고 초기 데이터셋을 확보한 단계. 다음 달부터 이 데이터를 학습시킨다.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1개월차   |   AI 에이전트 활용방안 및 DOE 결과</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50292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481328"/>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822960" y="1792224"/>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01</a:t>
            </a:r>
            <a:endParaRPr lang="en-US" sz="4400" dirty="0"/>
          </a:p>
        </p:txBody>
      </p:sp>
      <p:sp>
        <p:nvSpPr>
          <p:cNvPr id="5" name="Text 3"/>
          <p:cNvSpPr txBox="1"/>
          <p:nvPr/>
        </p:nvSpPr>
        <p:spPr>
          <a:xfrm>
            <a:off x="2194560" y="1737360"/>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50" dirty="0"/>
          </a:p>
        </p:txBody>
      </p:sp>
      <p:sp>
        <p:nvSpPr>
          <p:cNvPr id="6" name="Shape 4"/>
          <p:cNvSpPr/>
          <p:nvPr/>
        </p:nvSpPr>
        <p:spPr>
          <a:xfrm>
            <a:off x="6492240" y="1792224"/>
            <a:ext cx="18288" cy="859536"/>
          </a:xfrm>
          <a:prstGeom prst="rect">
            <a:avLst/>
          </a:prstGeom>
          <a:solidFill>
            <a:srgbClr val="DDE3EB"/>
          </a:solidFill>
          <a:ln w="12700">
            <a:solidFill>
              <a:srgbClr val="DDE3EB"/>
            </a:solidFill>
            <a:prstDash val="solid"/>
          </a:ln>
        </p:spPr>
      </p:sp>
      <p:sp>
        <p:nvSpPr>
          <p:cNvPr id="7" name="Text 5"/>
          <p:cNvSpPr txBox="1"/>
          <p:nvPr/>
        </p:nvSpPr>
        <p:spPr>
          <a:xfrm>
            <a:off x="6858000" y="1755648"/>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망분리 환경에서의 AI 에이전트 활용 체계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저장소 기반 개발환경 구성</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내부망 실행 구조</a:t>
            </a:r>
            <a:endParaRPr lang="en-US" sz="1100" dirty="0"/>
          </a:p>
        </p:txBody>
      </p:sp>
      <p:sp>
        <p:nvSpPr>
          <p:cNvPr id="8" name="Shape 6"/>
          <p:cNvSpPr/>
          <p:nvPr/>
        </p:nvSpPr>
        <p:spPr>
          <a:xfrm>
            <a:off x="502920" y="3163824"/>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822960" y="3474720"/>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02</a:t>
            </a:r>
            <a:endParaRPr lang="en-US" sz="4400" dirty="0"/>
          </a:p>
        </p:txBody>
      </p:sp>
      <p:sp>
        <p:nvSpPr>
          <p:cNvPr id="10" name="Text 8"/>
          <p:cNvSpPr txBox="1"/>
          <p:nvPr/>
        </p:nvSpPr>
        <p:spPr>
          <a:xfrm>
            <a:off x="2194560" y="3419856"/>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50" dirty="0"/>
          </a:p>
        </p:txBody>
      </p:sp>
      <p:sp>
        <p:nvSpPr>
          <p:cNvPr id="11" name="Shape 9"/>
          <p:cNvSpPr/>
          <p:nvPr/>
        </p:nvSpPr>
        <p:spPr>
          <a:xfrm>
            <a:off x="6492240" y="3474720"/>
            <a:ext cx="18288" cy="859536"/>
          </a:xfrm>
          <a:prstGeom prst="rect">
            <a:avLst/>
          </a:prstGeom>
          <a:solidFill>
            <a:srgbClr val="DDE3EB"/>
          </a:solidFill>
          <a:ln w="12700">
            <a:solidFill>
              <a:srgbClr val="DDE3EB"/>
            </a:solidFill>
            <a:prstDash val="solid"/>
          </a:ln>
        </p:spPr>
      </p:sp>
      <p:sp>
        <p:nvSpPr>
          <p:cNvPr id="12" name="Text 10"/>
          <p:cNvSpPr txBox="1"/>
          <p:nvPr/>
        </p:nvSpPr>
        <p:spPr>
          <a:xfrm>
            <a:off x="6858000" y="3438144"/>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및 유동 경로</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설계변수 9종 / 고정 2종</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방열핀 배치 및 가공 제약</a:t>
            </a:r>
            <a:endParaRPr lang="en-US" sz="1100" dirty="0"/>
          </a:p>
        </p:txBody>
      </p:sp>
      <p:sp>
        <p:nvSpPr>
          <p:cNvPr id="13" name="Shape 11"/>
          <p:cNvSpPr/>
          <p:nvPr/>
        </p:nvSpPr>
        <p:spPr>
          <a:xfrm>
            <a:off x="502920" y="4846320"/>
            <a:ext cx="11183112" cy="1481328"/>
          </a:xfrm>
          <a:prstGeom prst="roundRect">
            <a:avLst>
              <a:gd name="adj" fmla="val 3704"/>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822960" y="5157216"/>
            <a:ext cx="1188720" cy="868680"/>
          </a:xfrm>
          <a:prstGeom prst="rect">
            <a:avLst/>
          </a:prstGeom>
          <a:noFill/>
          <a:ln/>
        </p:spPr>
        <p:txBody>
          <a:bodyPr wrap="square" lIns="0" tIns="0" rIns="0" bIns="0" rtlCol="0" anchor="ctr"/>
          <a:lstStyle/>
          <a:p>
            <a:pPr algn="ctr" indent="0" marL="0">
              <a:buNone/>
            </a:pPr>
            <a:r>
              <a:rPr lang="en-US" sz="4400" b="1" dirty="0">
                <a:solidFill>
                  <a:srgbClr val="CFE0F2"/>
                </a:solidFill>
                <a:latin typeface="Malgun Gothic" pitchFamily="34" charset="0"/>
                <a:ea typeface="Malgun Gothic" pitchFamily="34" charset="-122"/>
                <a:cs typeface="Malgun Gothic" pitchFamily="34" charset="-120"/>
              </a:rPr>
              <a:t>03</a:t>
            </a:r>
            <a:endParaRPr lang="en-US" sz="4400" dirty="0"/>
          </a:p>
        </p:txBody>
      </p:sp>
      <p:sp>
        <p:nvSpPr>
          <p:cNvPr id="15" name="Text 13"/>
          <p:cNvSpPr txBox="1"/>
          <p:nvPr/>
        </p:nvSpPr>
        <p:spPr>
          <a:xfrm>
            <a:off x="2194560" y="5102352"/>
            <a:ext cx="4114800" cy="960120"/>
          </a:xfrm>
          <a:prstGeom prst="rect">
            <a:avLst/>
          </a:prstGeom>
          <a:noFill/>
          <a:ln/>
        </p:spPr>
        <p:txBody>
          <a:bodyPr wrap="square" lIns="0" tIns="0" rIns="0" bIns="0" rtlCol="0" anchor="ctr"/>
          <a:lstStyle/>
          <a:p>
            <a:pPr indent="0" marL="0">
              <a:lnSpc>
                <a:spcPct val="120000"/>
              </a:lnSpc>
              <a:buNone/>
            </a:pPr>
            <a:r>
              <a:rPr lang="en-US" sz="1550" b="1" dirty="0">
                <a:solidFill>
                  <a:srgbClr val="16305B"/>
                </a:solidFill>
                <a:latin typeface="Malgun Gothic" pitchFamily="34" charset="0"/>
                <a:ea typeface="Malgun Gothic" pitchFamily="34" charset="-122"/>
                <a:cs typeface="Malgun Gothic" pitchFamily="34" charset="-120"/>
              </a:rPr>
              <a:t>실험계획법 기반 자동해석 수행 및 데이터 확보</a:t>
            </a:r>
            <a:endParaRPr lang="en-US" sz="1550" dirty="0"/>
          </a:p>
        </p:txBody>
      </p:sp>
      <p:sp>
        <p:nvSpPr>
          <p:cNvPr id="16" name="Shape 14"/>
          <p:cNvSpPr/>
          <p:nvPr/>
        </p:nvSpPr>
        <p:spPr>
          <a:xfrm>
            <a:off x="6492240" y="5157216"/>
            <a:ext cx="18288" cy="859536"/>
          </a:xfrm>
          <a:prstGeom prst="rect">
            <a:avLst/>
          </a:prstGeom>
          <a:solidFill>
            <a:srgbClr val="DDE3EB"/>
          </a:solidFill>
          <a:ln w="12700">
            <a:solidFill>
              <a:srgbClr val="DDE3EB"/>
            </a:solidFill>
            <a:prstDash val="solid"/>
          </a:ln>
        </p:spPr>
      </p:sp>
      <p:sp>
        <p:nvSpPr>
          <p:cNvPr id="17" name="Text 15"/>
          <p:cNvSpPr txBox="1"/>
          <p:nvPr/>
        </p:nvSpPr>
        <p:spPr>
          <a:xfrm>
            <a:off x="6858000" y="5120640"/>
            <a:ext cx="4572000" cy="932688"/>
          </a:xfrm>
          <a:prstGeom prst="rect">
            <a:avLst/>
          </a:prstGeom>
          <a:noFill/>
          <a:ln/>
        </p:spPr>
        <p:txBody>
          <a:bodyPr wrap="square" lIns="0" tIns="0" rIns="0" bIns="0" rtlCol="0" anchor="ctr"/>
          <a:lstStyle/>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1.  형상 자동 빌드 및 중량 산출</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2.  DOE 기법 및 무인 자동 해석 루프</a:t>
            </a:r>
            <a:endParaRPr lang="en-US" sz="1100" dirty="0"/>
          </a:p>
          <a:p>
            <a:pPr indent="0" marL="0">
              <a:lnSpc>
                <a:spcPct val="145000"/>
              </a:lnSpc>
              <a:buNone/>
            </a:pPr>
            <a:r>
              <a:rPr lang="en-US" sz="1100" dirty="0">
                <a:solidFill>
                  <a:srgbClr val="1C2733"/>
                </a:solidFill>
                <a:latin typeface="Malgun Gothic" pitchFamily="34" charset="0"/>
                <a:ea typeface="Malgun Gothic" pitchFamily="34" charset="-122"/>
                <a:cs typeface="Malgun Gothic" pitchFamily="34" charset="-120"/>
              </a:rPr>
              <a:t>3.  DOE 데이터 확보 현황</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0"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및 유동 경로 · 설계변수 선정</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형상 및 유동 경로</a:t>
            </a:r>
            <a:endParaRPr lang="en-US" sz="1300" dirty="0"/>
          </a:p>
        </p:txBody>
      </p:sp>
      <p:sp>
        <p:nvSpPr>
          <p:cNvPr id="9" name="Shape 7"/>
          <p:cNvSpPr/>
          <p:nvPr/>
        </p:nvSpPr>
        <p:spPr>
          <a:xfrm>
            <a:off x="1709928" y="1965960"/>
            <a:ext cx="3017520" cy="420624"/>
          </a:xfrm>
          <a:prstGeom prst="roundRect">
            <a:avLst>
              <a:gd name="adj" fmla="val 13043"/>
            </a:avLst>
          </a:prstGeom>
          <a:solidFill>
            <a:srgbClr val="EEF2F7"/>
          </a:solidFill>
          <a:ln w="12700">
            <a:solidFill>
              <a:srgbClr val="EEF2F7"/>
            </a:solidFill>
            <a:prstDash val="solid"/>
          </a:ln>
        </p:spPr>
      </p:sp>
      <p:sp>
        <p:nvSpPr>
          <p:cNvPr id="10" name="Text 8"/>
          <p:cNvSpPr txBox="1"/>
          <p:nvPr/>
        </p:nvSpPr>
        <p:spPr>
          <a:xfrm>
            <a:off x="1709928" y="196596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입    구</a:t>
            </a:r>
            <a:endParaRPr lang="en-US" sz="1050" dirty="0"/>
          </a:p>
        </p:txBody>
      </p:sp>
      <p:sp>
        <p:nvSpPr>
          <p:cNvPr id="11" name="Text 9"/>
          <p:cNvSpPr txBox="1"/>
          <p:nvPr/>
        </p:nvSpPr>
        <p:spPr>
          <a:xfrm>
            <a:off x="1709928" y="238658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2" name="Shape 10"/>
          <p:cNvSpPr/>
          <p:nvPr/>
        </p:nvSpPr>
        <p:spPr>
          <a:xfrm>
            <a:off x="1709928" y="2606040"/>
            <a:ext cx="3017520" cy="420624"/>
          </a:xfrm>
          <a:prstGeom prst="roundRect">
            <a:avLst>
              <a:gd name="adj" fmla="val 13043"/>
            </a:avLst>
          </a:prstGeom>
          <a:solidFill>
            <a:srgbClr val="16305B"/>
          </a:solidFill>
          <a:ln w="12700">
            <a:solidFill>
              <a:srgbClr val="16305B"/>
            </a:solidFill>
            <a:prstDash val="solid"/>
          </a:ln>
        </p:spPr>
      </p:sp>
      <p:sp>
        <p:nvSpPr>
          <p:cNvPr id="13" name="Text 11"/>
          <p:cNvSpPr txBox="1"/>
          <p:nvPr/>
        </p:nvSpPr>
        <p:spPr>
          <a:xfrm>
            <a:off x="1709928" y="260604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하단 유로 — 1차 통과</a:t>
            </a:r>
            <a:endParaRPr lang="en-US" sz="1050" dirty="0"/>
          </a:p>
        </p:txBody>
      </p:sp>
      <p:sp>
        <p:nvSpPr>
          <p:cNvPr id="14" name="Text 12"/>
          <p:cNvSpPr txBox="1"/>
          <p:nvPr/>
        </p:nvSpPr>
        <p:spPr>
          <a:xfrm>
            <a:off x="1709928" y="302666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5" name="Shape 13"/>
          <p:cNvSpPr/>
          <p:nvPr/>
        </p:nvSpPr>
        <p:spPr>
          <a:xfrm>
            <a:off x="1709928" y="3246120"/>
            <a:ext cx="3017520" cy="420624"/>
          </a:xfrm>
          <a:prstGeom prst="roundRect">
            <a:avLst>
              <a:gd name="adj" fmla="val 13043"/>
            </a:avLst>
          </a:prstGeom>
          <a:solidFill>
            <a:srgbClr val="00A3C4"/>
          </a:solidFill>
          <a:ln w="12700">
            <a:solidFill>
              <a:srgbClr val="00A3C4"/>
            </a:solidFill>
            <a:prstDash val="solid"/>
          </a:ln>
        </p:spPr>
      </p:sp>
      <p:sp>
        <p:nvSpPr>
          <p:cNvPr id="16" name="Text 14"/>
          <p:cNvSpPr txBox="1"/>
          <p:nvPr/>
        </p:nvSpPr>
        <p:spPr>
          <a:xfrm>
            <a:off x="1709928" y="3246120"/>
            <a:ext cx="3017520"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분    기</a:t>
            </a:r>
            <a:endParaRPr lang="en-US" sz="1050" dirty="0"/>
          </a:p>
        </p:txBody>
      </p:sp>
      <p:sp>
        <p:nvSpPr>
          <p:cNvPr id="17" name="Text 15"/>
          <p:cNvSpPr txBox="1"/>
          <p:nvPr/>
        </p:nvSpPr>
        <p:spPr>
          <a:xfrm>
            <a:off x="1709928" y="366674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18" name="Shape 16"/>
          <p:cNvSpPr/>
          <p:nvPr/>
        </p:nvSpPr>
        <p:spPr>
          <a:xfrm>
            <a:off x="868680" y="3886200"/>
            <a:ext cx="2194560" cy="420624"/>
          </a:xfrm>
          <a:prstGeom prst="roundRect">
            <a:avLst>
              <a:gd name="adj" fmla="val 13043"/>
            </a:avLst>
          </a:prstGeom>
          <a:solidFill>
            <a:srgbClr val="EEF2F7"/>
          </a:solidFill>
          <a:ln w="9525">
            <a:solidFill>
              <a:srgbClr val="DDE3EB"/>
            </a:solidFill>
            <a:prstDash val="solid"/>
          </a:ln>
        </p:spPr>
      </p:sp>
      <p:sp>
        <p:nvSpPr>
          <p:cNvPr id="19" name="Text 17"/>
          <p:cNvSpPr txBox="1"/>
          <p:nvPr/>
        </p:nvSpPr>
        <p:spPr>
          <a:xfrm>
            <a:off x="868680" y="3886200"/>
            <a:ext cx="2194560" cy="420624"/>
          </a:xfrm>
          <a:prstGeom prst="rect">
            <a:avLst/>
          </a:prstGeom>
          <a:noFill/>
          <a:ln/>
        </p:spPr>
        <p:txBody>
          <a:bodyPr wrap="square" lIns="0" tIns="0" rIns="0" bIns="0" rtlCol="0" anchor="ct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전원공급모듈</a:t>
            </a:r>
            <a:endParaRPr lang="en-US" sz="1000" dirty="0"/>
          </a:p>
        </p:txBody>
      </p:sp>
      <p:sp>
        <p:nvSpPr>
          <p:cNvPr id="20" name="Shape 18"/>
          <p:cNvSpPr/>
          <p:nvPr/>
        </p:nvSpPr>
        <p:spPr>
          <a:xfrm>
            <a:off x="3383280" y="3886200"/>
            <a:ext cx="2194560" cy="420624"/>
          </a:xfrm>
          <a:prstGeom prst="roundRect">
            <a:avLst>
              <a:gd name="adj" fmla="val 13043"/>
            </a:avLst>
          </a:prstGeom>
          <a:solidFill>
            <a:srgbClr val="16305B"/>
          </a:solidFill>
          <a:ln w="12700">
            <a:solidFill>
              <a:srgbClr val="16305B"/>
            </a:solidFill>
            <a:prstDash val="solid"/>
          </a:ln>
        </p:spPr>
      </p:sp>
      <p:sp>
        <p:nvSpPr>
          <p:cNvPr id="21" name="Text 19"/>
          <p:cNvSpPr txBox="1"/>
          <p:nvPr/>
        </p:nvSpPr>
        <p:spPr>
          <a:xfrm>
            <a:off x="3383280" y="3886200"/>
            <a:ext cx="2194560" cy="420624"/>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상단 유로 — 2차 통과</a:t>
            </a:r>
            <a:endParaRPr lang="en-US" sz="950" dirty="0"/>
          </a:p>
        </p:txBody>
      </p:sp>
      <p:sp>
        <p:nvSpPr>
          <p:cNvPr id="22" name="Text 20"/>
          <p:cNvSpPr txBox="1"/>
          <p:nvPr/>
        </p:nvSpPr>
        <p:spPr>
          <a:xfrm>
            <a:off x="1709928" y="4306824"/>
            <a:ext cx="3017520" cy="219456"/>
          </a:xfrm>
          <a:prstGeom prst="rect">
            <a:avLst/>
          </a:prstGeom>
          <a:noFill/>
          <a:ln/>
        </p:spPr>
        <p:txBody>
          <a:bodyPr wrap="square" lIns="0" tIns="0" rIns="0" bIns="0" rtlCol="0" anchor="ctr"/>
          <a:lstStyle/>
          <a:p>
            <a:pPr algn="ctr" indent="0" marL="0">
              <a:buNone/>
            </a:pPr>
            <a:r>
              <a:rPr lang="en-US" sz="800" dirty="0">
                <a:solidFill>
                  <a:srgbClr val="6B7A8F"/>
                </a:solidFill>
                <a:latin typeface="Malgun Gothic" pitchFamily="34" charset="0"/>
                <a:ea typeface="Malgun Gothic" pitchFamily="34" charset="-122"/>
                <a:cs typeface="Malgun Gothic" pitchFamily="34" charset="-120"/>
              </a:rPr>
              <a:t>▼</a:t>
            </a:r>
            <a:endParaRPr lang="en-US" sz="800" dirty="0"/>
          </a:p>
        </p:txBody>
      </p:sp>
      <p:sp>
        <p:nvSpPr>
          <p:cNvPr id="23" name="Shape 21"/>
          <p:cNvSpPr/>
          <p:nvPr/>
        </p:nvSpPr>
        <p:spPr>
          <a:xfrm>
            <a:off x="1709928" y="4526280"/>
            <a:ext cx="3017520" cy="420624"/>
          </a:xfrm>
          <a:prstGeom prst="roundRect">
            <a:avLst>
              <a:gd name="adj" fmla="val 13043"/>
            </a:avLst>
          </a:prstGeom>
          <a:solidFill>
            <a:srgbClr val="EEF2F7"/>
          </a:solidFill>
          <a:ln w="9525">
            <a:solidFill>
              <a:srgbClr val="DDE3EB"/>
            </a:solidFill>
            <a:prstDash val="solid"/>
          </a:ln>
        </p:spPr>
      </p:sp>
      <p:sp>
        <p:nvSpPr>
          <p:cNvPr id="24" name="Text 22"/>
          <p:cNvSpPr txBox="1"/>
          <p:nvPr/>
        </p:nvSpPr>
        <p:spPr>
          <a:xfrm>
            <a:off x="1709928" y="4526280"/>
            <a:ext cx="3017520" cy="420624"/>
          </a:xfrm>
          <a:prstGeom prst="rect">
            <a:avLst/>
          </a:prstGeom>
          <a:noFill/>
          <a:ln/>
        </p:spPr>
        <p:txBody>
          <a:bodyPr wrap="square" lIns="0" tIns="0" rIns="0" bIns="0" rtlCol="0" anchor="ctr"/>
          <a:lstStyle/>
          <a:p>
            <a:pPr algn="ctr" indent="0" marL="0">
              <a:buNone/>
            </a:pPr>
            <a:r>
              <a:rPr lang="en-US" sz="1050" b="1" dirty="0">
                <a:solidFill>
                  <a:srgbClr val="16305B"/>
                </a:solidFill>
                <a:latin typeface="Malgun Gothic" pitchFamily="34" charset="0"/>
                <a:ea typeface="Malgun Gothic" pitchFamily="34" charset="-122"/>
                <a:cs typeface="Malgun Gothic" pitchFamily="34" charset="-120"/>
              </a:rPr>
              <a:t>합류  →  출구</a:t>
            </a:r>
            <a:endParaRPr lang="en-US" sz="1050" dirty="0"/>
          </a:p>
        </p:txBody>
      </p:sp>
      <p:sp>
        <p:nvSpPr>
          <p:cNvPr id="25" name="Text 23"/>
          <p:cNvSpPr txBox="1"/>
          <p:nvPr/>
        </p:nvSpPr>
        <p:spPr>
          <a:xfrm>
            <a:off x="813816" y="4983480"/>
            <a:ext cx="4846320" cy="100584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총 유량 4 LPM 고정 / 발열채널 9개 (채널당 40 W)</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분기 구조 — 한쪽 경로가 유량을 많이 가져가면 반대쪽은 필연적으로 감소</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변수 간 상호작용이 커 개별 튜닝으로는 최적점 탐색이 어려움</a:t>
            </a:r>
            <a:endParaRPr lang="en-US" sz="1000" dirty="0"/>
          </a:p>
        </p:txBody>
      </p:sp>
      <p:sp>
        <p:nvSpPr>
          <p:cNvPr id="26" name="Shape 24"/>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6592824" y="1463040"/>
            <a:ext cx="82296" cy="182880"/>
          </a:xfrm>
          <a:prstGeom prst="rect">
            <a:avLst/>
          </a:prstGeom>
          <a:solidFill>
            <a:srgbClr val="00A3C4"/>
          </a:solidFill>
          <a:ln w="12700">
            <a:solidFill>
              <a:srgbClr val="00A3C4"/>
            </a:solidFill>
            <a:prstDash val="solid"/>
          </a:ln>
        </p:spPr>
      </p:sp>
      <p:sp>
        <p:nvSpPr>
          <p:cNvPr id="28" name="Text 26"/>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설계변수 — 자유 9종</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47688" y="1901952"/>
          <a:ext cx="4846320" cy="914400"/>
        </p:xfrm>
        <a:graphic>
          <a:graphicData uri="http://schemas.openxmlformats.org/drawingml/2006/table">
            <a:tbl>
              <a:tblPr/>
              <a:tblGrid>
                <a:gridCol w="2743200"/>
                <a:gridCol w="2103120"/>
              </a:tblGrid>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input_thick / input_angle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25 mm / 90 ~ 150°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3 ~ 20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mid_thick / mid_angle</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 / 90 ~ 140°</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mid_input_thick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10 ~ 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13 ~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fin_thick (방열핀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1.5 ~ 3.0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974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fin_count (방열핀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10 ~ 21 개 (정수)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0" name="Text 27"/>
          <p:cNvSpPr txBox="1"/>
          <p:nvPr/>
        </p:nvSpPr>
        <p:spPr>
          <a:xfrm>
            <a:off x="6647688" y="4005072"/>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고정 파라미터 2종</a:t>
            </a:r>
            <a:endParaRPr lang="en-US" sz="11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647688" y="4315968"/>
          <a:ext cx="4846320" cy="914400"/>
        </p:xfrm>
        <a:graphic>
          <a:graphicData uri="http://schemas.openxmlformats.org/drawingml/2006/table">
            <a:tbl>
              <a:tblPr/>
              <a:tblGrid>
                <a:gridCol w="1600200"/>
                <a:gridCol w="777240"/>
                <a:gridCol w="246888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값</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고정 근거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power_output_thick</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사전 분석 결과 트레이드오프 없음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fin_height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8.0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우회공간 제거 (메싱 안정성 확보)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2" name="Shape 28"/>
          <p:cNvSpPr/>
          <p:nvPr/>
        </p:nvSpPr>
        <p:spPr>
          <a:xfrm>
            <a:off x="6647688" y="5504688"/>
            <a:ext cx="4846320" cy="530352"/>
          </a:xfrm>
          <a:prstGeom prst="roundRect">
            <a:avLst>
              <a:gd name="adj" fmla="val 10345"/>
            </a:avLst>
          </a:prstGeom>
          <a:solidFill>
            <a:srgbClr val="16305B"/>
          </a:solidFill>
          <a:ln/>
        </p:spPr>
      </p:sp>
      <p:sp>
        <p:nvSpPr>
          <p:cNvPr id="33" name="Text 29"/>
          <p:cNvSpPr txBox="1"/>
          <p:nvPr/>
        </p:nvSpPr>
        <p:spPr>
          <a:xfrm>
            <a:off x="6647688" y="5504688"/>
            <a:ext cx="4846320" cy="530352"/>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9차원 설계공간 → 전수탐색 불가능</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방열핀 배치 및 가공 제약 · 평가 항목</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방열핀 등간격 배치</a:t>
            </a:r>
            <a:endParaRPr lang="en-US" sz="1300" dirty="0"/>
          </a:p>
        </p:txBody>
      </p:sp>
      <p:sp>
        <p:nvSpPr>
          <p:cNvPr id="9" name="Shape 7"/>
          <p:cNvSpPr/>
          <p:nvPr/>
        </p:nvSpPr>
        <p:spPr>
          <a:xfrm>
            <a:off x="868680" y="1965960"/>
            <a:ext cx="4736592" cy="960120"/>
          </a:xfrm>
          <a:prstGeom prst="rect">
            <a:avLst/>
          </a:prstGeom>
          <a:solidFill>
            <a:srgbClr val="EEF2F7"/>
          </a:solidFill>
          <a:ln w="12700">
            <a:solidFill>
              <a:srgbClr val="16305B"/>
            </a:solidFill>
            <a:prstDash val="solid"/>
          </a:ln>
        </p:spPr>
      </p:sp>
      <p:sp>
        <p:nvSpPr>
          <p:cNvPr id="10" name="Shape 8"/>
          <p:cNvSpPr/>
          <p:nvPr/>
        </p:nvSpPr>
        <p:spPr>
          <a:xfrm>
            <a:off x="1252728" y="2084832"/>
            <a:ext cx="237744" cy="722376"/>
          </a:xfrm>
          <a:prstGeom prst="rect">
            <a:avLst/>
          </a:prstGeom>
          <a:solidFill>
            <a:srgbClr val="16305B"/>
          </a:solidFill>
          <a:ln w="12700">
            <a:solidFill>
              <a:srgbClr val="16305B"/>
            </a:solidFill>
            <a:prstDash val="solid"/>
          </a:ln>
        </p:spPr>
      </p:sp>
      <p:sp>
        <p:nvSpPr>
          <p:cNvPr id="11" name="Shape 9"/>
          <p:cNvSpPr/>
          <p:nvPr/>
        </p:nvSpPr>
        <p:spPr>
          <a:xfrm>
            <a:off x="1874520" y="2084832"/>
            <a:ext cx="237744" cy="722376"/>
          </a:xfrm>
          <a:prstGeom prst="rect">
            <a:avLst/>
          </a:prstGeom>
          <a:solidFill>
            <a:srgbClr val="16305B"/>
          </a:solidFill>
          <a:ln w="12700">
            <a:solidFill>
              <a:srgbClr val="16305B"/>
            </a:solidFill>
            <a:prstDash val="solid"/>
          </a:ln>
        </p:spPr>
      </p:sp>
      <p:sp>
        <p:nvSpPr>
          <p:cNvPr id="12" name="Shape 10"/>
          <p:cNvSpPr/>
          <p:nvPr/>
        </p:nvSpPr>
        <p:spPr>
          <a:xfrm>
            <a:off x="2496312" y="2084832"/>
            <a:ext cx="237744" cy="722376"/>
          </a:xfrm>
          <a:prstGeom prst="rect">
            <a:avLst/>
          </a:prstGeom>
          <a:solidFill>
            <a:srgbClr val="16305B"/>
          </a:solidFill>
          <a:ln w="12700">
            <a:solidFill>
              <a:srgbClr val="16305B"/>
            </a:solidFill>
            <a:prstDash val="solid"/>
          </a:ln>
        </p:spPr>
      </p:sp>
      <p:sp>
        <p:nvSpPr>
          <p:cNvPr id="13" name="Shape 11"/>
          <p:cNvSpPr/>
          <p:nvPr/>
        </p:nvSpPr>
        <p:spPr>
          <a:xfrm>
            <a:off x="3118104" y="2084832"/>
            <a:ext cx="237744" cy="722376"/>
          </a:xfrm>
          <a:prstGeom prst="rect">
            <a:avLst/>
          </a:prstGeom>
          <a:solidFill>
            <a:srgbClr val="16305B"/>
          </a:solidFill>
          <a:ln w="12700">
            <a:solidFill>
              <a:srgbClr val="16305B"/>
            </a:solidFill>
            <a:prstDash val="solid"/>
          </a:ln>
        </p:spPr>
      </p:sp>
      <p:sp>
        <p:nvSpPr>
          <p:cNvPr id="14" name="Shape 12"/>
          <p:cNvSpPr/>
          <p:nvPr/>
        </p:nvSpPr>
        <p:spPr>
          <a:xfrm>
            <a:off x="3739896" y="2084832"/>
            <a:ext cx="237744" cy="722376"/>
          </a:xfrm>
          <a:prstGeom prst="rect">
            <a:avLst/>
          </a:prstGeom>
          <a:solidFill>
            <a:srgbClr val="16305B"/>
          </a:solidFill>
          <a:ln w="12700">
            <a:solidFill>
              <a:srgbClr val="16305B"/>
            </a:solidFill>
            <a:prstDash val="solid"/>
          </a:ln>
        </p:spPr>
      </p:sp>
      <p:sp>
        <p:nvSpPr>
          <p:cNvPr id="15" name="Shape 13"/>
          <p:cNvSpPr/>
          <p:nvPr/>
        </p:nvSpPr>
        <p:spPr>
          <a:xfrm>
            <a:off x="4361688" y="2084832"/>
            <a:ext cx="237744" cy="722376"/>
          </a:xfrm>
          <a:prstGeom prst="rect">
            <a:avLst/>
          </a:prstGeom>
          <a:solidFill>
            <a:srgbClr val="16305B"/>
          </a:solidFill>
          <a:ln w="12700">
            <a:solidFill>
              <a:srgbClr val="16305B"/>
            </a:solidFill>
            <a:prstDash val="solid"/>
          </a:ln>
        </p:spPr>
      </p:sp>
      <p:sp>
        <p:nvSpPr>
          <p:cNvPr id="16" name="Shape 14"/>
          <p:cNvSpPr/>
          <p:nvPr/>
        </p:nvSpPr>
        <p:spPr>
          <a:xfrm>
            <a:off x="4983480" y="2084832"/>
            <a:ext cx="237744" cy="722376"/>
          </a:xfrm>
          <a:prstGeom prst="rect">
            <a:avLst/>
          </a:prstGeom>
          <a:solidFill>
            <a:srgbClr val="16305B"/>
          </a:solidFill>
          <a:ln w="12700">
            <a:solidFill>
              <a:srgbClr val="16305B"/>
            </a:solidFill>
            <a:prstDash val="solid"/>
          </a:ln>
        </p:spPr>
      </p:sp>
      <p:sp>
        <p:nvSpPr>
          <p:cNvPr id="17" name="Text 15"/>
          <p:cNvSpPr txBox="1"/>
          <p:nvPr/>
        </p:nvSpPr>
        <p:spPr>
          <a:xfrm>
            <a:off x="1252728" y="2944368"/>
            <a:ext cx="237744" cy="219456"/>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t</a:t>
            </a:r>
            <a:endParaRPr lang="en-US" sz="900" dirty="0"/>
          </a:p>
        </p:txBody>
      </p:sp>
      <p:sp>
        <p:nvSpPr>
          <p:cNvPr id="18" name="Text 16"/>
          <p:cNvSpPr txBox="1"/>
          <p:nvPr/>
        </p:nvSpPr>
        <p:spPr>
          <a:xfrm>
            <a:off x="1874520" y="2944368"/>
            <a:ext cx="384048" cy="219456"/>
          </a:xfrm>
          <a:prstGeom prst="rect">
            <a:avLst/>
          </a:prstGeom>
          <a:noFill/>
          <a:ln/>
        </p:spPr>
        <p:txBody>
          <a:bodyPr wrap="square" lIns="0" tIns="0" rIns="0" bIns="0" rtlCol="0" anchor="ctr"/>
          <a:lstStyle/>
          <a:p>
            <a:pPr algn="ctr" indent="0" marL="0">
              <a:buNone/>
            </a:pPr>
            <a:r>
              <a:rPr lang="en-US" sz="900" b="1" dirty="0">
                <a:solidFill>
                  <a:srgbClr val="00A3C4"/>
                </a:solidFill>
                <a:latin typeface="Malgun Gothic" pitchFamily="34" charset="0"/>
                <a:ea typeface="Malgun Gothic" pitchFamily="34" charset="-122"/>
                <a:cs typeface="Malgun Gothic" pitchFamily="34" charset="-120"/>
              </a:rPr>
              <a:t>g</a:t>
            </a:r>
            <a:endParaRPr lang="en-US" sz="900" dirty="0"/>
          </a:p>
        </p:txBody>
      </p:sp>
      <p:sp>
        <p:nvSpPr>
          <p:cNvPr id="19" name="Shape 17"/>
          <p:cNvSpPr/>
          <p:nvPr/>
        </p:nvSpPr>
        <p:spPr>
          <a:xfrm>
            <a:off x="868680" y="3273552"/>
            <a:ext cx="4736592" cy="822960"/>
          </a:xfrm>
          <a:prstGeom prst="roundRect">
            <a:avLst>
              <a:gd name="adj" fmla="val 6667"/>
            </a:avLst>
          </a:prstGeom>
          <a:solidFill>
            <a:srgbClr val="F7F9FC"/>
          </a:solidFill>
          <a:ln w="9525">
            <a:solidFill>
              <a:srgbClr val="DDE3EB"/>
            </a:solidFill>
            <a:prstDash val="solid"/>
          </a:ln>
        </p:spPr>
      </p:sp>
      <p:sp>
        <p:nvSpPr>
          <p:cNvPr id="20" name="Text 18"/>
          <p:cNvSpPr txBox="1"/>
          <p:nvPr/>
        </p:nvSpPr>
        <p:spPr>
          <a:xfrm>
            <a:off x="1005840" y="3328416"/>
            <a:ext cx="4480560" cy="713232"/>
          </a:xfrm>
          <a:prstGeom prst="rect">
            <a:avLst/>
          </a:prstGeom>
          <a:noFill/>
          <a:ln/>
        </p:spPr>
        <p:txBody>
          <a:bodyPr wrap="square" lIns="0" tIns="0" rIns="0" bIns="0" rtlCol="0" anchor="ctr"/>
          <a:lstStyle/>
          <a:p>
            <a:pPr indent="0" marL="0">
              <a:lnSpc>
                <a:spcPct val="130000"/>
              </a:lnSpc>
              <a:buNone/>
            </a:pPr>
            <a:r>
              <a:rPr lang="en-US" sz="1100" b="1" dirty="0">
                <a:solidFill>
                  <a:srgbClr val="16305B"/>
                </a:solidFill>
                <a:latin typeface="Malgun Gothic" pitchFamily="34" charset="0"/>
                <a:ea typeface="Malgun Gothic" pitchFamily="34" charset="-122"/>
                <a:cs typeface="Malgun Gothic" pitchFamily="34" charset="-120"/>
              </a:rPr>
              <a:t>L = N·t + (N+1)·g</a:t>
            </a:r>
            <a:endParaRPr lang="en-US" sz="1100" dirty="0"/>
          </a:p>
          <a:p>
            <a:pPr indent="0" marL="0">
              <a:lnSpc>
                <a:spcPct val="130000"/>
              </a:lnSpc>
              <a:buNone/>
            </a:pPr>
            <a:r>
              <a:rPr lang="en-US" sz="1100" dirty="0">
                <a:solidFill>
                  <a:srgbClr val="1C2733"/>
                </a:solidFill>
                <a:latin typeface="Malgun Gothic" pitchFamily="34" charset="0"/>
                <a:ea typeface="Malgun Gothic" pitchFamily="34" charset="-122"/>
                <a:cs typeface="Malgun Gothic" pitchFamily="34" charset="-120"/>
              </a:rPr>
              <a:t>g = ( L − N·t ) / ( N+1 )        L = 86.5 mm (핀뱅크 길이)</a:t>
            </a:r>
            <a:endParaRPr lang="en-US" sz="1100" dirty="0"/>
          </a:p>
        </p:txBody>
      </p:sp>
      <p:sp>
        <p:nvSpPr>
          <p:cNvPr id="21" name="Text 19"/>
          <p:cNvSpPr txBox="1"/>
          <p:nvPr/>
        </p:nvSpPr>
        <p:spPr>
          <a:xfrm>
            <a:off x="813816" y="4251960"/>
            <a:ext cx="4846320" cy="118872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폐합조건 하나로 벽↔핀 / 핀↔핀 / 핀↔벽 간격이 자동으로 동일</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갭은 설계변수가 아닌 종속 계산값 — CAD 수식으로 자체 산출</a:t>
            </a:r>
            <a:endParaRPr lang="en-US" sz="1000" dirty="0"/>
          </a:p>
          <a:p>
            <a:pPr marL="342900" indent="-342900">
              <a:lnSpc>
                <a:spcPct val="125000"/>
              </a:lnSpc>
              <a:spcAft>
                <a:spcPts val="500"/>
              </a:spcAft>
              <a:buSzPct val="100000"/>
              <a:buChar char="•"/>
            </a:pPr>
            <a:r>
              <a:rPr lang="en-US" sz="1000" b="1" dirty="0">
                <a:solidFill>
                  <a:srgbClr val="1C2733"/>
                </a:solidFill>
                <a:latin typeface="Malgun Gothic" pitchFamily="34" charset="0"/>
                <a:ea typeface="Malgun Gothic" pitchFamily="34" charset="-122"/>
                <a:cs typeface="Malgun Gothic" pitchFamily="34" charset="-120"/>
              </a:rPr>
              <a:t>가공 제약 : 갭 ≥ 2.5 mm (밀링 가공 한계 · 메시 확보)</a:t>
            </a:r>
            <a:endParaRPr lang="en-US" sz="1000" dirty="0"/>
          </a:p>
        </p:txBody>
      </p:sp>
      <p:sp>
        <p:nvSpPr>
          <p:cNvPr id="22" name="Shape 20"/>
          <p:cNvSpPr/>
          <p:nvPr/>
        </p:nvSpPr>
        <p:spPr>
          <a:xfrm>
            <a:off x="813816" y="5532120"/>
            <a:ext cx="4846320" cy="502920"/>
          </a:xfrm>
          <a:prstGeom prst="roundRect">
            <a:avLst>
              <a:gd name="adj" fmla="val 10909"/>
            </a:avLst>
          </a:prstGeom>
          <a:solidFill>
            <a:srgbClr val="EEF2F7"/>
          </a:solidFill>
          <a:ln w="12700">
            <a:solidFill>
              <a:srgbClr val="EEF2F7"/>
            </a:solidFill>
            <a:prstDash val="solid"/>
          </a:ln>
        </p:spPr>
      </p:sp>
      <p:sp>
        <p:nvSpPr>
          <p:cNvPr id="23" name="Text 21"/>
          <p:cNvSpPr txBox="1"/>
          <p:nvPr/>
        </p:nvSpPr>
        <p:spPr>
          <a:xfrm>
            <a:off x="914400" y="5532120"/>
            <a:ext cx="4663440" cy="502920"/>
          </a:xfrm>
          <a:prstGeom prst="rect">
            <a:avLst/>
          </a:prstGeom>
          <a:noFill/>
          <a:ln/>
        </p:spPr>
        <p:txBody>
          <a:bodyPr wrap="square" lIns="0" tIns="0" rIns="0" bIns="0" rtlCol="0" anchor="ctr"/>
          <a:lstStyle/>
          <a:p>
            <a:pPr indent="0" marL="0">
              <a:buNone/>
            </a:pPr>
            <a:r>
              <a:rPr lang="en-US" sz="950" dirty="0">
                <a:solidFill>
                  <a:srgbClr val="16305B"/>
                </a:solidFill>
                <a:latin typeface="Malgun Gothic" pitchFamily="34" charset="0"/>
                <a:ea typeface="Malgun Gothic" pitchFamily="34" charset="-122"/>
                <a:cs typeface="Malgun Gothic" pitchFamily="34" charset="-120"/>
              </a:rPr>
              <a:t>두께·개수 조합의 약 70%만 유효 — 두 변수가 독립이 아닌 유효영역 형성</a:t>
            </a:r>
            <a:endParaRPr lang="en-US" sz="950" dirty="0"/>
          </a:p>
        </p:txBody>
      </p:sp>
      <p:sp>
        <p:nvSpPr>
          <p:cNvPr id="24" name="Shape 22"/>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5" name="Shape 23"/>
          <p:cNvSpPr/>
          <p:nvPr/>
        </p:nvSpPr>
        <p:spPr>
          <a:xfrm>
            <a:off x="6592824" y="1463040"/>
            <a:ext cx="82296" cy="182880"/>
          </a:xfrm>
          <a:prstGeom prst="rect">
            <a:avLst/>
          </a:prstGeom>
          <a:solidFill>
            <a:srgbClr val="00A3C4"/>
          </a:solidFill>
          <a:ln w="12700">
            <a:solidFill>
              <a:srgbClr val="00A3C4"/>
            </a:solidFill>
            <a:prstDash val="solid"/>
          </a:ln>
        </p:spPr>
      </p:sp>
      <p:sp>
        <p:nvSpPr>
          <p:cNvPr id="26" name="Text 2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평가 항목 정의</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938528"/>
          <a:ext cx="4846320" cy="914400"/>
        </p:xfrm>
        <a:graphic>
          <a:graphicData uri="http://schemas.openxmlformats.org/drawingml/2006/table">
            <a:tbl>
              <a:tblPr/>
              <a:tblGrid>
                <a:gridCol w="1371600"/>
                <a:gridCol w="347472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목적함수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 (압력강하)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채널 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유량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제약조건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전원모듈 분기 유량비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총 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8" name="Shape 25"/>
          <p:cNvSpPr/>
          <p:nvPr/>
        </p:nvSpPr>
        <p:spPr>
          <a:xfrm>
            <a:off x="6647688" y="4480560"/>
            <a:ext cx="4846320" cy="1371600"/>
          </a:xfrm>
          <a:prstGeom prst="roundRect">
            <a:avLst>
              <a:gd name="adj" fmla="val 4000"/>
            </a:avLst>
          </a:prstGeom>
          <a:solidFill>
            <a:srgbClr val="F7F9FC"/>
          </a:solidFill>
          <a:ln w="9525">
            <a:solidFill>
              <a:srgbClr val="DDE3EB"/>
            </a:solidFill>
            <a:prstDash val="solid"/>
          </a:ln>
        </p:spPr>
      </p:sp>
      <p:sp>
        <p:nvSpPr>
          <p:cNvPr id="29" name="Text 26"/>
          <p:cNvSpPr txBox="1"/>
          <p:nvPr/>
        </p:nvSpPr>
        <p:spPr>
          <a:xfrm>
            <a:off x="6839712" y="4626864"/>
            <a:ext cx="4480560" cy="274320"/>
          </a:xfrm>
          <a:prstGeom prst="rect">
            <a:avLst/>
          </a:prstGeom>
          <a:noFill/>
          <a:ln/>
        </p:spPr>
        <p:txBody>
          <a:bodyPr wrap="square" lIns="0" tIns="0" rIns="0" bIns="0" rtlCol="0" anchor="ctr"/>
          <a:lstStyle/>
          <a:p>
            <a:pPr indent="0" marL="0">
              <a:buNone/>
            </a:pPr>
            <a:r>
              <a:rPr lang="en-US" sz="1050" b="1" dirty="0">
                <a:solidFill>
                  <a:srgbClr val="00A3C4"/>
                </a:solidFill>
                <a:latin typeface="Malgun Gothic" pitchFamily="34" charset="0"/>
                <a:ea typeface="Malgun Gothic" pitchFamily="34" charset="-122"/>
                <a:cs typeface="Malgun Gothic" pitchFamily="34" charset="-120"/>
              </a:rPr>
              <a:t>본 단계 범위</a:t>
            </a:r>
            <a:endParaRPr lang="en-US" sz="1050" dirty="0"/>
          </a:p>
        </p:txBody>
      </p:sp>
      <p:sp>
        <p:nvSpPr>
          <p:cNvPr id="30" name="Text 27"/>
          <p:cNvSpPr txBox="1"/>
          <p:nvPr/>
        </p:nvSpPr>
        <p:spPr>
          <a:xfrm>
            <a:off x="6839712" y="4956048"/>
            <a:ext cx="4480560" cy="822960"/>
          </a:xfrm>
          <a:prstGeom prst="rect">
            <a:avLst/>
          </a:prstGeom>
          <a:noFill/>
          <a:ln/>
        </p:spPr>
        <p:txBody>
          <a:bodyPr wrap="square" lIns="0" tIns="0" rIns="0" bIns="0" rtlCol="0" anchor="ctr"/>
          <a:lstStyle/>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측정 · 기록 대상 항목의 정의까지 수행</a:t>
            </a:r>
            <a:endParaRPr lang="en-US" sz="1000" dirty="0"/>
          </a:p>
          <a:p>
            <a:pPr marL="342900" indent="-342900">
              <a:lnSpc>
                <a:spcPct val="125000"/>
              </a:lnSpc>
              <a:spcAft>
                <a:spcPts val="500"/>
              </a:spcAft>
              <a:buSzPct val="100000"/>
              <a:buChar char="•"/>
            </a:pPr>
            <a:r>
              <a:rPr lang="en-US" sz="1000" dirty="0">
                <a:solidFill>
                  <a:srgbClr val="1C2733"/>
                </a:solidFill>
                <a:latin typeface="Malgun Gothic" pitchFamily="34" charset="0"/>
                <a:ea typeface="Malgun Gothic" pitchFamily="34" charset="-122"/>
                <a:cs typeface="Malgun Gothic" pitchFamily="34" charset="-120"/>
              </a:rPr>
              <a:t>유량 균일도의 구체적 지표화 방식은 대리모델 구축 단계에서 확정 예정</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a:t>
            </a:r>
            <a:endParaRPr lang="en-US" sz="2200" dirty="0"/>
          </a:p>
        </p:txBody>
      </p:sp>
      <p:sp>
        <p:nvSpPr>
          <p:cNvPr id="6" name="Shape 4"/>
          <p:cNvSpPr/>
          <p:nvPr/>
        </p:nvSpPr>
        <p:spPr>
          <a:xfrm>
            <a:off x="502920"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38528"/>
            <a:ext cx="1463040" cy="457200"/>
          </a:xfrm>
          <a:prstGeom prst="roundRect">
            <a:avLst>
              <a:gd name="adj" fmla="val 14000"/>
            </a:avLst>
          </a:prstGeom>
          <a:solidFill>
            <a:srgbClr val="16305B"/>
          </a:solidFill>
          <a:ln w="9525">
            <a:solidFill>
              <a:srgbClr val="16305B"/>
            </a:solidFill>
            <a:prstDash val="solid"/>
          </a:ln>
        </p:spPr>
      </p:sp>
      <p:sp>
        <p:nvSpPr>
          <p:cNvPr id="10" name="Text 8"/>
          <p:cNvSpPr txBox="1"/>
          <p:nvPr/>
        </p:nvSpPr>
        <p:spPr>
          <a:xfrm>
            <a:off x="813816" y="1938528"/>
            <a:ext cx="146304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38528"/>
            <a:ext cx="201168" cy="457200"/>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38528"/>
            <a:ext cx="1463040" cy="457200"/>
          </a:xfrm>
          <a:prstGeom prst="roundRect">
            <a:avLst>
              <a:gd name="adj" fmla="val 14000"/>
            </a:avLst>
          </a:prstGeom>
          <a:solidFill>
            <a:srgbClr val="EEF2F7"/>
          </a:solidFill>
          <a:ln w="9525">
            <a:solidFill>
              <a:srgbClr val="DDE3EB"/>
            </a:solidFill>
            <a:prstDash val="solid"/>
          </a:ln>
        </p:spPr>
      </p:sp>
      <p:sp>
        <p:nvSpPr>
          <p:cNvPr id="13" name="Text 11"/>
          <p:cNvSpPr txBox="1"/>
          <p:nvPr/>
        </p:nvSpPr>
        <p:spPr>
          <a:xfrm>
            <a:off x="2478024" y="1938528"/>
            <a:ext cx="1463040" cy="457200"/>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38528"/>
            <a:ext cx="201168" cy="457200"/>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38528"/>
            <a:ext cx="1463040" cy="457200"/>
          </a:xfrm>
          <a:prstGeom prst="roundRect">
            <a:avLst>
              <a:gd name="adj" fmla="val 14000"/>
            </a:avLst>
          </a:prstGeom>
          <a:solidFill>
            <a:srgbClr val="EEF2F7"/>
          </a:solidFill>
          <a:ln w="9525">
            <a:solidFill>
              <a:srgbClr val="DDE3EB"/>
            </a:solidFill>
            <a:prstDash val="solid"/>
          </a:ln>
        </p:spPr>
      </p:sp>
      <p:sp>
        <p:nvSpPr>
          <p:cNvPr id="16" name="Text 14"/>
          <p:cNvSpPr txBox="1"/>
          <p:nvPr/>
        </p:nvSpPr>
        <p:spPr>
          <a:xfrm>
            <a:off x="4142232" y="1938528"/>
            <a:ext cx="1463040" cy="457200"/>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606040"/>
          <a:ext cx="4846320" cy="914400"/>
        </p:xfrm>
        <a:graphic>
          <a:graphicData uri="http://schemas.openxmlformats.org/drawingml/2006/table">
            <a:tbl>
              <a:tblPr/>
              <a:tblGrid>
                <a:gridCol w="1188720"/>
                <a:gridCol w="3657600"/>
              </a:tblGrid>
              <a:tr h="41148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 방식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41148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기입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41148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변수명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없는 변수명이면 즉시 중단 + 실제 변수 목록 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41148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(패턴 개수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41148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종속값</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간격은 CAD 수식이 자체 계산 — 이중 계산 방지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41148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고정값</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전역변수로 만들지 않고 스케치에 직접 기입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5303520"/>
            <a:ext cx="4846320" cy="658368"/>
          </a:xfrm>
          <a:prstGeom prst="roundRect">
            <a:avLst>
              <a:gd name="adj" fmla="val 8333"/>
            </a:avLst>
          </a:prstGeom>
          <a:solidFill>
            <a:srgbClr val="EEF2F7"/>
          </a:solidFill>
          <a:ln w="12700">
            <a:solidFill>
              <a:srgbClr val="EEF2F7"/>
            </a:solidFill>
            <a:prstDash val="solid"/>
          </a:ln>
        </p:spPr>
      </p:sp>
      <p:sp>
        <p:nvSpPr>
          <p:cNvPr id="19" name="Text 16"/>
          <p:cNvSpPr txBox="1"/>
          <p:nvPr/>
        </p:nvSpPr>
        <p:spPr>
          <a:xfrm>
            <a:off x="941832" y="5303520"/>
            <a:ext cx="461772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변수명이 어긋나면 형상이 바뀌지 않은 채 해석이 수행될 수 있음</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 사전 차단이 데이터 신뢰성의 핵심</a:t>
            </a:r>
            <a:endParaRPr lang="en-US" sz="950" dirty="0"/>
          </a:p>
        </p:txBody>
      </p:sp>
      <p:sp>
        <p:nvSpPr>
          <p:cNvPr id="20" name="Shape 17"/>
          <p:cNvSpPr/>
          <p:nvPr/>
        </p:nvSpPr>
        <p:spPr>
          <a:xfrm>
            <a:off x="6336792" y="1188720"/>
            <a:ext cx="5440680" cy="5120640"/>
          </a:xfrm>
          <a:prstGeom prst="roundRect">
            <a:avLst>
              <a:gd name="adj" fmla="val 107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914400"/>
          </a:xfrm>
          <a:prstGeom prst="roundRect">
            <a:avLst>
              <a:gd name="adj" fmla="val 6000"/>
            </a:avLst>
          </a:prstGeom>
          <a:solidFill>
            <a:srgbClr val="F7F9FC"/>
          </a:solidFill>
          <a:ln w="9525">
            <a:solidFill>
              <a:srgbClr val="DDE3EB"/>
            </a:solidFill>
            <a:prstDash val="solid"/>
          </a:ln>
        </p:spPr>
      </p:sp>
      <p:sp>
        <p:nvSpPr>
          <p:cNvPr id="24" name="Text 21"/>
          <p:cNvSpPr txBox="1"/>
          <p:nvPr/>
        </p:nvSpPr>
        <p:spPr>
          <a:xfrm>
            <a:off x="6793992" y="2011680"/>
            <a:ext cx="4572000" cy="749808"/>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647688" y="3017520"/>
          <a:ext cx="4846320" cy="914400"/>
        </p:xfrm>
        <a:graphic>
          <a:graphicData uri="http://schemas.openxmlformats.org/drawingml/2006/table">
            <a:tbl>
              <a:tblPr/>
              <a:tblGrid>
                <a:gridCol w="1188720"/>
                <a:gridCol w="3657600"/>
              </a:tblGrid>
              <a:tr h="45720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45720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45720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순서가 미문서화 → CAD 질량특성 패널과 전량 대조하여 부피·질량 위치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45720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 확인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45720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부피값과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Text 22"/>
          <p:cNvSpPr txBox="1"/>
          <p:nvPr/>
        </p:nvSpPr>
        <p:spPr>
          <a:xfrm>
            <a:off x="6647688" y="5532120"/>
            <a:ext cx="4846320" cy="36576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유로(빈 공간)는 형상에 존재하지 않는 개념 → 완전충진 부피 기준으로 역산</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기법 선정 및 무인 자동 해석 루프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DOE 기법 선정</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1901952"/>
          <a:ext cx="4846320" cy="914400"/>
        </p:xfrm>
        <a:graphic>
          <a:graphicData uri="http://schemas.openxmlformats.org/drawingml/2006/table">
            <a:tbl>
              <a:tblPr/>
              <a:tblGrid>
                <a:gridCol w="2286000"/>
                <a:gridCol w="256032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방식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격자 전수탐색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9차원 조합 수 폭증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무작위 샘플링</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   설계공간 편중 발생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최적라틴방격법 (OLHD)</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적은 점으로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182112"/>
            <a:ext cx="4846320" cy="411480"/>
          </a:xfrm>
          <a:prstGeom prst="roundRect">
            <a:avLst>
              <a:gd name="adj" fmla="val 13333"/>
            </a:avLst>
          </a:prstGeom>
          <a:solidFill>
            <a:srgbClr val="16305B"/>
          </a:solidFill>
          <a:ln/>
        </p:spPr>
      </p:sp>
      <p:sp>
        <p:nvSpPr>
          <p:cNvPr id="11" name="Text 8"/>
          <p:cNvSpPr txBox="1"/>
          <p:nvPr/>
        </p:nvSpPr>
        <p:spPr>
          <a:xfrm>
            <a:off x="813816" y="3182112"/>
            <a:ext cx="484632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초기 실험점 = 10 × 변수 수 = 90 점</a:t>
            </a:r>
            <a:endParaRPr lang="en-US" sz="110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가공 제약 반영 방식</a:t>
            </a:r>
            <a:endParaRPr lang="en-US" sz="1300" dirty="0"/>
          </a:p>
        </p:txBody>
      </p:sp>
      <p:sp>
        <p:nvSpPr>
          <p:cNvPr id="15" name="Shape 12"/>
          <p:cNvSpPr/>
          <p:nvPr/>
        </p:nvSpPr>
        <p:spPr>
          <a:xfrm>
            <a:off x="6647688" y="1920240"/>
            <a:ext cx="4846320" cy="713232"/>
          </a:xfrm>
          <a:prstGeom prst="roundRect">
            <a:avLst>
              <a:gd name="adj" fmla="val 7692"/>
            </a:avLst>
          </a:prstGeom>
          <a:solidFill>
            <a:srgbClr val="F7F9FC"/>
          </a:solidFill>
          <a:ln w="9525">
            <a:solidFill>
              <a:srgbClr val="DDE3EB"/>
            </a:solidFill>
            <a:prstDash val="solid"/>
          </a:ln>
        </p:spPr>
      </p:sp>
      <p:sp>
        <p:nvSpPr>
          <p:cNvPr id="16" name="Text 13"/>
          <p:cNvSpPr txBox="1"/>
          <p:nvPr/>
        </p:nvSpPr>
        <p:spPr>
          <a:xfrm>
            <a:off x="6793992" y="199339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6B7A8F"/>
                </a:solidFill>
                <a:latin typeface="Malgun Gothic" pitchFamily="34" charset="0"/>
                <a:ea typeface="Malgun Gothic" pitchFamily="34" charset="-122"/>
                <a:cs typeface="Malgun Gothic" pitchFamily="34" charset="-120"/>
              </a:rPr>
              <a:t>기각 방식</a:t>
            </a:r>
            <a:endParaRPr lang="en-US" sz="950" dirty="0"/>
          </a:p>
          <a:p>
            <a:pPr indent="0" marL="0">
              <a:lnSpc>
                <a:spcPct val="125000"/>
              </a:lnSpc>
              <a:buNone/>
            </a:pPr>
            <a:r>
              <a:rPr lang="en-US" sz="950" dirty="0">
                <a:solidFill>
                  <a:srgbClr val="6B7A8F"/>
                </a:solidFill>
                <a:latin typeface="Malgun Gothic" pitchFamily="34" charset="0"/>
                <a:ea typeface="Malgun Gothic" pitchFamily="34" charset="-122"/>
                <a:cs typeface="Malgun Gothic" pitchFamily="34" charset="-120"/>
              </a:rPr>
              <a:t>뽑은 뒤 제약 위반이면 폐기 → 후보 30% 낭비 · 층화 붕괴</a:t>
            </a:r>
            <a:endParaRPr lang="en-US" sz="950" dirty="0"/>
          </a:p>
        </p:txBody>
      </p:sp>
      <p:sp>
        <p:nvSpPr>
          <p:cNvPr id="17" name="Shape 14"/>
          <p:cNvSpPr/>
          <p:nvPr/>
        </p:nvSpPr>
        <p:spPr>
          <a:xfrm>
            <a:off x="6647688" y="2743200"/>
            <a:ext cx="4846320" cy="713232"/>
          </a:xfrm>
          <a:prstGeom prst="roundRect">
            <a:avLst>
              <a:gd name="adj" fmla="val 7692"/>
            </a:avLst>
          </a:prstGeom>
          <a:solidFill>
            <a:srgbClr val="E8F4F8"/>
          </a:solidFill>
          <a:ln w="9525">
            <a:solidFill>
              <a:srgbClr val="00A3C4"/>
            </a:solidFill>
            <a:prstDash val="solid"/>
          </a:ln>
        </p:spPr>
      </p:sp>
      <p:sp>
        <p:nvSpPr>
          <p:cNvPr id="18" name="Text 15"/>
          <p:cNvSpPr txBox="1"/>
          <p:nvPr/>
        </p:nvSpPr>
        <p:spPr>
          <a:xfrm>
            <a:off x="6793992" y="2816352"/>
            <a:ext cx="4572000" cy="566928"/>
          </a:xfrm>
          <a:prstGeom prst="rect">
            <a:avLst/>
          </a:prstGeom>
          <a:noFill/>
          <a:ln/>
        </p:spPr>
        <p:txBody>
          <a:bodyPr wrap="square" lIns="0" tIns="0" rIns="0" bIns="0" rtlCol="0" anchor="ctr"/>
          <a:lstStyle/>
          <a:p>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채택 방식</a:t>
            </a:r>
            <a:endParaRPr lang="en-US" sz="950" dirty="0"/>
          </a:p>
          <a:p>
            <a:pPr indent="0" marL="0">
              <a:lnSpc>
                <a:spcPct val="125000"/>
              </a:lnSpc>
              <a:buNone/>
            </a:pPr>
            <a:r>
              <a:rPr lang="en-US" sz="950" dirty="0">
                <a:solidFill>
                  <a:srgbClr val="1C2733"/>
                </a:solidFill>
                <a:latin typeface="Malgun Gothic" pitchFamily="34" charset="0"/>
                <a:ea typeface="Malgun Gothic" pitchFamily="34" charset="-122"/>
                <a:cs typeface="Malgun Gothic" pitchFamily="34" charset="-120"/>
              </a:rPr>
              <a:t>두께별 허용 개수 범위 안으로 접어 넣어 생성 → 낭비 0 · 층화 유지</a:t>
            </a:r>
            <a:endParaRPr lang="en-US" sz="950" dirty="0"/>
          </a:p>
        </p:txBody>
      </p:sp>
      <p:sp>
        <p:nvSpPr>
          <p:cNvPr id="19" name="Shape 16"/>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0" name="Shape 17"/>
          <p:cNvSpPr/>
          <p:nvPr/>
        </p:nvSpPr>
        <p:spPr>
          <a:xfrm>
            <a:off x="758952" y="4096512"/>
            <a:ext cx="82296" cy="182880"/>
          </a:xfrm>
          <a:prstGeom prst="rect">
            <a:avLst/>
          </a:prstGeom>
          <a:solidFill>
            <a:srgbClr val="00A3C4"/>
          </a:solidFill>
          <a:ln w="12700">
            <a:solidFill>
              <a:srgbClr val="00A3C4"/>
            </a:solidFill>
            <a:prstDash val="solid"/>
          </a:ln>
        </p:spPr>
      </p:sp>
      <p:sp>
        <p:nvSpPr>
          <p:cNvPr id="21" name="Text 18"/>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 해석 루프</a:t>
            </a:r>
            <a:endParaRPr lang="en-US" sz="1300" dirty="0"/>
          </a:p>
        </p:txBody>
      </p:sp>
      <p:sp>
        <p:nvSpPr>
          <p:cNvPr id="22" name="Shape 19"/>
          <p:cNvSpPr/>
          <p:nvPr/>
        </p:nvSpPr>
        <p:spPr>
          <a:xfrm>
            <a:off x="832104" y="4517136"/>
            <a:ext cx="274320" cy="274320"/>
          </a:xfrm>
          <a:prstGeom prst="ellipse">
            <a:avLst/>
          </a:prstGeom>
          <a:solidFill>
            <a:srgbClr val="16305B"/>
          </a:solidFill>
          <a:ln w="12700">
            <a:solidFill>
              <a:srgbClr val="16305B"/>
            </a:solidFill>
            <a:prstDash val="solid"/>
          </a:ln>
        </p:spPr>
      </p:sp>
      <p:sp>
        <p:nvSpPr>
          <p:cNvPr id="23" name="Text 20"/>
          <p:cNvSpPr txBox="1"/>
          <p:nvPr/>
        </p:nvSpPr>
        <p:spPr>
          <a:xfrm>
            <a:off x="832104" y="4517136"/>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24" name="Text 21"/>
          <p:cNvSpPr txBox="1"/>
          <p:nvPr/>
        </p:nvSpPr>
        <p:spPr>
          <a:xfrm>
            <a:off x="1216152" y="4517136"/>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DOE 실험점 선정</a:t>
            </a:r>
            <a:endParaRPr lang="en-US" sz="1050" dirty="0"/>
          </a:p>
        </p:txBody>
      </p:sp>
      <p:sp>
        <p:nvSpPr>
          <p:cNvPr id="25" name="Shape 22"/>
          <p:cNvSpPr/>
          <p:nvPr/>
        </p:nvSpPr>
        <p:spPr>
          <a:xfrm>
            <a:off x="832104" y="4864608"/>
            <a:ext cx="274320" cy="274320"/>
          </a:xfrm>
          <a:prstGeom prst="ellipse">
            <a:avLst/>
          </a:prstGeom>
          <a:solidFill>
            <a:srgbClr val="16305B"/>
          </a:solidFill>
          <a:ln w="12700">
            <a:solidFill>
              <a:srgbClr val="16305B"/>
            </a:solidFill>
            <a:prstDash val="solid"/>
          </a:ln>
        </p:spPr>
      </p:sp>
      <p:sp>
        <p:nvSpPr>
          <p:cNvPr id="26" name="Text 23"/>
          <p:cNvSpPr txBox="1"/>
          <p:nvPr/>
        </p:nvSpPr>
        <p:spPr>
          <a:xfrm>
            <a:off x="832104" y="4864608"/>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7" name="Text 24"/>
          <p:cNvSpPr txBox="1"/>
          <p:nvPr/>
        </p:nvSpPr>
        <p:spPr>
          <a:xfrm>
            <a:off x="1216152" y="4864608"/>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CAD 리빌드 · STEP 저장</a:t>
            </a:r>
            <a:endParaRPr lang="en-US" sz="1050" dirty="0"/>
          </a:p>
        </p:txBody>
      </p:sp>
      <p:sp>
        <p:nvSpPr>
          <p:cNvPr id="28" name="Shape 25"/>
          <p:cNvSpPr/>
          <p:nvPr/>
        </p:nvSpPr>
        <p:spPr>
          <a:xfrm>
            <a:off x="832104" y="5212080"/>
            <a:ext cx="274320" cy="274320"/>
          </a:xfrm>
          <a:prstGeom prst="ellipse">
            <a:avLst/>
          </a:prstGeom>
          <a:solidFill>
            <a:srgbClr val="16305B"/>
          </a:solidFill>
          <a:ln w="12700">
            <a:solidFill>
              <a:srgbClr val="16305B"/>
            </a:solidFill>
            <a:prstDash val="solid"/>
          </a:ln>
        </p:spPr>
      </p:sp>
      <p:sp>
        <p:nvSpPr>
          <p:cNvPr id="29" name="Text 26"/>
          <p:cNvSpPr txBox="1"/>
          <p:nvPr/>
        </p:nvSpPr>
        <p:spPr>
          <a:xfrm>
            <a:off x="832104" y="5212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0" name="Text 27"/>
          <p:cNvSpPr txBox="1"/>
          <p:nvPr/>
        </p:nvSpPr>
        <p:spPr>
          <a:xfrm>
            <a:off x="1216152" y="5212080"/>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Icepak 해석 수행</a:t>
            </a:r>
            <a:endParaRPr lang="en-US" sz="1050" dirty="0"/>
          </a:p>
        </p:txBody>
      </p:sp>
      <p:sp>
        <p:nvSpPr>
          <p:cNvPr id="31" name="Shape 28"/>
          <p:cNvSpPr/>
          <p:nvPr/>
        </p:nvSpPr>
        <p:spPr>
          <a:xfrm>
            <a:off x="832104" y="5559552"/>
            <a:ext cx="274320" cy="274320"/>
          </a:xfrm>
          <a:prstGeom prst="ellipse">
            <a:avLst/>
          </a:prstGeom>
          <a:solidFill>
            <a:srgbClr val="16305B"/>
          </a:solidFill>
          <a:ln w="12700">
            <a:solidFill>
              <a:srgbClr val="16305B"/>
            </a:solidFill>
            <a:prstDash val="solid"/>
          </a:ln>
        </p:spPr>
      </p:sp>
      <p:sp>
        <p:nvSpPr>
          <p:cNvPr id="32" name="Text 29"/>
          <p:cNvSpPr txBox="1"/>
          <p:nvPr/>
        </p:nvSpPr>
        <p:spPr>
          <a:xfrm>
            <a:off x="832104" y="555955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3" name="Text 30"/>
          <p:cNvSpPr txBox="1"/>
          <p:nvPr/>
        </p:nvSpPr>
        <p:spPr>
          <a:xfrm>
            <a:off x="1216152" y="5559552"/>
            <a:ext cx="4389120" cy="274320"/>
          </a:xfrm>
          <a:prstGeom prst="rect">
            <a:avLst/>
          </a:prstGeom>
          <a:noFill/>
          <a:ln/>
        </p:spPr>
        <p:txBody>
          <a:bodyPr wrap="square" lIns="0" tIns="0" rIns="0" bIns="0" rtlCol="0" anchor="ctr"/>
          <a:lstStyle/>
          <a:p>
            <a:pPr indent="0" marL="0">
              <a:buNone/>
            </a:pPr>
            <a:r>
              <a:rPr lang="en-US" sz="1050" dirty="0">
                <a:solidFill>
                  <a:srgbClr val="1C2733"/>
                </a:solidFill>
                <a:latin typeface="Malgun Gothic" pitchFamily="34" charset="0"/>
                <a:ea typeface="Malgun Gothic" pitchFamily="34" charset="-122"/>
                <a:cs typeface="Malgun Gothic" pitchFamily="34" charset="-120"/>
              </a:rPr>
              <a:t>결과 파싱 · 데이터 누적</a:t>
            </a:r>
            <a:endParaRPr lang="en-US" sz="1050" dirty="0"/>
          </a:p>
        </p:txBody>
      </p:sp>
      <p:sp>
        <p:nvSpPr>
          <p:cNvPr id="34" name="Text 31"/>
          <p:cNvSpPr txBox="1"/>
          <p:nvPr/>
        </p:nvSpPr>
        <p:spPr>
          <a:xfrm>
            <a:off x="832104" y="5907024"/>
            <a:ext cx="4754880" cy="274320"/>
          </a:xfrm>
          <a:prstGeom prst="rect">
            <a:avLst/>
          </a:prstGeom>
          <a:noFill/>
          <a:ln/>
        </p:spPr>
        <p:txBody>
          <a:bodyPr wrap="square" lIns="0" tIns="0" rIns="0" bIns="0" rtlCol="0" anchor="ctr"/>
          <a:lstStyle/>
          <a:p>
            <a:pPr indent="0" marL="0">
              <a:buNone/>
            </a:pPr>
            <a:r>
              <a:rPr lang="en-US" sz="1000" b="1" dirty="0">
                <a:solidFill>
                  <a:srgbClr val="00A3C4"/>
                </a:solidFill>
                <a:latin typeface="Malgun Gothic" pitchFamily="34" charset="0"/>
                <a:ea typeface="Malgun Gothic" pitchFamily="34" charset="-122"/>
                <a:cs typeface="Malgun Gothic" pitchFamily="34" charset="-120"/>
              </a:rPr>
              <a:t>▶   종료 조건까지 자동 반복 — 1회차 약 17분</a:t>
            </a:r>
            <a:endParaRPr lang="en-US" sz="1000" dirty="0"/>
          </a:p>
        </p:txBody>
      </p:sp>
      <p:sp>
        <p:nvSpPr>
          <p:cNvPr id="35" name="Shape 32"/>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6" name="Shape 33"/>
          <p:cNvSpPr/>
          <p:nvPr/>
        </p:nvSpPr>
        <p:spPr>
          <a:xfrm>
            <a:off x="6592824" y="4096512"/>
            <a:ext cx="82296" cy="182880"/>
          </a:xfrm>
          <a:prstGeom prst="rect">
            <a:avLst/>
          </a:prstGeom>
          <a:solidFill>
            <a:srgbClr val="00A3C4"/>
          </a:solidFill>
          <a:ln w="12700">
            <a:solidFill>
              <a:srgbClr val="00A3C4"/>
            </a:solidFill>
            <a:prstDash val="solid"/>
          </a:ln>
        </p:spPr>
      </p:sp>
      <p:sp>
        <p:nvSpPr>
          <p:cNvPr id="37" name="Text 34"/>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예외 처리 및 무인 운전</a:t>
            </a:r>
            <a:endParaRPr lang="en-US" sz="13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417320"/>
                <a:gridCol w="342900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상황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미성립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이력 기록 후 다음 점 진행, 해당 영역 회피</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솔버 비정상 종료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자동 재연결 후 동일 실험점 재시도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연속 실패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오류로 판단하고 캠페인 중단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9" name="Text 35"/>
          <p:cNvSpPr txBox="1"/>
          <p:nvPr/>
        </p:nvSpPr>
        <p:spPr>
          <a:xfrm>
            <a:off x="6647688" y="5815584"/>
            <a:ext cx="484632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CAD · 해석 프로그램 GUI 비활성화로 장기 연속 구동 확보</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DOE 데이터 확보 현황 및 차월 계획</a:t>
            </a:r>
            <a:endParaRPr lang="en-US" sz="2200" dirty="0"/>
          </a:p>
        </p:txBody>
      </p:sp>
      <p:sp>
        <p:nvSpPr>
          <p:cNvPr id="6" name="Shape 4"/>
          <p:cNvSpPr/>
          <p:nvPr/>
        </p:nvSpPr>
        <p:spPr>
          <a:xfrm>
            <a:off x="502920" y="1207008"/>
            <a:ext cx="2606040" cy="1298448"/>
          </a:xfrm>
          <a:prstGeom prst="roundRect">
            <a:avLst>
              <a:gd name="adj" fmla="val 4225"/>
            </a:avLst>
          </a:prstGeom>
          <a:solidFill>
            <a:srgbClr val="16305B"/>
          </a:solidFill>
          <a:ln w="9525">
            <a:solidFill>
              <a:srgbClr val="16305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85800" y="1389888"/>
            <a:ext cx="2240280" cy="658368"/>
          </a:xfrm>
          <a:prstGeom prst="rect">
            <a:avLst/>
          </a:prstGeom>
          <a:noFill/>
          <a:ln/>
        </p:spPr>
        <p:txBody>
          <a:bodyPr wrap="square" lIns="0" tIns="0" rIns="0" bIns="0" rtlCol="0" anchor="ctr"/>
          <a:lstStyle/>
          <a:p>
            <a:pPr algn="ctr" indent="0" marL="0">
              <a:buNone/>
            </a:pPr>
            <a:r>
              <a:rPr lang="en-US" sz="3400" b="1" dirty="0">
                <a:solidFill>
                  <a:srgbClr val="FFFFFF"/>
                </a:solidFill>
                <a:latin typeface="Malgun Gothic" pitchFamily="34" charset="0"/>
                <a:ea typeface="Malgun Gothic" pitchFamily="34" charset="-122"/>
                <a:cs typeface="Malgun Gothic" pitchFamily="34" charset="-120"/>
              </a:rPr>
              <a:t>90</a:t>
            </a:r>
            <a:pPr algn="ctr" indent="0" marL="0">
              <a:buNone/>
            </a:pPr>
            <a:r>
              <a:rPr lang="en-US" sz="1100" dirty="0">
                <a:solidFill>
                  <a:srgbClr val="CFE0F2"/>
                </a:solidFill>
                <a:latin typeface="Malgun Gothic" pitchFamily="34" charset="0"/>
                <a:ea typeface="Malgun Gothic" pitchFamily="34" charset="-122"/>
                <a:cs typeface="Malgun Gothic" pitchFamily="34" charset="-120"/>
              </a:rPr>
              <a:t>  점</a:t>
            </a:r>
            <a:endParaRPr lang="en-US" sz="3400" dirty="0"/>
          </a:p>
        </p:txBody>
      </p:sp>
      <p:sp>
        <p:nvSpPr>
          <p:cNvPr id="8" name="Text 6"/>
          <p:cNvSpPr txBox="1"/>
          <p:nvPr/>
        </p:nvSpPr>
        <p:spPr>
          <a:xfrm>
            <a:off x="685800" y="2048256"/>
            <a:ext cx="2240280" cy="274320"/>
          </a:xfrm>
          <a:prstGeom prst="rect">
            <a:avLst/>
          </a:prstGeom>
          <a:noFill/>
          <a:ln/>
        </p:spPr>
        <p:txBody>
          <a:bodyPr wrap="square" lIns="0" tIns="0" rIns="0" bIns="0" rtlCol="0" anchor="ctr"/>
          <a:lstStyle/>
          <a:p>
            <a:pPr algn="ctr" indent="0" marL="0">
              <a:buNone/>
            </a:pPr>
            <a:r>
              <a:rPr lang="en-US" sz="1000" dirty="0">
                <a:solidFill>
                  <a:srgbClr val="CFE0F2"/>
                </a:solidFill>
                <a:latin typeface="Malgun Gothic" pitchFamily="34" charset="0"/>
                <a:ea typeface="Malgun Gothic" pitchFamily="34" charset="-122"/>
                <a:cs typeface="Malgun Gothic" pitchFamily="34" charset="-120"/>
              </a:rPr>
              <a:t>DOE 실험점</a:t>
            </a:r>
            <a:endParaRPr lang="en-US" sz="1000" dirty="0"/>
          </a:p>
        </p:txBody>
      </p:sp>
      <p:sp>
        <p:nvSpPr>
          <p:cNvPr id="9" name="Shape 7"/>
          <p:cNvSpPr/>
          <p:nvPr/>
        </p:nvSpPr>
        <p:spPr>
          <a:xfrm>
            <a:off x="338328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0" name="Text 8"/>
          <p:cNvSpPr txBox="1"/>
          <p:nvPr/>
        </p:nvSpPr>
        <p:spPr>
          <a:xfrm>
            <a:off x="356616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2.50 ~ 6.41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mm</a:t>
            </a:r>
            <a:endParaRPr lang="en-US" sz="2100" dirty="0"/>
          </a:p>
        </p:txBody>
      </p:sp>
      <p:sp>
        <p:nvSpPr>
          <p:cNvPr id="11" name="Text 9"/>
          <p:cNvSpPr txBox="1"/>
          <p:nvPr/>
        </p:nvSpPr>
        <p:spPr>
          <a:xfrm>
            <a:off x="356616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유로 갭 범위</a:t>
            </a:r>
            <a:endParaRPr lang="en-US" sz="1000" dirty="0"/>
          </a:p>
        </p:txBody>
      </p:sp>
      <p:sp>
        <p:nvSpPr>
          <p:cNvPr id="12" name="Shape 10"/>
          <p:cNvSpPr/>
          <p:nvPr/>
        </p:nvSpPr>
        <p:spPr>
          <a:xfrm>
            <a:off x="626364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Text 11"/>
          <p:cNvSpPr txBox="1"/>
          <p:nvPr/>
        </p:nvSpPr>
        <p:spPr>
          <a:xfrm>
            <a:off x="644652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1,701 ~ 4,661</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Pa</a:t>
            </a:r>
            <a:endParaRPr lang="en-US" sz="2100" dirty="0"/>
          </a:p>
        </p:txBody>
      </p:sp>
      <p:sp>
        <p:nvSpPr>
          <p:cNvPr id="14" name="Text 12"/>
          <p:cNvSpPr txBox="1"/>
          <p:nvPr/>
        </p:nvSpPr>
        <p:spPr>
          <a:xfrm>
            <a:off x="644652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차압 분포</a:t>
            </a:r>
            <a:endParaRPr lang="en-US" sz="1000" dirty="0"/>
          </a:p>
        </p:txBody>
      </p:sp>
      <p:sp>
        <p:nvSpPr>
          <p:cNvPr id="15" name="Shape 13"/>
          <p:cNvSpPr/>
          <p:nvPr/>
        </p:nvSpPr>
        <p:spPr>
          <a:xfrm>
            <a:off x="9144000" y="1207008"/>
            <a:ext cx="2606040" cy="1298448"/>
          </a:xfrm>
          <a:prstGeom prst="roundRect">
            <a:avLst>
              <a:gd name="adj" fmla="val 422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6" name="Text 14"/>
          <p:cNvSpPr txBox="1"/>
          <p:nvPr/>
        </p:nvSpPr>
        <p:spPr>
          <a:xfrm>
            <a:off x="9326880" y="1389888"/>
            <a:ext cx="2240280" cy="658368"/>
          </a:xfrm>
          <a:prstGeom prst="rect">
            <a:avLst/>
          </a:prstGeom>
          <a:noFill/>
          <a:ln/>
        </p:spPr>
        <p:txBody>
          <a:bodyPr wrap="square" lIns="0" tIns="0" rIns="0" bIns="0" rtlCol="0" anchor="ctr"/>
          <a:lstStyle/>
          <a:p>
            <a:pPr algn="ctr" indent="0" marL="0">
              <a:buNone/>
            </a:pPr>
            <a:r>
              <a:rPr lang="en-US" sz="2100" b="1" dirty="0">
                <a:solidFill>
                  <a:srgbClr val="16305B"/>
                </a:solidFill>
                <a:latin typeface="Malgun Gothic" pitchFamily="34" charset="0"/>
                <a:ea typeface="Malgun Gothic" pitchFamily="34" charset="-122"/>
                <a:cs typeface="Malgun Gothic" pitchFamily="34" charset="-120"/>
              </a:rPr>
              <a:t>4.90 ~ 5.24</a:t>
            </a:r>
            <a:pPr algn="ctr" indent="0" marL="0">
              <a:buNone/>
            </a:pPr>
            <a:r>
              <a:rPr lang="en-US" sz="1100" dirty="0">
                <a:solidFill>
                  <a:srgbClr val="6B7A8F"/>
                </a:solidFill>
                <a:latin typeface="Malgun Gothic" pitchFamily="34" charset="0"/>
                <a:ea typeface="Malgun Gothic" pitchFamily="34" charset="-122"/>
                <a:cs typeface="Malgun Gothic" pitchFamily="34" charset="-120"/>
              </a:rPr>
              <a:t>  kg</a:t>
            </a:r>
            <a:endParaRPr lang="en-US" sz="2100" dirty="0"/>
          </a:p>
        </p:txBody>
      </p:sp>
      <p:sp>
        <p:nvSpPr>
          <p:cNvPr id="17" name="Text 15"/>
          <p:cNvSpPr txBox="1"/>
          <p:nvPr/>
        </p:nvSpPr>
        <p:spPr>
          <a:xfrm>
            <a:off x="9326880" y="2048256"/>
            <a:ext cx="2240280" cy="274320"/>
          </a:xfrm>
          <a:prstGeom prst="rect">
            <a:avLst/>
          </a:prstGeom>
          <a:noFill/>
          <a:ln/>
        </p:spPr>
        <p:txBody>
          <a:bodyPr wrap="square" lIns="0" tIns="0" rIns="0" bIns="0" rtlCol="0" anchor="ctr"/>
          <a:lstStyle/>
          <a:p>
            <a:pPr algn="ctr" indent="0" marL="0">
              <a:buNone/>
            </a:pPr>
            <a:r>
              <a:rPr lang="en-US" sz="1000" dirty="0">
                <a:solidFill>
                  <a:srgbClr val="6B7A8F"/>
                </a:solidFill>
                <a:latin typeface="Malgun Gothic" pitchFamily="34" charset="0"/>
                <a:ea typeface="Malgun Gothic" pitchFamily="34" charset="-122"/>
                <a:cs typeface="Malgun Gothic" pitchFamily="34" charset="-120"/>
              </a:rPr>
              <a:t>중량 분포</a:t>
            </a:r>
            <a:endParaRPr lang="en-US" sz="1000" dirty="0"/>
          </a:p>
        </p:txBody>
      </p:sp>
      <p:sp>
        <p:nvSpPr>
          <p:cNvPr id="18" name="Shape 16"/>
          <p:cNvSpPr/>
          <p:nvPr/>
        </p:nvSpPr>
        <p:spPr>
          <a:xfrm>
            <a:off x="502920" y="2706624"/>
            <a:ext cx="11183112" cy="1810512"/>
          </a:xfrm>
          <a:prstGeom prst="roundRect">
            <a:avLst>
              <a:gd name="adj" fmla="val 303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Shape 17"/>
          <p:cNvSpPr/>
          <p:nvPr/>
        </p:nvSpPr>
        <p:spPr>
          <a:xfrm>
            <a:off x="758952" y="2980944"/>
            <a:ext cx="82296" cy="182880"/>
          </a:xfrm>
          <a:prstGeom prst="rect">
            <a:avLst/>
          </a:prstGeom>
          <a:solidFill>
            <a:srgbClr val="00A3C4"/>
          </a:solidFill>
          <a:ln w="12700">
            <a:solidFill>
              <a:srgbClr val="00A3C4"/>
            </a:solidFill>
            <a:prstDash val="solid"/>
          </a:ln>
        </p:spPr>
      </p:sp>
      <p:sp>
        <p:nvSpPr>
          <p:cNvPr id="20" name="Text 18"/>
          <p:cNvSpPr txBox="1"/>
          <p:nvPr/>
        </p:nvSpPr>
        <p:spPr>
          <a:xfrm>
            <a:off x="923544" y="2889504"/>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확보 범위 및 데이터 구조</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86968" y="3255264"/>
          <a:ext cx="10515600" cy="914400"/>
        </p:xfrm>
        <a:graphic>
          <a:graphicData uri="http://schemas.openxmlformats.org/drawingml/2006/table">
            <a:tbl>
              <a:tblPr/>
              <a:tblGrid>
                <a:gridCol w="1828800"/>
                <a:gridCol w="3749040"/>
                <a:gridCol w="1554480"/>
                <a:gridCol w="3383280"/>
              </a:tblGrid>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핀 두께 / 개수</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1.5 ~ 3.0 mm / 10 ~ 21 개</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116.8 ~ 122.9 ℃</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47472">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유로 갭</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2.500 ~ 6.409 mm  (가공 제약 하한까지 도달)</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데이터 구조</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설계변수 9종 | 갭 | 목적함수 | 제약조건</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2" name="Text 19"/>
          <p:cNvSpPr txBox="1"/>
          <p:nvPr/>
        </p:nvSpPr>
        <p:spPr>
          <a:xfrm>
            <a:off x="886968" y="4041648"/>
            <a:ext cx="10424160" cy="274320"/>
          </a:xfrm>
          <a:prstGeom prst="rect">
            <a:avLst/>
          </a:prstGeom>
          <a:noFill/>
          <a:ln/>
        </p:spPr>
        <p:txBody>
          <a:bodyPr wrap="square" lIns="0" tIns="0" rIns="0" bIns="0" rtlCol="0" anchor="ctr"/>
          <a:lstStyle/>
          <a:p>
            <a:pPr indent="0" marL="0">
              <a:buNone/>
            </a:pPr>
            <a:r>
              <a:rPr lang="en-US" sz="950" i="1" dirty="0">
                <a:solidFill>
                  <a:srgbClr val="6B7A8F"/>
                </a:solidFill>
                <a:latin typeface="Malgun Gothic" pitchFamily="34" charset="0"/>
                <a:ea typeface="Malgun Gothic" pitchFamily="34" charset="-122"/>
                <a:cs typeface="Malgun Gothic" pitchFamily="34" charset="-120"/>
              </a:rPr>
              <a:t>설계공간 전 영역에 고르게 분포 — 대리모델 학습 입력으로 사용</a:t>
            </a:r>
            <a:endParaRPr lang="en-US" sz="950" dirty="0"/>
          </a:p>
        </p:txBody>
      </p:sp>
      <p:sp>
        <p:nvSpPr>
          <p:cNvPr id="23" name="Shape 20"/>
          <p:cNvSpPr/>
          <p:nvPr/>
        </p:nvSpPr>
        <p:spPr>
          <a:xfrm>
            <a:off x="502920" y="4709160"/>
            <a:ext cx="11183112" cy="1600200"/>
          </a:xfrm>
          <a:prstGeom prst="roundRect">
            <a:avLst>
              <a:gd name="adj" fmla="val 3429"/>
            </a:avLst>
          </a:prstGeom>
          <a:solidFill>
            <a:srgbClr val="16305B"/>
          </a:solidFill>
          <a:ln w="12700">
            <a:solidFill>
              <a:srgbClr val="16305B"/>
            </a:solidFill>
            <a:prstDash val="solid"/>
          </a:ln>
        </p:spPr>
      </p:sp>
      <p:sp>
        <p:nvSpPr>
          <p:cNvPr id="24" name="Text 21"/>
          <p:cNvSpPr txBox="1"/>
          <p:nvPr/>
        </p:nvSpPr>
        <p:spPr>
          <a:xfrm>
            <a:off x="886968" y="4892040"/>
            <a:ext cx="2926080" cy="292608"/>
          </a:xfrm>
          <a:prstGeom prst="rect">
            <a:avLst/>
          </a:prstGeom>
          <a:noFill/>
          <a:ln/>
        </p:spPr>
        <p:txBody>
          <a:bodyPr wrap="square" lIns="0" tIns="0" rIns="0" bIns="0" rtlCol="0" anchor="ctr"/>
          <a:lstStyle/>
          <a:p>
            <a:pPr indent="0" marL="0">
              <a:buNone/>
            </a:pPr>
            <a:r>
              <a:rPr lang="en-US" sz="1200" b="1" spc="100" kern="0" dirty="0">
                <a:solidFill>
                  <a:srgbClr val="00A3C4"/>
                </a:solidFill>
                <a:latin typeface="Malgun Gothic" pitchFamily="34" charset="0"/>
                <a:ea typeface="Malgun Gothic" pitchFamily="34" charset="-122"/>
                <a:cs typeface="Malgun Gothic" pitchFamily="34" charset="-120"/>
              </a:rPr>
              <a:t>차 월 계 획</a:t>
            </a:r>
            <a:endParaRPr lang="en-US" sz="1200" dirty="0"/>
          </a:p>
        </p:txBody>
      </p:sp>
      <p:sp>
        <p:nvSpPr>
          <p:cNvPr id="25" name="Text 22"/>
          <p:cNvSpPr txBox="1"/>
          <p:nvPr/>
        </p:nvSpPr>
        <p:spPr>
          <a:xfrm>
            <a:off x="886968"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01</a:t>
            </a:r>
            <a:endParaRPr lang="en-US" sz="1100" dirty="0"/>
          </a:p>
        </p:txBody>
      </p:sp>
      <p:sp>
        <p:nvSpPr>
          <p:cNvPr id="26" name="Text 23"/>
          <p:cNvSpPr txBox="1"/>
          <p:nvPr/>
        </p:nvSpPr>
        <p:spPr>
          <a:xfrm>
            <a:off x="886968"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확보 데이터 기반 머신러닝 대리모델(GPR) 학습</a:t>
            </a:r>
            <a:endParaRPr lang="en-US" sz="1050" dirty="0"/>
          </a:p>
        </p:txBody>
      </p:sp>
      <p:sp>
        <p:nvSpPr>
          <p:cNvPr id="27" name="Text 24"/>
          <p:cNvSpPr txBox="1"/>
          <p:nvPr/>
        </p:nvSpPr>
        <p:spPr>
          <a:xfrm>
            <a:off x="4471416"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02</a:t>
            </a:r>
            <a:endParaRPr lang="en-US" sz="1100" dirty="0"/>
          </a:p>
        </p:txBody>
      </p:sp>
      <p:sp>
        <p:nvSpPr>
          <p:cNvPr id="28" name="Text 25"/>
          <p:cNvSpPr txBox="1"/>
          <p:nvPr/>
        </p:nvSpPr>
        <p:spPr>
          <a:xfrm>
            <a:off x="4471416"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예측값 · 실측값 비교를 통한 정확도 검증</a:t>
            </a:r>
            <a:endParaRPr lang="en-US" sz="1050" dirty="0"/>
          </a:p>
        </p:txBody>
      </p:sp>
      <p:sp>
        <p:nvSpPr>
          <p:cNvPr id="29" name="Text 26"/>
          <p:cNvSpPr txBox="1"/>
          <p:nvPr/>
        </p:nvSpPr>
        <p:spPr>
          <a:xfrm>
            <a:off x="8055864" y="5285232"/>
            <a:ext cx="457200" cy="274320"/>
          </a:xfrm>
          <a:prstGeom prst="rect">
            <a:avLst/>
          </a:prstGeom>
          <a:noFill/>
          <a:ln/>
        </p:spPr>
        <p:txBody>
          <a:bodyPr wrap="square" lIns="0" tIns="0" rIns="0" bIns="0" rtlCol="0" anchor="ctr"/>
          <a:lstStyle/>
          <a:p>
            <a:pPr indent="0" marL="0">
              <a:buNone/>
            </a:pPr>
            <a:r>
              <a:rPr lang="en-US" sz="1100" b="1" dirty="0">
                <a:solidFill>
                  <a:srgbClr val="00A3C4"/>
                </a:solidFill>
                <a:latin typeface="Malgun Gothic" pitchFamily="34" charset="0"/>
                <a:ea typeface="Malgun Gothic" pitchFamily="34" charset="-122"/>
                <a:cs typeface="Malgun Gothic" pitchFamily="34" charset="-120"/>
              </a:rPr>
              <a:t>03</a:t>
            </a:r>
            <a:endParaRPr lang="en-US" sz="1100" dirty="0"/>
          </a:p>
        </p:txBody>
      </p:sp>
      <p:sp>
        <p:nvSpPr>
          <p:cNvPr id="30" name="Text 27"/>
          <p:cNvSpPr txBox="1"/>
          <p:nvPr/>
        </p:nvSpPr>
        <p:spPr>
          <a:xfrm>
            <a:off x="8055864" y="5559552"/>
            <a:ext cx="3291840" cy="566928"/>
          </a:xfrm>
          <a:prstGeom prst="rect">
            <a:avLst/>
          </a:prstGeom>
          <a:noFill/>
          <a:ln/>
        </p:spPr>
        <p:txBody>
          <a:bodyPr wrap="square" lIns="0" tIns="0" rIns="0" bIns="0" rtlCol="0" anchor="ctr"/>
          <a:lstStyle/>
          <a:p>
            <a:pPr indent="0" marL="0">
              <a:lnSpc>
                <a:spcPct val="120000"/>
              </a:lnSpc>
              <a:buNone/>
            </a:pPr>
            <a:r>
              <a:rPr lang="en-US" sz="1050" dirty="0">
                <a:solidFill>
                  <a:srgbClr val="FFFFFF"/>
                </a:solidFill>
                <a:latin typeface="Malgun Gothic" pitchFamily="34" charset="0"/>
                <a:ea typeface="Malgun Gothic" pitchFamily="34" charset="-122"/>
                <a:cs typeface="Malgun Gothic" pitchFamily="34" charset="-120"/>
              </a:rPr>
              <a:t>설계변수별 민감도 산출 및 지배 변수 식별</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dc:title>
  <dc:subject>PptxGenJS Presentation</dc:subject>
  <dc:creator>학습조직</dc:creator>
  <cp:lastModifiedBy>학습조직</cp:lastModifiedBy>
  <cp:revision>1</cp:revision>
  <dcterms:created xsi:type="dcterms:W3CDTF">2026-09-28T07:11:03Z</dcterms:created>
  <dcterms:modified xsi:type="dcterms:W3CDTF">2026-09-28T07:11:03Z</dcterms:modified>
</cp:coreProperties>
</file>