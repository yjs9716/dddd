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1개월차 산출물 발표. 해석 자동화 파이프라인 구축과 DOE 데이터 확보까지가 이번 달 범위이며, 대리모델 학습은 차월 주제임을 먼저 밝힌다.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01은 망분리 환경에서 AI를 어떻게 활용했는지, 02는 무엇을 설계변수로 두었는지, 03은 자동해석을 통해 실제로 확보한 데이터를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 정책상 CAD·해석 모델과 원본 결과는 외부로 나갈 수 없다. 따라서 외부에서는 코드와 문서만 작성하고, 형상 생성과 해석은 전적으로 내부망에서 수행한다. 실행 결과는 개발자가 확인한 뒤 필요한 요구사항만 정리해 전달하는 방식으로 운영했다.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AI 에이전트에서 작업 브랜치를 연결하는 화면, 오른쪽은 그 결과가 저장소에 버전별 브랜치로 쌓이는 화면이다. 세션이 바뀌어도 저장소를 읽어 이전 맥락을 이어받기 때문에 같은 설명을 반복할 필요가 없고, 커밋 메시지가 설계 변경 사유로 남아 이력 추적이 가능하다. 화면에 보이는 설계 세부값은 마스킹 처리했다.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지난 차수에서 구축한 해석 자동화 환경의 시스템 아키텍처다. 개발 환경에서 작성한 Python 코드가 API를 통해 CAD와 해석 프로그램을 직접 제어하며, 형상 생성부터 결과 추출까지 전 과정이 코드로 연결된다. 코드 이전은 망분리 정책에 따라 수동으로 수행한다.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변수를 늘리기만 한 것이 아니라, 근거를 갖고 2개를 고정해 탐색 예산을 방열핀 쪽으로 재배분했다는 점을 강조.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핀 두께와 개수는 독립 변수처럼 보이지만 가공 제약 때문에 서로 묶인다. 이 점이 DOE 실험점 생성 방식에 영향을 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자동해석은 7개 파일로 구성된다. main.py가 실험점마다 실험점 생성, 형상 빌드, 해석, 결과 저장 모듈을 순서대로 호출하고, 모듈 사이에는 설계값, STEP 파일, 결과 CSV가 전달된다. SolidWorks는 COM API로, Icepak은 PyAEDT로 제어하며, 경로는 paths.py 한 곳에서 관리한다.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설계값을 Equation Manager 전역변수에 써넣고 리빌드한 뒤 질량 특성과 STEP 파일을 얻는 과정이다. 변수명이 어긋나면 즉시 중단해 형상이 바뀌지 않은 채 해석되는 사고를 막았고, 핀 간격처럼 다른 변수에서 결정되는 값은 CAD 수식에 맡겨 두 곳에서 따로 계산하지 않도록 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해석 모델은 처음에 GUI로 한 번 직접 구성하고, 그 과정을 스크립트 리코더로 기록했다. 기록된 스크립트는 형상 치수가 고정값으로 박혀 있어 그대로는 재사용할 수 없으므로, AI 에이전트와 함께 설계변수 기반 코드로 정리했다. 이후에는 형상 파일만 바뀌면 같은 절차를 코드가 매 회차 재현한다. 단계별 GUI 설정은 부록 A-1에 정리했다.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1회 해석에 수십 분이 걸리므로 무인 연속 운전이 전제 조건. 사람이 붙어 있지 않아도 데이터가 쌓이는 구조를 만든 것이 이번 달의 실질적 성과.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달은 데이터 생산 설비를 만들고 초기 데이터셋을 확보한 단계. 다음 달부터 이 데이터를 학습시킨다.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5B"/>
        </a:solidFill>
      </p:bgPr>
    </p:bg>
    <p:spTree>
      <p:nvGrpSpPr>
        <p:cNvPr id="1" name=""/>
        <p:cNvGrpSpPr/>
        <p:nvPr/>
      </p:nvGrpSpPr>
      <p:grpSpPr>
        <a:xfrm>
          <a:off x="0" y="0"/>
          <a:ext cx="0" cy="0"/>
          <a:chOff x="0" y="0"/>
          <a:chExt cx="0" cy="0"/>
        </a:xfrm>
      </p:grpSpPr>
      <p:sp>
        <p:nvSpPr>
          <p:cNvPr id="2" name="Shape 0"/>
          <p:cNvSpPr/>
          <p:nvPr/>
        </p:nvSpPr>
        <p:spPr>
          <a:xfrm>
            <a:off x="8869680" y="-1463040"/>
            <a:ext cx="4937760" cy="4937760"/>
          </a:xfrm>
          <a:prstGeom prst="ellipse">
            <a:avLst/>
          </a:prstGeom>
          <a:solidFill>
            <a:srgbClr val="2C4E82">
              <a:alpha val="45000"/>
            </a:srgbClr>
          </a:solidFill>
          <a:ln w="12700">
            <a:solidFill>
              <a:srgbClr val="2C4E82">
                <a:alpha val="0"/>
              </a:srgbClr>
            </a:solidFill>
            <a:prstDash val="solid"/>
          </a:ln>
        </p:spPr>
      </p:sp>
      <p:sp>
        <p:nvSpPr>
          <p:cNvPr id="3" name="Shape 1"/>
          <p:cNvSpPr/>
          <p:nvPr/>
        </p:nvSpPr>
        <p:spPr>
          <a:xfrm>
            <a:off x="10241280" y="3931920"/>
            <a:ext cx="3108960" cy="3108960"/>
          </a:xfrm>
          <a:prstGeom prst="ellipse">
            <a:avLst/>
          </a:prstGeom>
          <a:solidFill>
            <a:srgbClr val="00A3C4">
              <a:alpha val="22000"/>
            </a:srgbClr>
          </a:solidFill>
          <a:ln w="12700">
            <a:solidFill>
              <a:srgbClr val="00A3C4">
                <a:alpha val="0"/>
              </a:srgbClr>
            </a:solidFill>
            <a:prstDash val="solid"/>
          </a:ln>
        </p:spPr>
      </p:sp>
      <p:sp>
        <p:nvSpPr>
          <p:cNvPr id="4" name="Text 2"/>
          <p:cNvSpPr txBox="1"/>
          <p:nvPr/>
        </p:nvSpPr>
        <p:spPr>
          <a:xfrm>
            <a:off x="777240" y="1298448"/>
            <a:ext cx="7315200" cy="292608"/>
          </a:xfrm>
          <a:prstGeom prst="rect">
            <a:avLst/>
          </a:prstGeom>
          <a:noFill/>
          <a:ln/>
        </p:spPr>
        <p:txBody>
          <a:bodyPr wrap="square" lIns="0" tIns="0" rIns="0" bIns="0" rtlCol="0" anchor="ctr"/>
          <a:lstStyle/>
          <a:p>
            <a:pPr indent="0" marL="0">
              <a:buNone/>
            </a:pPr>
            <a:r>
              <a:rPr lang="en-US" sz="1200" b="1" spc="200" kern="0" dirty="0">
                <a:solidFill>
                  <a:srgbClr val="00A3C4"/>
                </a:solidFill>
                <a:latin typeface="Malgun Gothic" pitchFamily="34" charset="0"/>
                <a:ea typeface="Malgun Gothic" pitchFamily="34" charset="-122"/>
                <a:cs typeface="Malgun Gothic" pitchFamily="34" charset="-120"/>
              </a:rPr>
              <a:t>학습조직</a:t>
            </a:r>
            <a:endParaRPr lang="en-US" sz="1200" dirty="0"/>
          </a:p>
        </p:txBody>
      </p:sp>
      <p:sp>
        <p:nvSpPr>
          <p:cNvPr id="5" name="Text 3"/>
          <p:cNvSpPr txBox="1"/>
          <p:nvPr/>
        </p:nvSpPr>
        <p:spPr>
          <a:xfrm>
            <a:off x="777240" y="1719072"/>
            <a:ext cx="8412480" cy="1737360"/>
          </a:xfrm>
          <a:prstGeom prst="rect">
            <a:avLst/>
          </a:prstGeom>
          <a:noFill/>
          <a:ln/>
        </p:spPr>
        <p:txBody>
          <a:bodyPr wrap="square" lIns="0" tIns="0" rIns="0" bIns="0" rtlCol="0" anchor="ctr"/>
          <a:lstStyle/>
          <a:p>
            <a:pPr indent="0" marL="0">
              <a:lnSpc>
                <a:spcPct val="112000"/>
              </a:lnSpc>
              <a:buNone/>
            </a:pPr>
            <a:r>
              <a:rPr lang="en-US" sz="4000" b="1" dirty="0">
                <a:solidFill>
                  <a:srgbClr val="FFFFFF"/>
                </a:solidFill>
                <a:latin typeface="Malgun Gothic" pitchFamily="34" charset="0"/>
                <a:ea typeface="Malgun Gothic" pitchFamily="34" charset="-122"/>
                <a:cs typeface="Malgun Gothic" pitchFamily="34" charset="-120"/>
              </a:rPr>
              <a:t>형상 생성부터</a:t>
            </a:r>
            <a:endParaRPr lang="en-US" sz="4000" dirty="0"/>
          </a:p>
          <a:p>
            <a:pPr indent="0" marL="0">
              <a:lnSpc>
                <a:spcPct val="112000"/>
              </a:lnSpc>
              <a:buNone/>
            </a:pPr>
            <a:r>
              <a:rPr lang="en-US" sz="4000" b="1" dirty="0">
                <a:solidFill>
                  <a:srgbClr val="FFFFFF"/>
                </a:solidFill>
                <a:latin typeface="Malgun Gothic" pitchFamily="34" charset="0"/>
                <a:ea typeface="Malgun Gothic" pitchFamily="34" charset="-122"/>
                <a:cs typeface="Malgun Gothic" pitchFamily="34" charset="-120"/>
              </a:rPr>
              <a:t>설계최적화까지</a:t>
            </a:r>
            <a:endParaRPr lang="en-US" sz="4000" dirty="0"/>
          </a:p>
        </p:txBody>
      </p:sp>
      <p:sp>
        <p:nvSpPr>
          <p:cNvPr id="6" name="Text 4"/>
          <p:cNvSpPr txBox="1"/>
          <p:nvPr/>
        </p:nvSpPr>
        <p:spPr>
          <a:xfrm>
            <a:off x="777240" y="3529584"/>
            <a:ext cx="8229600" cy="365760"/>
          </a:xfrm>
          <a:prstGeom prst="rect">
            <a:avLst/>
          </a:prstGeom>
          <a:noFill/>
          <a:ln/>
        </p:spPr>
        <p:txBody>
          <a:bodyPr wrap="square" lIns="0" tIns="0" rIns="0" bIns="0" rtlCol="0" anchor="ctr"/>
          <a:lstStyle/>
          <a:p>
            <a:pPr indent="0" marL="0">
              <a:buNone/>
            </a:pPr>
            <a:r>
              <a:rPr lang="en-US" sz="1600" b="1" dirty="0">
                <a:solidFill>
                  <a:srgbClr val="CFE0F2"/>
                </a:solidFill>
                <a:latin typeface="Malgun Gothic" pitchFamily="34" charset="0"/>
                <a:ea typeface="Malgun Gothic" pitchFamily="34" charset="-122"/>
                <a:cs typeface="Malgun Gothic" pitchFamily="34" charset="-120"/>
              </a:rPr>
              <a:t>AI 기반 형상·해석 자동화 연계 설계최적화</a:t>
            </a:r>
            <a:endParaRPr lang="en-US" sz="1600" dirty="0"/>
          </a:p>
        </p:txBody>
      </p:sp>
      <p:sp>
        <p:nvSpPr>
          <p:cNvPr id="7" name="Text 5"/>
          <p:cNvSpPr txBox="1"/>
          <p:nvPr/>
        </p:nvSpPr>
        <p:spPr>
          <a:xfrm>
            <a:off x="777240" y="3895344"/>
            <a:ext cx="8229600" cy="292608"/>
          </a:xfrm>
          <a:prstGeom prst="rect">
            <a:avLst/>
          </a:prstGeom>
          <a:noFill/>
          <a:ln/>
        </p:spPr>
        <p:txBody>
          <a:bodyPr wrap="square" lIns="0" tIns="0" rIns="0" bIns="0" rtlCol="0" anchor="ctr"/>
          <a:lstStyle/>
          <a:p>
            <a:pPr indent="0" marL="0">
              <a:buNone/>
            </a:pPr>
            <a:r>
              <a:rPr lang="en-US" sz="1200" dirty="0">
                <a:solidFill>
                  <a:srgbClr val="CFE0F2"/>
                </a:solidFill>
                <a:latin typeface="Malgun Gothic" pitchFamily="34" charset="0"/>
                <a:ea typeface="Malgun Gothic" pitchFamily="34" charset="-122"/>
                <a:cs typeface="Malgun Gothic" pitchFamily="34" charset="-120"/>
              </a:rPr>
              <a:t>수냉식 냉각판 유로·방열핀 설계 사례</a:t>
            </a:r>
            <a:endParaRPr lang="en-US" sz="1200" dirty="0"/>
          </a:p>
        </p:txBody>
      </p:sp>
      <p:sp>
        <p:nvSpPr>
          <p:cNvPr id="8" name="Shape 6"/>
          <p:cNvSpPr/>
          <p:nvPr/>
        </p:nvSpPr>
        <p:spPr>
          <a:xfrm>
            <a:off x="777240" y="4498848"/>
            <a:ext cx="6035040" cy="566928"/>
          </a:xfrm>
          <a:prstGeom prst="roundRect">
            <a:avLst>
              <a:gd name="adj" fmla="val 12903"/>
            </a:avLst>
          </a:prstGeom>
          <a:solidFill>
            <a:srgbClr val="2C4E82"/>
          </a:solidFill>
          <a:ln w="12700">
            <a:solidFill>
              <a:srgbClr val="2C4E82"/>
            </a:solidFill>
            <a:prstDash val="solid"/>
          </a:ln>
        </p:spPr>
      </p:sp>
      <p:sp>
        <p:nvSpPr>
          <p:cNvPr id="9" name="Text 7"/>
          <p:cNvSpPr txBox="1"/>
          <p:nvPr/>
        </p:nvSpPr>
        <p:spPr>
          <a:xfrm>
            <a:off x="777240" y="4498848"/>
            <a:ext cx="603504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1개월차   |   AI 에이전트 활용방안 및 DOE 결과</a:t>
            </a:r>
            <a:endParaRPr lang="en-US" sz="1300" dirty="0"/>
          </a:p>
        </p:txBody>
      </p:sp>
      <p:sp>
        <p:nvSpPr>
          <p:cNvPr id="10" name="Text 8"/>
          <p:cNvSpPr txBox="1"/>
          <p:nvPr/>
        </p:nvSpPr>
        <p:spPr>
          <a:xfrm>
            <a:off x="777240" y="5394960"/>
            <a:ext cx="7315200" cy="292608"/>
          </a:xfrm>
          <a:prstGeom prst="rect">
            <a:avLst/>
          </a:prstGeom>
          <a:noFill/>
          <a:ln/>
        </p:spPr>
        <p:txBody>
          <a:bodyPr wrap="square" lIns="0" tIns="0" rIns="0" bIns="0" rtlCol="0" anchor="ctr"/>
          <a:lstStyle/>
          <a:p>
            <a:pPr indent="0" marL="0">
              <a:buNone/>
            </a:pPr>
            <a:r>
              <a:rPr lang="en-US" sz="1200" dirty="0">
                <a:solidFill>
                  <a:srgbClr val="CFE0F2"/>
                </a:solidFill>
                <a:latin typeface="Malgun Gothic" pitchFamily="34" charset="0"/>
                <a:ea typeface="Malgun Gothic" pitchFamily="34" charset="-122"/>
                <a:cs typeface="Malgun Gothic" pitchFamily="34" charset="-120"/>
              </a:rPr>
              <a:t>소속 / 성명 / 발표일자</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sp>
        <p:nvSpPr>
          <p:cNvPr id="2" name="Text 0"/>
          <p:cNvSpPr txBox="1"/>
          <p:nvPr/>
        </p:nvSpPr>
        <p:spPr>
          <a:xfrm>
            <a:off x="502920" y="502920"/>
            <a:ext cx="5486400" cy="457200"/>
          </a:xfrm>
          <a:prstGeom prst="rect">
            <a:avLst/>
          </a:prstGeom>
          <a:noFill/>
          <a:ln/>
        </p:spPr>
        <p:txBody>
          <a:bodyPr wrap="square" lIns="0" tIns="0" rIns="0" bIns="0" rtlCol="0" anchor="ctr"/>
          <a:lstStyle/>
          <a:p>
            <a:pPr indent="0" marL="0">
              <a:buNone/>
            </a:pPr>
            <a:r>
              <a:rPr lang="en-US" sz="2600" b="1" spc="300" kern="0" dirty="0">
                <a:solidFill>
                  <a:srgbClr val="16305B"/>
                </a:solidFill>
                <a:latin typeface="Malgun Gothic" pitchFamily="34" charset="0"/>
                <a:ea typeface="Malgun Gothic" pitchFamily="34" charset="-122"/>
                <a:cs typeface="Malgun Gothic" pitchFamily="34" charset="-120"/>
              </a:rPr>
              <a:t>목   차</a:t>
            </a:r>
            <a:endParaRPr lang="en-US" sz="2600" dirty="0"/>
          </a:p>
        </p:txBody>
      </p:sp>
      <p:sp>
        <p:nvSpPr>
          <p:cNvPr id="3" name="Shape 1"/>
          <p:cNvSpPr/>
          <p:nvPr/>
        </p:nvSpPr>
        <p:spPr>
          <a:xfrm>
            <a:off x="502920" y="1481328"/>
            <a:ext cx="11183112" cy="1481328"/>
          </a:xfrm>
          <a:prstGeom prst="roundRect">
            <a:avLst>
              <a:gd name="adj" fmla="val 3704"/>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4" name="Text 2"/>
          <p:cNvSpPr txBox="1"/>
          <p:nvPr/>
        </p:nvSpPr>
        <p:spPr>
          <a:xfrm>
            <a:off x="822960" y="1792224"/>
            <a:ext cx="1188720" cy="868680"/>
          </a:xfrm>
          <a:prstGeom prst="rect">
            <a:avLst/>
          </a:prstGeom>
          <a:noFill/>
          <a:ln/>
        </p:spPr>
        <p:txBody>
          <a:bodyPr wrap="square" lIns="0" tIns="0" rIns="0" bIns="0" rtlCol="0" anchor="ctr"/>
          <a:lstStyle/>
          <a:p>
            <a:pPr algn="ctr" indent="0" marL="0">
              <a:buNone/>
            </a:pPr>
            <a:r>
              <a:rPr lang="en-US" sz="4400" b="1" dirty="0">
                <a:solidFill>
                  <a:srgbClr val="CFE0F2"/>
                </a:solidFill>
                <a:latin typeface="Malgun Gothic" pitchFamily="34" charset="0"/>
                <a:ea typeface="Malgun Gothic" pitchFamily="34" charset="-122"/>
                <a:cs typeface="Malgun Gothic" pitchFamily="34" charset="-120"/>
              </a:rPr>
              <a:t>01</a:t>
            </a:r>
            <a:endParaRPr lang="en-US" sz="4400" dirty="0"/>
          </a:p>
        </p:txBody>
      </p:sp>
      <p:sp>
        <p:nvSpPr>
          <p:cNvPr id="5" name="Text 3"/>
          <p:cNvSpPr txBox="1"/>
          <p:nvPr/>
        </p:nvSpPr>
        <p:spPr>
          <a:xfrm>
            <a:off x="2194560" y="1737360"/>
            <a:ext cx="4114800" cy="960120"/>
          </a:xfrm>
          <a:prstGeom prst="rect">
            <a:avLst/>
          </a:prstGeom>
          <a:noFill/>
          <a:ln/>
        </p:spPr>
        <p:txBody>
          <a:bodyPr wrap="square" lIns="0" tIns="0" rIns="0" bIns="0" rtlCol="0" anchor="ctr"/>
          <a:lstStyle/>
          <a:p>
            <a:pPr indent="0" marL="0">
              <a:lnSpc>
                <a:spcPct val="120000"/>
              </a:lnSpc>
              <a:buNone/>
            </a:pPr>
            <a:r>
              <a:rPr lang="en-US" sz="1550" b="1" dirty="0">
                <a:solidFill>
                  <a:srgbClr val="16305B"/>
                </a:solidFill>
                <a:latin typeface="Malgun Gothic" pitchFamily="34" charset="0"/>
                <a:ea typeface="Malgun Gothic" pitchFamily="34" charset="-122"/>
                <a:cs typeface="Malgun Gothic" pitchFamily="34" charset="-120"/>
              </a:rPr>
              <a:t>AI 에이전트 기반 개발환경 구축</a:t>
            </a:r>
            <a:endParaRPr lang="en-US" sz="1550" dirty="0"/>
          </a:p>
        </p:txBody>
      </p:sp>
      <p:sp>
        <p:nvSpPr>
          <p:cNvPr id="6" name="Shape 4"/>
          <p:cNvSpPr/>
          <p:nvPr/>
        </p:nvSpPr>
        <p:spPr>
          <a:xfrm>
            <a:off x="6492240" y="1792224"/>
            <a:ext cx="18288" cy="859536"/>
          </a:xfrm>
          <a:prstGeom prst="rect">
            <a:avLst/>
          </a:prstGeom>
          <a:solidFill>
            <a:srgbClr val="DDE3EB"/>
          </a:solidFill>
          <a:ln w="12700">
            <a:solidFill>
              <a:srgbClr val="DDE3EB"/>
            </a:solidFill>
            <a:prstDash val="solid"/>
          </a:ln>
        </p:spPr>
      </p:sp>
      <p:sp>
        <p:nvSpPr>
          <p:cNvPr id="7" name="Text 5"/>
          <p:cNvSpPr txBox="1"/>
          <p:nvPr/>
        </p:nvSpPr>
        <p:spPr>
          <a:xfrm>
            <a:off x="6858000" y="1755648"/>
            <a:ext cx="4572000" cy="932688"/>
          </a:xfrm>
          <a:prstGeom prst="rect">
            <a:avLst/>
          </a:prstGeom>
          <a:noFill/>
          <a:ln/>
        </p:spPr>
        <p:txBody>
          <a:bodyPr wrap="square" lIns="0" tIns="0" rIns="0" bIns="0" rtlCol="0" anchor="ctr"/>
          <a:lstStyle/>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1.  망분리 환경에서의 AI 에이전트 활용 체계</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2.  저장소 기반 개발환경 구성</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3.  내부망 실행 구조</a:t>
            </a:r>
            <a:endParaRPr lang="en-US" sz="1100" dirty="0"/>
          </a:p>
        </p:txBody>
      </p:sp>
      <p:sp>
        <p:nvSpPr>
          <p:cNvPr id="8" name="Shape 6"/>
          <p:cNvSpPr/>
          <p:nvPr/>
        </p:nvSpPr>
        <p:spPr>
          <a:xfrm>
            <a:off x="502920" y="3163824"/>
            <a:ext cx="11183112" cy="1481328"/>
          </a:xfrm>
          <a:prstGeom prst="roundRect">
            <a:avLst>
              <a:gd name="adj" fmla="val 3704"/>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9" name="Text 7"/>
          <p:cNvSpPr txBox="1"/>
          <p:nvPr/>
        </p:nvSpPr>
        <p:spPr>
          <a:xfrm>
            <a:off x="822960" y="3474720"/>
            <a:ext cx="1188720" cy="868680"/>
          </a:xfrm>
          <a:prstGeom prst="rect">
            <a:avLst/>
          </a:prstGeom>
          <a:noFill/>
          <a:ln/>
        </p:spPr>
        <p:txBody>
          <a:bodyPr wrap="square" lIns="0" tIns="0" rIns="0" bIns="0" rtlCol="0" anchor="ctr"/>
          <a:lstStyle/>
          <a:p>
            <a:pPr algn="ctr" indent="0" marL="0">
              <a:buNone/>
            </a:pPr>
            <a:r>
              <a:rPr lang="en-US" sz="4400" b="1" dirty="0">
                <a:solidFill>
                  <a:srgbClr val="CFE0F2"/>
                </a:solidFill>
                <a:latin typeface="Malgun Gothic" pitchFamily="34" charset="0"/>
                <a:ea typeface="Malgun Gothic" pitchFamily="34" charset="-122"/>
                <a:cs typeface="Malgun Gothic" pitchFamily="34" charset="-120"/>
              </a:rPr>
              <a:t>02</a:t>
            </a:r>
            <a:endParaRPr lang="en-US" sz="4400" dirty="0"/>
          </a:p>
        </p:txBody>
      </p:sp>
      <p:sp>
        <p:nvSpPr>
          <p:cNvPr id="10" name="Text 8"/>
          <p:cNvSpPr txBox="1"/>
          <p:nvPr/>
        </p:nvSpPr>
        <p:spPr>
          <a:xfrm>
            <a:off x="2194560" y="3419856"/>
            <a:ext cx="4114800" cy="960120"/>
          </a:xfrm>
          <a:prstGeom prst="rect">
            <a:avLst/>
          </a:prstGeom>
          <a:noFill/>
          <a:ln/>
        </p:spPr>
        <p:txBody>
          <a:bodyPr wrap="square" lIns="0" tIns="0" rIns="0" bIns="0" rtlCol="0" anchor="ctr"/>
          <a:lstStyle/>
          <a:p>
            <a:pPr indent="0" marL="0">
              <a:lnSpc>
                <a:spcPct val="120000"/>
              </a:lnSpc>
              <a:buNone/>
            </a:pPr>
            <a:r>
              <a:rPr lang="en-US" sz="1550" b="1" dirty="0">
                <a:solidFill>
                  <a:srgbClr val="16305B"/>
                </a:solidFill>
                <a:latin typeface="Malgun Gothic" pitchFamily="34" charset="0"/>
                <a:ea typeface="Malgun Gothic" pitchFamily="34" charset="-122"/>
                <a:cs typeface="Malgun Gothic" pitchFamily="34" charset="-120"/>
              </a:rPr>
              <a:t>설계변수 정의 및 설계공간 설정</a:t>
            </a:r>
            <a:endParaRPr lang="en-US" sz="1550" dirty="0"/>
          </a:p>
        </p:txBody>
      </p:sp>
      <p:sp>
        <p:nvSpPr>
          <p:cNvPr id="11" name="Shape 9"/>
          <p:cNvSpPr/>
          <p:nvPr/>
        </p:nvSpPr>
        <p:spPr>
          <a:xfrm>
            <a:off x="6492240" y="3474720"/>
            <a:ext cx="18288" cy="859536"/>
          </a:xfrm>
          <a:prstGeom prst="rect">
            <a:avLst/>
          </a:prstGeom>
          <a:solidFill>
            <a:srgbClr val="DDE3EB"/>
          </a:solidFill>
          <a:ln w="12700">
            <a:solidFill>
              <a:srgbClr val="DDE3EB"/>
            </a:solidFill>
            <a:prstDash val="solid"/>
          </a:ln>
        </p:spPr>
      </p:sp>
      <p:sp>
        <p:nvSpPr>
          <p:cNvPr id="12" name="Text 10"/>
          <p:cNvSpPr txBox="1"/>
          <p:nvPr/>
        </p:nvSpPr>
        <p:spPr>
          <a:xfrm>
            <a:off x="6858000" y="3438144"/>
            <a:ext cx="4572000" cy="932688"/>
          </a:xfrm>
          <a:prstGeom prst="rect">
            <a:avLst/>
          </a:prstGeom>
          <a:noFill/>
          <a:ln/>
        </p:spPr>
        <p:txBody>
          <a:bodyPr wrap="square" lIns="0" tIns="0" rIns="0" bIns="0" rtlCol="0" anchor="ctr"/>
          <a:lstStyle/>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1.  형상 및 유동 경로</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2.  설계변수 9종 / 고정 2종</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3.  방열핀 배치 및 가공 제약</a:t>
            </a:r>
            <a:endParaRPr lang="en-US" sz="1100" dirty="0"/>
          </a:p>
        </p:txBody>
      </p:sp>
      <p:sp>
        <p:nvSpPr>
          <p:cNvPr id="13" name="Shape 11"/>
          <p:cNvSpPr/>
          <p:nvPr/>
        </p:nvSpPr>
        <p:spPr>
          <a:xfrm>
            <a:off x="502920" y="4846320"/>
            <a:ext cx="11183112" cy="1481328"/>
          </a:xfrm>
          <a:prstGeom prst="roundRect">
            <a:avLst>
              <a:gd name="adj" fmla="val 3704"/>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4" name="Text 12"/>
          <p:cNvSpPr txBox="1"/>
          <p:nvPr/>
        </p:nvSpPr>
        <p:spPr>
          <a:xfrm>
            <a:off x="822960" y="5157216"/>
            <a:ext cx="1188720" cy="868680"/>
          </a:xfrm>
          <a:prstGeom prst="rect">
            <a:avLst/>
          </a:prstGeom>
          <a:noFill/>
          <a:ln/>
        </p:spPr>
        <p:txBody>
          <a:bodyPr wrap="square" lIns="0" tIns="0" rIns="0" bIns="0" rtlCol="0" anchor="ctr"/>
          <a:lstStyle/>
          <a:p>
            <a:pPr algn="ctr" indent="0" marL="0">
              <a:buNone/>
            </a:pPr>
            <a:r>
              <a:rPr lang="en-US" sz="4400" b="1" dirty="0">
                <a:solidFill>
                  <a:srgbClr val="CFE0F2"/>
                </a:solidFill>
                <a:latin typeface="Malgun Gothic" pitchFamily="34" charset="0"/>
                <a:ea typeface="Malgun Gothic" pitchFamily="34" charset="-122"/>
                <a:cs typeface="Malgun Gothic" pitchFamily="34" charset="-120"/>
              </a:rPr>
              <a:t>03</a:t>
            </a:r>
            <a:endParaRPr lang="en-US" sz="4400" dirty="0"/>
          </a:p>
        </p:txBody>
      </p:sp>
      <p:sp>
        <p:nvSpPr>
          <p:cNvPr id="15" name="Text 13"/>
          <p:cNvSpPr txBox="1"/>
          <p:nvPr/>
        </p:nvSpPr>
        <p:spPr>
          <a:xfrm>
            <a:off x="2194560" y="5102352"/>
            <a:ext cx="4114800" cy="960120"/>
          </a:xfrm>
          <a:prstGeom prst="rect">
            <a:avLst/>
          </a:prstGeom>
          <a:noFill/>
          <a:ln/>
        </p:spPr>
        <p:txBody>
          <a:bodyPr wrap="square" lIns="0" tIns="0" rIns="0" bIns="0" rtlCol="0" anchor="ctr"/>
          <a:lstStyle/>
          <a:p>
            <a:pPr indent="0" marL="0">
              <a:lnSpc>
                <a:spcPct val="120000"/>
              </a:lnSpc>
              <a:buNone/>
            </a:pPr>
            <a:r>
              <a:rPr lang="en-US" sz="1550" b="1" dirty="0">
                <a:solidFill>
                  <a:srgbClr val="16305B"/>
                </a:solidFill>
                <a:latin typeface="Malgun Gothic" pitchFamily="34" charset="0"/>
                <a:ea typeface="Malgun Gothic" pitchFamily="34" charset="-122"/>
                <a:cs typeface="Malgun Gothic" pitchFamily="34" charset="-120"/>
              </a:rPr>
              <a:t>실험계획법 기반 자동해석 수행 및 데이터 확보</a:t>
            </a:r>
            <a:endParaRPr lang="en-US" sz="1550" dirty="0"/>
          </a:p>
        </p:txBody>
      </p:sp>
      <p:sp>
        <p:nvSpPr>
          <p:cNvPr id="16" name="Shape 14"/>
          <p:cNvSpPr/>
          <p:nvPr/>
        </p:nvSpPr>
        <p:spPr>
          <a:xfrm>
            <a:off x="6492240" y="5157216"/>
            <a:ext cx="18288" cy="859536"/>
          </a:xfrm>
          <a:prstGeom prst="rect">
            <a:avLst/>
          </a:prstGeom>
          <a:solidFill>
            <a:srgbClr val="DDE3EB"/>
          </a:solidFill>
          <a:ln w="12700">
            <a:solidFill>
              <a:srgbClr val="DDE3EB"/>
            </a:solidFill>
            <a:prstDash val="solid"/>
          </a:ln>
        </p:spPr>
      </p:sp>
      <p:sp>
        <p:nvSpPr>
          <p:cNvPr id="17" name="Text 15"/>
          <p:cNvSpPr txBox="1"/>
          <p:nvPr/>
        </p:nvSpPr>
        <p:spPr>
          <a:xfrm>
            <a:off x="6858000" y="5120640"/>
            <a:ext cx="4572000" cy="932688"/>
          </a:xfrm>
          <a:prstGeom prst="rect">
            <a:avLst/>
          </a:prstGeom>
          <a:noFill/>
          <a:ln/>
        </p:spPr>
        <p:txBody>
          <a:bodyPr wrap="square" lIns="0" tIns="0" rIns="0" bIns="0" rtlCol="0" anchor="ctr"/>
          <a:lstStyle/>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1.  자동해석 코드 구성</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2.  형상 자동 빌드 및 중량 산출 (SolidWorks)</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3.  해석 모델 자동 구성 및 결과 추출 (Icepak)</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4.  DOE 기법 및 무인 자동 해석 루프</a:t>
            </a:r>
            <a:endParaRPr lang="en-US" sz="1100" dirty="0"/>
          </a:p>
          <a:p>
            <a:pPr indent="0" marL="0">
              <a:lnSpc>
                <a:spcPct val="145000"/>
              </a:lnSpc>
              <a:buNone/>
            </a:pPr>
            <a:r>
              <a:rPr lang="en-US" sz="1100" dirty="0">
                <a:solidFill>
                  <a:srgbClr val="1C2733"/>
                </a:solidFill>
                <a:latin typeface="Malgun Gothic" pitchFamily="34" charset="0"/>
                <a:ea typeface="Malgun Gothic" pitchFamily="34" charset="-122"/>
                <a:cs typeface="Malgun Gothic" pitchFamily="34" charset="-120"/>
              </a:rPr>
              <a:t>5.  DOE 데이터 확보 현황</a:t>
            </a:r>
            <a:endParaRPr lang="en-US" sz="1100" dirty="0"/>
          </a:p>
        </p:txBody>
      </p:sp>
      <p:sp>
        <p:nvSpPr>
          <p:cNvPr id="18" name="Text 16"/>
          <p:cNvSpPr txBox="1"/>
          <p:nvPr/>
        </p:nvSpPr>
        <p:spPr>
          <a:xfrm>
            <a:off x="502920" y="6400800"/>
            <a:ext cx="11183112" cy="237744"/>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부록   A-1  Icepak 해석 모델 GUI 설정 절차</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망분리 환경에서의 AI 에이전트 활용 체계</a:t>
            </a:r>
            <a:endParaRPr lang="en-US" sz="2200" dirty="0"/>
          </a:p>
        </p:txBody>
      </p:sp>
      <p:sp>
        <p:nvSpPr>
          <p:cNvPr id="6" name="Shape 4"/>
          <p:cNvSpPr/>
          <p:nvPr/>
        </p:nvSpPr>
        <p:spPr>
          <a:xfrm>
            <a:off x="502920"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제약 조건</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3816" y="1920240"/>
          <a:ext cx="4846320" cy="914400"/>
        </p:xfrm>
        <a:graphic>
          <a:graphicData uri="http://schemas.openxmlformats.org/drawingml/2006/table">
            <a:tbl>
              <a:tblPr/>
              <a:tblGrid>
                <a:gridCol w="1051560"/>
                <a:gridCol w="3794760"/>
              </a:tblGrid>
              <a:tr h="310896">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현황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내부망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보안 정책상 외부 AI 직접 접속 불가</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반출 제한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CAD·해석 모델 및 원본 결과는 반출 불가</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필요 사항</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내부 자산을 내보내지 않고 개발하는 방법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0" name="Shape 7"/>
          <p:cNvSpPr/>
          <p:nvPr/>
        </p:nvSpPr>
        <p:spPr>
          <a:xfrm>
            <a:off x="813816" y="3218688"/>
            <a:ext cx="4846320" cy="384048"/>
          </a:xfrm>
          <a:prstGeom prst="roundRect">
            <a:avLst>
              <a:gd name="adj" fmla="val 14286"/>
            </a:avLst>
          </a:prstGeom>
          <a:solidFill>
            <a:srgbClr val="EEF2F7"/>
          </a:solidFill>
          <a:ln w="12700">
            <a:solidFill>
              <a:srgbClr val="EEF2F7"/>
            </a:solidFill>
            <a:prstDash val="solid"/>
          </a:ln>
        </p:spPr>
      </p:sp>
      <p:sp>
        <p:nvSpPr>
          <p:cNvPr id="11" name="Text 8"/>
          <p:cNvSpPr txBox="1"/>
          <p:nvPr/>
        </p:nvSpPr>
        <p:spPr>
          <a:xfrm>
            <a:off x="941832" y="3218688"/>
            <a:ext cx="4617720" cy="384048"/>
          </a:xfrm>
          <a:prstGeom prst="rect">
            <a:avLst/>
          </a:prstGeom>
          <a:noFill/>
          <a:ln/>
        </p:spPr>
        <p:txBody>
          <a:bodyPr wrap="square" lIns="0" tIns="0" rIns="0" bIns="0" rtlCol="0" anchor="ct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  외부에서 만드는 것은 '코드'이고, 형상과 해석은 내부망에서만 수행</a:t>
            </a:r>
            <a:endParaRPr lang="en-US" sz="950" dirty="0"/>
          </a:p>
        </p:txBody>
      </p:sp>
      <p:sp>
        <p:nvSpPr>
          <p:cNvPr id="12" name="Shape 9"/>
          <p:cNvSpPr/>
          <p:nvPr/>
        </p:nvSpPr>
        <p:spPr>
          <a:xfrm>
            <a:off x="6336792"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Shape 10"/>
          <p:cNvSpPr/>
          <p:nvPr/>
        </p:nvSpPr>
        <p:spPr>
          <a:xfrm>
            <a:off x="6592824" y="1463040"/>
            <a:ext cx="82296" cy="182880"/>
          </a:xfrm>
          <a:prstGeom prst="rect">
            <a:avLst/>
          </a:prstGeom>
          <a:solidFill>
            <a:srgbClr val="00A3C4"/>
          </a:solidFill>
          <a:ln w="12700">
            <a:solidFill>
              <a:srgbClr val="00A3C4"/>
            </a:solidFill>
            <a:prstDash val="solid"/>
          </a:ln>
        </p:spPr>
      </p:sp>
      <p:sp>
        <p:nvSpPr>
          <p:cNvPr id="14" name="Text 11"/>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활용 구조</a:t>
            </a:r>
            <a:endParaRPr lang="en-US" sz="1300" dirty="0"/>
          </a:p>
        </p:txBody>
      </p:sp>
      <p:sp>
        <p:nvSpPr>
          <p:cNvPr id="15" name="Text 12"/>
          <p:cNvSpPr txBox="1"/>
          <p:nvPr/>
        </p:nvSpPr>
        <p:spPr>
          <a:xfrm>
            <a:off x="6647688" y="1847088"/>
            <a:ext cx="1828800" cy="201168"/>
          </a:xfrm>
          <a:prstGeom prst="rect">
            <a:avLst/>
          </a:prstGeom>
          <a:noFill/>
          <a:ln/>
        </p:spPr>
        <p:txBody>
          <a:bodyPr wrap="square" lIns="0" tIns="0" rIns="0" bIns="0" rtlCol="0" anchor="ctr"/>
          <a:lstStyle/>
          <a:p>
            <a:pPr algn="l" indent="0" marL="0">
              <a:buNone/>
            </a:pPr>
            <a:r>
              <a:rPr lang="en-US" sz="900" b="1" spc="100" kern="0" dirty="0">
                <a:solidFill>
                  <a:srgbClr val="6B7A8F"/>
                </a:solidFill>
                <a:latin typeface="Malgun Gothic" pitchFamily="34" charset="0"/>
                <a:ea typeface="Malgun Gothic" pitchFamily="34" charset="-122"/>
                <a:cs typeface="Malgun Gothic" pitchFamily="34" charset="-120"/>
              </a:rPr>
              <a:t>외부 (개발)</a:t>
            </a:r>
            <a:endParaRPr lang="en-US" sz="900" dirty="0"/>
          </a:p>
        </p:txBody>
      </p:sp>
      <p:sp>
        <p:nvSpPr>
          <p:cNvPr id="16" name="Text 13"/>
          <p:cNvSpPr txBox="1"/>
          <p:nvPr/>
        </p:nvSpPr>
        <p:spPr>
          <a:xfrm>
            <a:off x="9665208" y="1847088"/>
            <a:ext cx="1828800" cy="201168"/>
          </a:xfrm>
          <a:prstGeom prst="rect">
            <a:avLst/>
          </a:prstGeom>
          <a:noFill/>
          <a:ln/>
        </p:spPr>
        <p:txBody>
          <a:bodyPr wrap="square" lIns="0" tIns="0" rIns="0" bIns="0" rtlCol="0" anchor="ctr"/>
          <a:lstStyle/>
          <a:p>
            <a:pPr algn="r" indent="0" marL="0">
              <a:buNone/>
            </a:pPr>
            <a:r>
              <a:rPr lang="en-US" sz="900" b="1" spc="100" kern="0" dirty="0">
                <a:solidFill>
                  <a:srgbClr val="6B7A8F"/>
                </a:solidFill>
                <a:latin typeface="Malgun Gothic" pitchFamily="34" charset="0"/>
                <a:ea typeface="Malgun Gothic" pitchFamily="34" charset="-122"/>
                <a:cs typeface="Malgun Gothic" pitchFamily="34" charset="-120"/>
              </a:rPr>
              <a:t>내부망</a:t>
            </a:r>
            <a:endParaRPr lang="en-US" sz="900" dirty="0"/>
          </a:p>
        </p:txBody>
      </p:sp>
      <p:sp>
        <p:nvSpPr>
          <p:cNvPr id="17" name="Shape 14"/>
          <p:cNvSpPr/>
          <p:nvPr/>
        </p:nvSpPr>
        <p:spPr>
          <a:xfrm>
            <a:off x="9665208" y="1810512"/>
            <a:ext cx="0" cy="1444752"/>
          </a:xfrm>
          <a:prstGeom prst="line">
            <a:avLst/>
          </a:prstGeom>
          <a:noFill/>
          <a:ln w="15875">
            <a:solidFill>
              <a:srgbClr val="B9C4D2"/>
            </a:solidFill>
            <a:prstDash val="dash"/>
          </a:ln>
        </p:spPr>
      </p:sp>
      <p:sp>
        <p:nvSpPr>
          <p:cNvPr id="18" name="Shape 15"/>
          <p:cNvSpPr/>
          <p:nvPr/>
        </p:nvSpPr>
        <p:spPr>
          <a:xfrm>
            <a:off x="6647688" y="2121408"/>
            <a:ext cx="1371600" cy="457200"/>
          </a:xfrm>
          <a:prstGeom prst="roundRect">
            <a:avLst>
              <a:gd name="adj" fmla="val 14000"/>
            </a:avLst>
          </a:prstGeom>
          <a:solidFill>
            <a:srgbClr val="00A3C4"/>
          </a:solidFill>
          <a:ln w="15875">
            <a:solidFill>
              <a:srgbClr val="00A3C4"/>
            </a:solidFill>
            <a:prstDash val="solid"/>
          </a:ln>
        </p:spPr>
      </p:sp>
      <p:sp>
        <p:nvSpPr>
          <p:cNvPr id="19" name="Text 16"/>
          <p:cNvSpPr txBox="1"/>
          <p:nvPr/>
        </p:nvSpPr>
        <p:spPr>
          <a:xfrm>
            <a:off x="6647688" y="2121408"/>
            <a:ext cx="1371600" cy="45720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algun Gothic" pitchFamily="34" charset="0"/>
                <a:ea typeface="Malgun Gothic" pitchFamily="34" charset="-122"/>
                <a:cs typeface="Malgun Gothic" pitchFamily="34" charset="-120"/>
              </a:rPr>
              <a:t>AI 에이전트</a:t>
            </a:r>
            <a:endParaRPr lang="en-US" sz="1000" dirty="0"/>
          </a:p>
        </p:txBody>
      </p:sp>
      <p:sp>
        <p:nvSpPr>
          <p:cNvPr id="20" name="Shape 17"/>
          <p:cNvSpPr/>
          <p:nvPr/>
        </p:nvSpPr>
        <p:spPr>
          <a:xfrm>
            <a:off x="8202168" y="2121408"/>
            <a:ext cx="1371600" cy="457200"/>
          </a:xfrm>
          <a:prstGeom prst="roundRect">
            <a:avLst>
              <a:gd name="adj" fmla="val 14000"/>
            </a:avLst>
          </a:prstGeom>
          <a:solidFill>
            <a:srgbClr val="FFFFFF"/>
          </a:solidFill>
          <a:ln w="15875">
            <a:solidFill>
              <a:srgbClr val="16305B"/>
            </a:solidFill>
            <a:prstDash val="solid"/>
          </a:ln>
        </p:spPr>
      </p:sp>
      <p:sp>
        <p:nvSpPr>
          <p:cNvPr id="21" name="Text 18"/>
          <p:cNvSpPr txBox="1"/>
          <p:nvPr/>
        </p:nvSpPr>
        <p:spPr>
          <a:xfrm>
            <a:off x="8202168" y="2121408"/>
            <a:ext cx="1371600" cy="457200"/>
          </a:xfrm>
          <a:prstGeom prst="rect">
            <a:avLst/>
          </a:prstGeom>
          <a:noFill/>
          <a:ln/>
        </p:spPr>
        <p:txBody>
          <a:bodyPr wrap="square" lIns="0" tIns="0" rIns="0" bIns="0" rtlCol="0" anchor="ctr"/>
          <a:lstStyle/>
          <a:p>
            <a:pPr algn="ctr" indent="0" marL="0">
              <a:lnSpc>
                <a:spcPct val="95000"/>
              </a:lnSpc>
              <a:buNone/>
            </a:pPr>
            <a:r>
              <a:rPr lang="en-US" sz="900" b="1" dirty="0">
                <a:solidFill>
                  <a:srgbClr val="16305B"/>
                </a:solidFill>
                <a:latin typeface="Malgun Gothic" pitchFamily="34" charset="0"/>
                <a:ea typeface="Malgun Gothic" pitchFamily="34" charset="-122"/>
                <a:cs typeface="Malgun Gothic" pitchFamily="34" charset="-120"/>
              </a:rPr>
              <a:t>저장소</a:t>
            </a:r>
            <a:endParaRPr lang="en-US" sz="900" dirty="0"/>
          </a:p>
          <a:p>
            <a:pPr algn="ctr" indent="0" marL="0">
              <a:lnSpc>
                <a:spcPct val="95000"/>
              </a:lnSpc>
              <a:buNone/>
            </a:pPr>
            <a:r>
              <a:rPr lang="en-US" sz="900" b="1" dirty="0">
                <a:solidFill>
                  <a:srgbClr val="16305B"/>
                </a:solidFill>
                <a:latin typeface="Malgun Gothic" pitchFamily="34" charset="0"/>
                <a:ea typeface="Malgun Gothic" pitchFamily="34" charset="-122"/>
                <a:cs typeface="Malgun Gothic" pitchFamily="34" charset="-120"/>
              </a:rPr>
              <a:t>(코드 · 문서)</a:t>
            </a:r>
            <a:endParaRPr lang="en-US" sz="900" dirty="0"/>
          </a:p>
        </p:txBody>
      </p:sp>
      <p:sp>
        <p:nvSpPr>
          <p:cNvPr id="22" name="Shape 19"/>
          <p:cNvSpPr/>
          <p:nvPr/>
        </p:nvSpPr>
        <p:spPr>
          <a:xfrm>
            <a:off x="9756648" y="2121408"/>
            <a:ext cx="1371600" cy="457200"/>
          </a:xfrm>
          <a:prstGeom prst="roundRect">
            <a:avLst>
              <a:gd name="adj" fmla="val 14000"/>
            </a:avLst>
          </a:prstGeom>
          <a:solidFill>
            <a:srgbClr val="16305B"/>
          </a:solidFill>
          <a:ln w="15875">
            <a:solidFill>
              <a:srgbClr val="16305B"/>
            </a:solidFill>
            <a:prstDash val="solid"/>
          </a:ln>
        </p:spPr>
      </p:sp>
      <p:sp>
        <p:nvSpPr>
          <p:cNvPr id="23" name="Text 20"/>
          <p:cNvSpPr txBox="1"/>
          <p:nvPr/>
        </p:nvSpPr>
        <p:spPr>
          <a:xfrm>
            <a:off x="9756648" y="2121408"/>
            <a:ext cx="1371600" cy="457200"/>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Malgun Gothic" pitchFamily="34" charset="0"/>
                <a:ea typeface="Malgun Gothic" pitchFamily="34" charset="-122"/>
                <a:cs typeface="Malgun Gothic" pitchFamily="34" charset="-120"/>
              </a:rPr>
              <a:t>CAD · 해석 실행</a:t>
            </a:r>
            <a:endParaRPr lang="en-US" sz="1000" dirty="0"/>
          </a:p>
        </p:txBody>
      </p:sp>
      <p:sp>
        <p:nvSpPr>
          <p:cNvPr id="24" name="Shape 21"/>
          <p:cNvSpPr/>
          <p:nvPr/>
        </p:nvSpPr>
        <p:spPr>
          <a:xfrm>
            <a:off x="8019288" y="2350008"/>
            <a:ext cx="182880" cy="0"/>
          </a:xfrm>
          <a:prstGeom prst="line">
            <a:avLst/>
          </a:prstGeom>
          <a:noFill/>
          <a:ln w="15875">
            <a:solidFill>
              <a:srgbClr val="16305B"/>
            </a:solidFill>
            <a:prstDash val="solid"/>
            <a:tailEnd type="triangle"/>
          </a:ln>
        </p:spPr>
      </p:sp>
      <p:sp>
        <p:nvSpPr>
          <p:cNvPr id="25" name="Shape 22"/>
          <p:cNvSpPr/>
          <p:nvPr/>
        </p:nvSpPr>
        <p:spPr>
          <a:xfrm>
            <a:off x="9573768" y="2350008"/>
            <a:ext cx="182880" cy="0"/>
          </a:xfrm>
          <a:prstGeom prst="line">
            <a:avLst/>
          </a:prstGeom>
          <a:noFill/>
          <a:ln w="15875">
            <a:solidFill>
              <a:srgbClr val="16305B"/>
            </a:solidFill>
            <a:prstDash val="solid"/>
            <a:tailEnd type="triangle"/>
          </a:ln>
        </p:spPr>
      </p:sp>
      <p:sp>
        <p:nvSpPr>
          <p:cNvPr id="26" name="Text 23"/>
          <p:cNvSpPr txBox="1"/>
          <p:nvPr/>
        </p:nvSpPr>
        <p:spPr>
          <a:xfrm>
            <a:off x="8942832" y="2606040"/>
            <a:ext cx="1325880" cy="201168"/>
          </a:xfrm>
          <a:prstGeom prst="rect">
            <a:avLst/>
          </a:prstGeom>
          <a:noFill/>
          <a:ln/>
        </p:spPr>
        <p:txBody>
          <a:bodyPr wrap="square" lIns="0" tIns="0" rIns="0" bIns="0" rtlCol="0" anchor="ctr"/>
          <a:lstStyle/>
          <a:p>
            <a:pPr algn="ctr" indent="0" marL="0">
              <a:buNone/>
            </a:pPr>
            <a:r>
              <a:rPr lang="en-US" sz="800" dirty="0">
                <a:solidFill>
                  <a:srgbClr val="16305B"/>
                </a:solidFill>
                <a:latin typeface="Malgun Gothic" pitchFamily="34" charset="0"/>
                <a:ea typeface="Malgun Gothic" pitchFamily="34" charset="-122"/>
                <a:cs typeface="Malgun Gothic" pitchFamily="34" charset="-120"/>
              </a:rPr>
              <a:t>코드 · 문서 반입</a:t>
            </a:r>
            <a:endParaRPr lang="en-US" sz="800" dirty="0"/>
          </a:p>
        </p:txBody>
      </p:sp>
      <p:sp>
        <p:nvSpPr>
          <p:cNvPr id="27" name="Shape 24"/>
          <p:cNvSpPr/>
          <p:nvPr/>
        </p:nvSpPr>
        <p:spPr>
          <a:xfrm>
            <a:off x="10442448" y="2578608"/>
            <a:ext cx="0" cy="365760"/>
          </a:xfrm>
          <a:prstGeom prst="line">
            <a:avLst/>
          </a:prstGeom>
          <a:noFill/>
          <a:ln w="13970">
            <a:solidFill>
              <a:srgbClr val="6B7A8F"/>
            </a:solidFill>
            <a:prstDash val="solid"/>
          </a:ln>
        </p:spPr>
      </p:sp>
      <p:sp>
        <p:nvSpPr>
          <p:cNvPr id="28" name="Shape 25"/>
          <p:cNvSpPr/>
          <p:nvPr/>
        </p:nvSpPr>
        <p:spPr>
          <a:xfrm>
            <a:off x="7333488" y="2944368"/>
            <a:ext cx="3108960" cy="0"/>
          </a:xfrm>
          <a:prstGeom prst="line">
            <a:avLst/>
          </a:prstGeom>
          <a:noFill/>
          <a:ln w="13970">
            <a:solidFill>
              <a:srgbClr val="6B7A8F"/>
            </a:solidFill>
            <a:prstDash val="solid"/>
            <a:headEnd type="triangle"/>
          </a:ln>
        </p:spPr>
      </p:sp>
      <p:sp>
        <p:nvSpPr>
          <p:cNvPr id="29" name="Shape 26"/>
          <p:cNvSpPr/>
          <p:nvPr/>
        </p:nvSpPr>
        <p:spPr>
          <a:xfrm>
            <a:off x="7333488" y="2578608"/>
            <a:ext cx="0" cy="365760"/>
          </a:xfrm>
          <a:prstGeom prst="line">
            <a:avLst/>
          </a:prstGeom>
          <a:noFill/>
          <a:ln w="13970">
            <a:solidFill>
              <a:srgbClr val="6B7A8F"/>
            </a:solidFill>
            <a:prstDash val="solid"/>
            <a:headEnd type="triangle"/>
          </a:ln>
        </p:spPr>
      </p:sp>
      <p:sp>
        <p:nvSpPr>
          <p:cNvPr id="30" name="Text 27"/>
          <p:cNvSpPr txBox="1"/>
          <p:nvPr/>
        </p:nvSpPr>
        <p:spPr>
          <a:xfrm>
            <a:off x="6647688" y="2980944"/>
            <a:ext cx="4846320" cy="219456"/>
          </a:xfrm>
          <a:prstGeom prst="rect">
            <a:avLst/>
          </a:prstGeom>
          <a:noFill/>
          <a:ln/>
        </p:spPr>
        <p:txBody>
          <a:bodyPr wrap="square" lIns="0" tIns="0" rIns="0" bIns="0" rtlCol="0" anchor="ctr"/>
          <a:lstStyle/>
          <a:p>
            <a:pPr algn="ctr" indent="0" marL="0">
              <a:buNone/>
            </a:pPr>
            <a:r>
              <a:rPr lang="en-US" sz="850" dirty="0">
                <a:solidFill>
                  <a:srgbClr val="6B7A8F"/>
                </a:solidFill>
                <a:latin typeface="Malgun Gothic" pitchFamily="34" charset="0"/>
                <a:ea typeface="Malgun Gothic" pitchFamily="34" charset="-122"/>
                <a:cs typeface="Malgun Gothic" pitchFamily="34" charset="-120"/>
              </a:rPr>
              <a:t>개발자가 결과를 확인하고 요구사항만 정리해 전달</a:t>
            </a:r>
            <a:endParaRPr lang="en-US" sz="850" dirty="0"/>
          </a:p>
        </p:txBody>
      </p:sp>
      <p:sp>
        <p:nvSpPr>
          <p:cNvPr id="31" name="Shape 28"/>
          <p:cNvSpPr/>
          <p:nvPr/>
        </p:nvSpPr>
        <p:spPr>
          <a:xfrm>
            <a:off x="6647688" y="3273552"/>
            <a:ext cx="4846320" cy="292608"/>
          </a:xfrm>
          <a:prstGeom prst="roundRect">
            <a:avLst>
              <a:gd name="adj" fmla="val 15625"/>
            </a:avLst>
          </a:prstGeom>
          <a:solidFill>
            <a:srgbClr val="EEF2F7"/>
          </a:solidFill>
          <a:ln w="12700">
            <a:solidFill>
              <a:srgbClr val="EEF2F7"/>
            </a:solidFill>
            <a:prstDash val="solid"/>
          </a:ln>
        </p:spPr>
      </p:sp>
      <p:sp>
        <p:nvSpPr>
          <p:cNvPr id="32" name="Text 29"/>
          <p:cNvSpPr txBox="1"/>
          <p:nvPr/>
        </p:nvSpPr>
        <p:spPr>
          <a:xfrm>
            <a:off x="6647688" y="3273552"/>
            <a:ext cx="4846320" cy="292608"/>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형상·해석 모델과 원본 결과는 경계를 넘지 않음</a:t>
            </a:r>
            <a:endParaRPr lang="en-US" sz="900" dirty="0"/>
          </a:p>
        </p:txBody>
      </p:sp>
      <p:sp>
        <p:nvSpPr>
          <p:cNvPr id="33" name="Shape 30"/>
          <p:cNvSpPr/>
          <p:nvPr/>
        </p:nvSpPr>
        <p:spPr>
          <a:xfrm>
            <a:off x="502920"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4" name="Shape 31"/>
          <p:cNvSpPr/>
          <p:nvPr/>
        </p:nvSpPr>
        <p:spPr>
          <a:xfrm>
            <a:off x="758952" y="4096512"/>
            <a:ext cx="82296" cy="182880"/>
          </a:xfrm>
          <a:prstGeom prst="rect">
            <a:avLst/>
          </a:prstGeom>
          <a:solidFill>
            <a:srgbClr val="00A3C4"/>
          </a:solidFill>
          <a:ln w="12700">
            <a:solidFill>
              <a:srgbClr val="00A3C4"/>
            </a:solidFill>
            <a:prstDash val="solid"/>
          </a:ln>
        </p:spPr>
      </p:sp>
      <p:sp>
        <p:nvSpPr>
          <p:cNvPr id="35" name="Text 32"/>
          <p:cNvSpPr txBox="1"/>
          <p:nvPr/>
        </p:nvSpPr>
        <p:spPr>
          <a:xfrm>
            <a:off x="923544"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맥락(Context) 구축 방법</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813816" y="4535424"/>
          <a:ext cx="4846320" cy="914400"/>
        </p:xfrm>
        <a:graphic>
          <a:graphicData uri="http://schemas.openxmlformats.org/drawingml/2006/table">
            <a:tbl>
              <a:tblPr/>
              <a:tblGrid>
                <a:gridCol w="1325880"/>
                <a:gridCol w="3520440"/>
              </a:tblGrid>
              <a:tr h="27432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저장소 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담는 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설계 로직 문서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설계변수 구성 · 제약조건 · 처리 절차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작업 규칙 문서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임의 수정 금지 등 협업 규칙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형상·해석 자동화 모듈</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인터페이스 규약</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결과 파일 형식, API 호출 규약</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7" name="Text 33"/>
          <p:cNvSpPr txBox="1"/>
          <p:nvPr/>
        </p:nvSpPr>
        <p:spPr>
          <a:xfrm>
            <a:off x="813816" y="5961888"/>
            <a:ext cx="4846320" cy="274320"/>
          </a:xfrm>
          <a:prstGeom prst="rect">
            <a:avLst/>
          </a:prstGeom>
          <a:noFill/>
          <a:ln/>
        </p:spPr>
        <p:txBody>
          <a:bodyPr wrap="square" lIns="0" tIns="0" rIns="0" bIns="0" rtlCol="0" anchor="ctr"/>
          <a:lstStyle/>
          <a:p>
            <a:pPr indent="0" marL="0">
              <a:lnSpc>
                <a:spcPct val="120000"/>
              </a:lnSpc>
              <a:buNone/>
            </a:pPr>
            <a:r>
              <a:rPr lang="en-US" sz="900" i="1" dirty="0">
                <a:solidFill>
                  <a:srgbClr val="6B7A8F"/>
                </a:solidFill>
                <a:latin typeface="Malgun Gothic" pitchFamily="34" charset="0"/>
                <a:ea typeface="Malgun Gothic" pitchFamily="34" charset="-122"/>
                <a:cs typeface="Malgun Gothic" pitchFamily="34" charset="-120"/>
              </a:rPr>
              <a:t>코드 작성에 필요한 범위로 한정 — 매 세션 저장소를 읽어 이전 맥락을 그대로 이어받음</a:t>
            </a:r>
            <a:endParaRPr lang="en-US" sz="900" dirty="0"/>
          </a:p>
        </p:txBody>
      </p:sp>
      <p:sp>
        <p:nvSpPr>
          <p:cNvPr id="38" name="Shape 34"/>
          <p:cNvSpPr/>
          <p:nvPr/>
        </p:nvSpPr>
        <p:spPr>
          <a:xfrm>
            <a:off x="6336792"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9" name="Shape 35"/>
          <p:cNvSpPr/>
          <p:nvPr/>
        </p:nvSpPr>
        <p:spPr>
          <a:xfrm>
            <a:off x="6592824" y="4096512"/>
            <a:ext cx="82296" cy="182880"/>
          </a:xfrm>
          <a:prstGeom prst="rect">
            <a:avLst/>
          </a:prstGeom>
          <a:solidFill>
            <a:srgbClr val="00A3C4"/>
          </a:solidFill>
          <a:ln w="12700">
            <a:solidFill>
              <a:srgbClr val="00A3C4"/>
            </a:solidFill>
            <a:prstDash val="solid"/>
          </a:ln>
        </p:spPr>
      </p:sp>
      <p:sp>
        <p:nvSpPr>
          <p:cNvPr id="40" name="Text 36"/>
          <p:cNvSpPr txBox="1"/>
          <p:nvPr/>
        </p:nvSpPr>
        <p:spPr>
          <a:xfrm>
            <a:off x="6757416"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운영 방식</a:t>
            </a:r>
            <a:endParaRPr lang="en-US" sz="1300" dirty="0"/>
          </a:p>
        </p:txBody>
      </p:sp>
      <p:graphicFrame>
        <p:nvGraphicFramePr>
          <p:cNvPr id="10" name="Table 2"/>
          <p:cNvGraphicFramePr>
            <a:graphicFrameLocks noGrp="1"/>
          </p:cNvGraphicFramePr>
          <p:nvPr>
            <p:extLst>
              <p:ext uri="{D42A27DB-BD31-4B8C-83A1-F6EECF244321}">
                <p14:modId xmlns:p14="http://schemas.microsoft.com/office/powerpoint/2010/main" val="1579011935"/>
              </p:ext>
            </p:extLst>
          </p:nvPr>
        </p:nvGraphicFramePr>
        <p:xfrm>
          <a:off x="6647688" y="4535424"/>
          <a:ext cx="4846320" cy="914400"/>
        </p:xfrm>
        <a:graphic>
          <a:graphicData uri="http://schemas.openxmlformats.org/drawingml/2006/table">
            <a:tbl>
              <a:tblPr/>
              <a:tblGrid>
                <a:gridCol w="1143000"/>
                <a:gridCol w="3703320"/>
              </a:tblGrid>
              <a:tr h="27432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버전 관리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코드·문서 변경을 버전별 분기로 이력화</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변경 이력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 수정 이력이 곧 설계 결정 이력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반입 범위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코드·문서만 내부망으로 반입</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7432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코드 검증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수식 검산 · 전수 검증 · 통합 테스트</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42" name="Shape 37"/>
          <p:cNvSpPr/>
          <p:nvPr/>
        </p:nvSpPr>
        <p:spPr>
          <a:xfrm>
            <a:off x="6647688" y="5925312"/>
            <a:ext cx="4846320" cy="347472"/>
          </a:xfrm>
          <a:prstGeom prst="roundRect">
            <a:avLst>
              <a:gd name="adj" fmla="val 15789"/>
            </a:avLst>
          </a:prstGeom>
          <a:solidFill>
            <a:srgbClr val="16305B"/>
          </a:solidFill>
          <a:ln/>
        </p:spPr>
      </p:sp>
      <p:sp>
        <p:nvSpPr>
          <p:cNvPr id="43" name="Text 38"/>
          <p:cNvSpPr txBox="1"/>
          <p:nvPr/>
        </p:nvSpPr>
        <p:spPr>
          <a:xfrm>
            <a:off x="6647688" y="5925312"/>
            <a:ext cx="4846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내부 자산을 반출하지 않고 AI 협업 체계 구축</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저장소 기반 개발환경 구성</a:t>
            </a:r>
            <a:endParaRPr lang="en-US" sz="2200" dirty="0"/>
          </a:p>
        </p:txBody>
      </p:sp>
      <p:sp>
        <p:nvSpPr>
          <p:cNvPr id="6" name="Shape 4"/>
          <p:cNvSpPr/>
          <p:nvPr/>
        </p:nvSpPr>
        <p:spPr>
          <a:xfrm>
            <a:off x="502920" y="1097280"/>
            <a:ext cx="274320" cy="274320"/>
          </a:xfrm>
          <a:prstGeom prst="ellipse">
            <a:avLst/>
          </a:prstGeom>
          <a:solidFill>
            <a:srgbClr val="00A3C4"/>
          </a:solidFill>
          <a:ln w="12700">
            <a:solidFill>
              <a:srgbClr val="00A3C4"/>
            </a:solidFill>
            <a:prstDash val="solid"/>
          </a:ln>
        </p:spPr>
      </p:sp>
      <p:sp>
        <p:nvSpPr>
          <p:cNvPr id="7" name="Text 5"/>
          <p:cNvSpPr txBox="1"/>
          <p:nvPr/>
        </p:nvSpPr>
        <p:spPr>
          <a:xfrm>
            <a:off x="502920"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①</a:t>
            </a:r>
            <a:endParaRPr lang="en-US" sz="1100" dirty="0"/>
          </a:p>
        </p:txBody>
      </p:sp>
      <p:sp>
        <p:nvSpPr>
          <p:cNvPr id="8" name="Text 6"/>
          <p:cNvSpPr txBox="1"/>
          <p:nvPr/>
        </p:nvSpPr>
        <p:spPr>
          <a:xfrm>
            <a:off x="886968"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AI 에이전트 — 작업 브랜치 연결</a:t>
            </a:r>
            <a:endParaRPr lang="en-US" sz="1300" dirty="0"/>
          </a:p>
        </p:txBody>
      </p:sp>
      <p:sp>
        <p:nvSpPr>
          <p:cNvPr id="9" name="Shape 7"/>
          <p:cNvSpPr/>
          <p:nvPr/>
        </p:nvSpPr>
        <p:spPr>
          <a:xfrm>
            <a:off x="502920"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0" name="Text 8"/>
          <p:cNvSpPr txBox="1"/>
          <p:nvPr/>
        </p:nvSpPr>
        <p:spPr>
          <a:xfrm>
            <a:off x="502920"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①  화면 캡처 삽입 영역</a:t>
            </a:r>
            <a:endParaRPr lang="en-US" sz="1200" dirty="0"/>
          </a:p>
        </p:txBody>
      </p:sp>
      <p:sp>
        <p:nvSpPr>
          <p:cNvPr id="11" name="Text 9"/>
          <p:cNvSpPr txBox="1"/>
          <p:nvPr/>
        </p:nvSpPr>
        <p:spPr>
          <a:xfrm>
            <a:off x="502920"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2" name="Shape 10"/>
          <p:cNvSpPr/>
          <p:nvPr/>
        </p:nvSpPr>
        <p:spPr>
          <a:xfrm>
            <a:off x="6428232" y="1097280"/>
            <a:ext cx="274320" cy="274320"/>
          </a:xfrm>
          <a:prstGeom prst="ellipse">
            <a:avLst/>
          </a:prstGeom>
          <a:solidFill>
            <a:srgbClr val="16305B"/>
          </a:solidFill>
          <a:ln w="12700">
            <a:solidFill>
              <a:srgbClr val="16305B"/>
            </a:solidFill>
            <a:prstDash val="solid"/>
          </a:ln>
        </p:spPr>
      </p:sp>
      <p:sp>
        <p:nvSpPr>
          <p:cNvPr id="13" name="Text 11"/>
          <p:cNvSpPr txBox="1"/>
          <p:nvPr/>
        </p:nvSpPr>
        <p:spPr>
          <a:xfrm>
            <a:off x="6428232" y="10972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②</a:t>
            </a:r>
            <a:endParaRPr lang="en-US" sz="1100" dirty="0"/>
          </a:p>
        </p:txBody>
      </p:sp>
      <p:sp>
        <p:nvSpPr>
          <p:cNvPr id="14" name="Text 12"/>
          <p:cNvSpPr txBox="1"/>
          <p:nvPr/>
        </p:nvSpPr>
        <p:spPr>
          <a:xfrm>
            <a:off x="6812280" y="1078992"/>
            <a:ext cx="4873752" cy="310896"/>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저장소 — 버전별 브랜치로 저장</a:t>
            </a:r>
            <a:endParaRPr lang="en-US" sz="1300" dirty="0"/>
          </a:p>
        </p:txBody>
      </p:sp>
      <p:sp>
        <p:nvSpPr>
          <p:cNvPr id="15" name="Shape 13"/>
          <p:cNvSpPr/>
          <p:nvPr/>
        </p:nvSpPr>
        <p:spPr>
          <a:xfrm>
            <a:off x="6428232" y="1517904"/>
            <a:ext cx="5257800" cy="3127248"/>
          </a:xfrm>
          <a:prstGeom prst="roundRect">
            <a:avLst>
              <a:gd name="adj" fmla="val 1462"/>
            </a:avLst>
          </a:prstGeom>
          <a:solidFill>
            <a:srgbClr val="FFFFFF"/>
          </a:solidFill>
          <a:ln w="12700">
            <a:solidFill>
              <a:srgbClr val="C3CDDA"/>
            </a:solidFill>
            <a:prstDash val="dash"/>
          </a:ln>
          <a:effectLst>
            <a:outerShdw sx="100000" sy="100000" kx="0" ky="0" algn="bl" rotWithShape="0" blurRad="101600" dist="12700" dir="5400000">
              <a:srgbClr val="9AA8BC">
                <a:alpha val="18000"/>
              </a:srgbClr>
            </a:outerShdw>
          </a:effectLst>
        </p:spPr>
      </p:sp>
      <p:sp>
        <p:nvSpPr>
          <p:cNvPr id="16" name="Text 14"/>
          <p:cNvSpPr txBox="1"/>
          <p:nvPr/>
        </p:nvSpPr>
        <p:spPr>
          <a:xfrm>
            <a:off x="6428232" y="2807208"/>
            <a:ext cx="5257800" cy="365760"/>
          </a:xfrm>
          <a:prstGeom prst="rect">
            <a:avLst/>
          </a:prstGeom>
          <a:noFill/>
          <a:ln/>
        </p:spPr>
        <p:txBody>
          <a:bodyPr wrap="square" lIns="0" tIns="0" rIns="0" bIns="0" rtlCol="0" anchor="ctr"/>
          <a:lstStyle/>
          <a:p>
            <a:pPr algn="ctr" indent="0" marL="0">
              <a:buNone/>
            </a:pPr>
            <a:r>
              <a:rPr lang="en-US" sz="1200" b="1" dirty="0">
                <a:solidFill>
                  <a:srgbClr val="AAB6C6"/>
                </a:solidFill>
                <a:latin typeface="Malgun Gothic" pitchFamily="34" charset="0"/>
                <a:ea typeface="Malgun Gothic" pitchFamily="34" charset="-122"/>
                <a:cs typeface="Malgun Gothic" pitchFamily="34" charset="-120"/>
              </a:rPr>
              <a:t>②  화면 캡처 삽입 영역</a:t>
            </a:r>
            <a:endParaRPr lang="en-US" sz="1200" dirty="0"/>
          </a:p>
        </p:txBody>
      </p:sp>
      <p:sp>
        <p:nvSpPr>
          <p:cNvPr id="17" name="Text 15"/>
          <p:cNvSpPr txBox="1"/>
          <p:nvPr/>
        </p:nvSpPr>
        <p:spPr>
          <a:xfrm>
            <a:off x="6428232" y="3136392"/>
            <a:ext cx="5257800" cy="274320"/>
          </a:xfrm>
          <a:prstGeom prst="rect">
            <a:avLst/>
          </a:prstGeom>
          <a:noFill/>
          <a:ln/>
        </p:spPr>
        <p:txBody>
          <a:bodyPr wrap="square" lIns="0" tIns="0" rIns="0" bIns="0" rtlCol="0" anchor="ctr"/>
          <a:lstStyle/>
          <a:p>
            <a:pPr algn="ctr" indent="0" marL="0">
              <a:buNone/>
            </a:pPr>
            <a:r>
              <a:rPr lang="en-US" sz="900" dirty="0">
                <a:solidFill>
                  <a:srgbClr val="C3CDDA"/>
                </a:solidFill>
                <a:latin typeface="Malgun Gothic" pitchFamily="34" charset="0"/>
                <a:ea typeface="Malgun Gothic" pitchFamily="34" charset="-122"/>
                <a:cs typeface="Malgun Gothic" pitchFamily="34" charset="-120"/>
              </a:rPr>
              <a:t>(프레임에 맞춰 캡처 이미지로 교체)</a:t>
            </a:r>
            <a:endParaRPr lang="en-US" sz="900" dirty="0"/>
          </a:p>
        </p:txBody>
      </p:sp>
      <p:sp>
        <p:nvSpPr>
          <p:cNvPr id="18" name="Shape 16"/>
          <p:cNvSpPr/>
          <p:nvPr/>
        </p:nvSpPr>
        <p:spPr>
          <a:xfrm>
            <a:off x="5852160" y="3081528"/>
            <a:ext cx="502920" cy="0"/>
          </a:xfrm>
          <a:prstGeom prst="line">
            <a:avLst/>
          </a:prstGeom>
          <a:noFill/>
          <a:ln w="19050">
            <a:solidFill>
              <a:srgbClr val="16305B"/>
            </a:solidFill>
            <a:prstDash val="solid"/>
            <a:tailEnd type="triangle"/>
          </a:ln>
        </p:spPr>
      </p:sp>
      <p:sp>
        <p:nvSpPr>
          <p:cNvPr id="19" name="Text 17"/>
          <p:cNvSpPr txBox="1"/>
          <p:nvPr/>
        </p:nvSpPr>
        <p:spPr>
          <a:xfrm>
            <a:off x="5742432" y="2770632"/>
            <a:ext cx="731520" cy="23774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저장</a:t>
            </a:r>
            <a:endParaRPr lang="en-US" sz="900" dirty="0"/>
          </a:p>
        </p:txBody>
      </p:sp>
      <p:sp>
        <p:nvSpPr>
          <p:cNvPr id="20" name="Text 18"/>
          <p:cNvSpPr txBox="1"/>
          <p:nvPr/>
        </p:nvSpPr>
        <p:spPr>
          <a:xfrm>
            <a:off x="539496"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세션 시작 시 저장소의 지정 브랜치를 연결</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이전 작업 맥락을 그대로 이어받아 코드 작성</a:t>
            </a:r>
            <a:endParaRPr lang="en-US" sz="1000" dirty="0"/>
          </a:p>
        </p:txBody>
      </p:sp>
      <p:sp>
        <p:nvSpPr>
          <p:cNvPr id="21" name="Text 19"/>
          <p:cNvSpPr txBox="1"/>
          <p:nvPr/>
        </p:nvSpPr>
        <p:spPr>
          <a:xfrm>
            <a:off x="6464808" y="4773168"/>
            <a:ext cx="5184648" cy="621792"/>
          </a:xfrm>
          <a:prstGeom prst="rect">
            <a:avLst/>
          </a:prstGeom>
          <a:noFill/>
          <a:ln/>
        </p:spPr>
        <p:txBody>
          <a:bodyPr wrap="square" lIns="0" tIns="0" rIns="0" bIns="0" rtlCol="0" anchor="ctr"/>
          <a:lstStyle/>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작성된 코드·문서가 해당 브랜치에 반영</a:t>
            </a:r>
            <a:endParaRPr lang="en-US" sz="1000" dirty="0"/>
          </a:p>
          <a:p>
            <a:pPr indent="0" marL="0">
              <a:lnSpc>
                <a:spcPct val="125000"/>
              </a:lnSpc>
              <a:buNone/>
            </a:pPr>
            <a:r>
              <a:rPr lang="en-US" sz="1000" dirty="0">
                <a:solidFill>
                  <a:srgbClr val="1C2733"/>
                </a:solidFill>
                <a:latin typeface="Malgun Gothic" pitchFamily="34" charset="0"/>
                <a:ea typeface="Malgun Gothic" pitchFamily="34" charset="-122"/>
                <a:cs typeface="Malgun Gothic" pitchFamily="34" charset="-120"/>
              </a:rPr>
              <a:t>→ 형상·변수 구성 변경이 버전별로 축적</a:t>
            </a:r>
            <a:endParaRPr lang="en-US" sz="1000" dirty="0"/>
          </a:p>
        </p:txBody>
      </p:sp>
      <p:sp>
        <p:nvSpPr>
          <p:cNvPr id="22" name="Shape 20"/>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3" name="Shape 21"/>
          <p:cNvSpPr/>
          <p:nvPr/>
        </p:nvSpPr>
        <p:spPr>
          <a:xfrm>
            <a:off x="832104" y="5724144"/>
            <a:ext cx="64008" cy="164592"/>
          </a:xfrm>
          <a:prstGeom prst="rect">
            <a:avLst/>
          </a:prstGeom>
          <a:solidFill>
            <a:srgbClr val="00A3C4"/>
          </a:solidFill>
          <a:ln w="12700">
            <a:solidFill>
              <a:srgbClr val="00A3C4"/>
            </a:solidFill>
            <a:prstDash val="solid"/>
          </a:ln>
        </p:spPr>
      </p:sp>
      <p:sp>
        <p:nvSpPr>
          <p:cNvPr id="24" name="Text 22"/>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작업 단위 = 브랜치</a:t>
            </a:r>
            <a:endParaRPr lang="en-US" sz="1050" dirty="0"/>
          </a:p>
        </p:txBody>
      </p:sp>
      <p:sp>
        <p:nvSpPr>
          <p:cNvPr id="25" name="Text 23"/>
          <p:cNvSpPr txBox="1"/>
          <p:nvPr/>
        </p:nvSpPr>
        <p:spPr>
          <a:xfrm>
            <a:off x="9784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형상·변수 구성이 바뀔 때마다 분기하여 관리</a:t>
            </a:r>
            <a:endParaRPr lang="en-US" sz="950" dirty="0"/>
          </a:p>
        </p:txBody>
      </p:sp>
      <p:sp>
        <p:nvSpPr>
          <p:cNvPr id="26" name="Shape 24"/>
          <p:cNvSpPr/>
          <p:nvPr/>
        </p:nvSpPr>
        <p:spPr>
          <a:xfrm>
            <a:off x="4489704" y="5724144"/>
            <a:ext cx="64008" cy="164592"/>
          </a:xfrm>
          <a:prstGeom prst="rect">
            <a:avLst/>
          </a:prstGeom>
          <a:solidFill>
            <a:srgbClr val="00A3C4"/>
          </a:solidFill>
          <a:ln w="12700">
            <a:solidFill>
              <a:srgbClr val="00A3C4"/>
            </a:solidFill>
            <a:prstDash val="solid"/>
          </a:ln>
        </p:spPr>
      </p:sp>
      <p:sp>
        <p:nvSpPr>
          <p:cNvPr id="27" name="Text 25"/>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맥락 유지</a:t>
            </a:r>
            <a:endParaRPr lang="en-US" sz="1050" dirty="0"/>
          </a:p>
        </p:txBody>
      </p:sp>
      <p:sp>
        <p:nvSpPr>
          <p:cNvPr id="28" name="Text 26"/>
          <p:cNvSpPr txBox="1"/>
          <p:nvPr/>
        </p:nvSpPr>
        <p:spPr>
          <a:xfrm>
            <a:off x="46360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세션이 바뀌어도 저장소를 읽어 이어서 작업</a:t>
            </a:r>
            <a:endParaRPr lang="en-US" sz="950" dirty="0"/>
          </a:p>
        </p:txBody>
      </p:sp>
      <p:sp>
        <p:nvSpPr>
          <p:cNvPr id="29" name="Shape 27"/>
          <p:cNvSpPr/>
          <p:nvPr/>
        </p:nvSpPr>
        <p:spPr>
          <a:xfrm>
            <a:off x="8147304" y="5724144"/>
            <a:ext cx="64008" cy="164592"/>
          </a:xfrm>
          <a:prstGeom prst="rect">
            <a:avLst/>
          </a:prstGeom>
          <a:solidFill>
            <a:srgbClr val="00A3C4"/>
          </a:solidFill>
          <a:ln w="12700">
            <a:solidFill>
              <a:srgbClr val="00A3C4"/>
            </a:solidFill>
            <a:prstDash val="solid"/>
          </a:ln>
        </p:spPr>
      </p:sp>
      <p:sp>
        <p:nvSpPr>
          <p:cNvPr id="30" name="Text 28"/>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이력 = 근거</a:t>
            </a:r>
            <a:endParaRPr lang="en-US" sz="1050" dirty="0"/>
          </a:p>
        </p:txBody>
      </p:sp>
      <p:sp>
        <p:nvSpPr>
          <p:cNvPr id="31" name="Text 29"/>
          <p:cNvSpPr txBox="1"/>
          <p:nvPr/>
        </p:nvSpPr>
        <p:spPr>
          <a:xfrm>
            <a:off x="8293608" y="5943600"/>
            <a:ext cx="329184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커밋 메시지가 곧 설계 변경 사유로 남음</a:t>
            </a:r>
            <a:endParaRPr lang="en-US" sz="950" dirty="0"/>
          </a:p>
        </p:txBody>
      </p:sp>
      <p:sp>
        <p:nvSpPr>
          <p:cNvPr id="32" name="Text 30"/>
          <p:cNvSpPr txBox="1"/>
          <p:nvPr/>
        </p:nvSpPr>
        <p:spPr>
          <a:xfrm>
            <a:off x="502920" y="6419088"/>
            <a:ext cx="5486400" cy="237744"/>
          </a:xfrm>
          <a:prstGeom prst="rect">
            <a:avLst/>
          </a:prstGeom>
          <a:noFill/>
          <a:ln/>
        </p:spPr>
        <p:txBody>
          <a:bodyPr wrap="square" lIns="0" tIns="0" rIns="0" bIns="0" rtlCol="0" anchor="ctr"/>
          <a:lstStyle/>
          <a:p>
            <a:pPr indent="0" marL="0">
              <a:buNone/>
            </a:pPr>
            <a:r>
              <a:rPr lang="en-US" sz="850" i="1" dirty="0">
                <a:solidFill>
                  <a:srgbClr val="6B7A8F"/>
                </a:solidFill>
                <a:latin typeface="Malgun Gothic" pitchFamily="34" charset="0"/>
                <a:ea typeface="Malgun Gothic" pitchFamily="34" charset="-122"/>
                <a:cs typeface="Malgun Gothic" pitchFamily="34" charset="-120"/>
              </a:rPr>
              <a:t>※ 화면 내 설계 세부값은 마스킹 처리</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AI 에이전트 기반 개발환경 구축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내부망 실행 구조 — 시스템 아키텍처</a:t>
            </a:r>
            <a:endParaRPr lang="en-US" sz="2200" dirty="0"/>
          </a:p>
        </p:txBody>
      </p:sp>
      <p:sp>
        <p:nvSpPr>
          <p:cNvPr id="6" name="Shape 4"/>
          <p:cNvSpPr/>
          <p:nvPr/>
        </p:nvSpPr>
        <p:spPr>
          <a:xfrm>
            <a:off x="502920" y="1115568"/>
            <a:ext cx="64008" cy="237744"/>
          </a:xfrm>
          <a:prstGeom prst="rect">
            <a:avLst/>
          </a:prstGeom>
          <a:solidFill>
            <a:srgbClr val="00A3C4"/>
          </a:solidFill>
          <a:ln w="12700">
            <a:solidFill>
              <a:srgbClr val="00A3C4"/>
            </a:solidFill>
            <a:prstDash val="solid"/>
          </a:ln>
        </p:spPr>
      </p:sp>
      <p:sp>
        <p:nvSpPr>
          <p:cNvPr id="7" name="Text 5"/>
          <p:cNvSpPr txBox="1"/>
          <p:nvPr/>
        </p:nvSpPr>
        <p:spPr>
          <a:xfrm>
            <a:off x="667512" y="1060704"/>
            <a:ext cx="10607040" cy="329184"/>
          </a:xfrm>
          <a:prstGeom prst="rect">
            <a:avLst/>
          </a:prstGeom>
          <a:noFill/>
          <a:ln/>
        </p:spPr>
        <p:txBody>
          <a:bodyPr wrap="square" lIns="0" tIns="0" rIns="0" bIns="0" rtlCol="0" anchor="ctr"/>
          <a:lstStyle/>
          <a:p>
            <a:pPr indent="0" marL="0">
              <a:buNone/>
            </a:pPr>
            <a:r>
              <a:rPr lang="en-US" sz="1250" b="1" dirty="0">
                <a:solidFill>
                  <a:srgbClr val="16305B"/>
                </a:solidFill>
                <a:latin typeface="Malgun Gothic" pitchFamily="34" charset="0"/>
                <a:ea typeface="Malgun Gothic" pitchFamily="34" charset="-122"/>
                <a:cs typeface="Malgun Gothic" pitchFamily="34" charset="-120"/>
              </a:rPr>
              <a:t>작성된 코드가 CAD·해석 프로그램을 직접 제어 — 전 과정이 코드로 연결됨</a:t>
            </a:r>
            <a:endParaRPr lang="en-US" sz="1250" dirty="0"/>
          </a:p>
        </p:txBody>
      </p:sp>
      <p:sp>
        <p:nvSpPr>
          <p:cNvPr id="8" name="Shape 6"/>
          <p:cNvSpPr/>
          <p:nvPr/>
        </p:nvSpPr>
        <p:spPr>
          <a:xfrm>
            <a:off x="448056" y="1444752"/>
            <a:ext cx="7927848" cy="4442537"/>
          </a:xfrm>
          <a:prstGeom prst="roundRect">
            <a:avLst>
              <a:gd name="adj" fmla="val 102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pic>
        <p:nvPicPr>
          <p:cNvPr id="9" name="Image 0" descr="/home/user/dddd/시스템아키텍처.PNG">    </p:cNvPr>
          <p:cNvPicPr>
            <a:picLocks noChangeAspect="1"/>
          </p:cNvPicPr>
          <p:nvPr/>
        </p:nvPicPr>
        <p:blipFill>
          <a:blip r:embed="rId1"/>
          <a:stretch>
            <a:fillRect/>
          </a:stretch>
        </p:blipFill>
        <p:spPr>
          <a:xfrm>
            <a:off x="502920" y="1499616"/>
            <a:ext cx="7818120" cy="4332809"/>
          </a:xfrm>
          <a:prstGeom prst="rect">
            <a:avLst/>
          </a:prstGeom>
        </p:spPr>
      </p:pic>
      <p:sp>
        <p:nvSpPr>
          <p:cNvPr id="10" name="Text 7"/>
          <p:cNvSpPr txBox="1"/>
          <p:nvPr/>
        </p:nvSpPr>
        <p:spPr>
          <a:xfrm>
            <a:off x="8732520" y="1481328"/>
            <a:ext cx="2956255" cy="274320"/>
          </a:xfrm>
          <a:prstGeom prst="rect">
            <a:avLst/>
          </a:prstGeom>
          <a:noFill/>
          <a:ln/>
        </p:spPr>
        <p:txBody>
          <a:bodyPr wrap="square" lIns="0" tIns="0" rIns="0" bIns="0" rtlCol="0" anchor="ctr"/>
          <a:lstStyle/>
          <a:p>
            <a:pPr indent="0" marL="0">
              <a:buNone/>
            </a:pPr>
            <a:r>
              <a:rPr lang="en-US" sz="1200" b="1" dirty="0">
                <a:solidFill>
                  <a:srgbClr val="16305B"/>
                </a:solidFill>
                <a:latin typeface="Malgun Gothic" pitchFamily="34" charset="0"/>
                <a:ea typeface="Malgun Gothic" pitchFamily="34" charset="-122"/>
                <a:cs typeface="Malgun Gothic" pitchFamily="34" charset="-120"/>
              </a:rPr>
              <a:t>구성 계층</a:t>
            </a:r>
            <a:endParaRPr lang="en-US" sz="1200" dirty="0"/>
          </a:p>
        </p:txBody>
      </p:sp>
      <p:sp>
        <p:nvSpPr>
          <p:cNvPr id="11" name="Shape 8"/>
          <p:cNvSpPr/>
          <p:nvPr/>
        </p:nvSpPr>
        <p:spPr>
          <a:xfrm>
            <a:off x="8732520" y="1828800"/>
            <a:ext cx="237744" cy="237744"/>
          </a:xfrm>
          <a:prstGeom prst="ellipse">
            <a:avLst/>
          </a:prstGeom>
          <a:solidFill>
            <a:srgbClr val="16305B"/>
          </a:solidFill>
          <a:ln w="12700">
            <a:solidFill>
              <a:srgbClr val="16305B"/>
            </a:solidFill>
            <a:prstDash val="solid"/>
          </a:ln>
        </p:spPr>
      </p:sp>
      <p:sp>
        <p:nvSpPr>
          <p:cNvPr id="12" name="Text 9"/>
          <p:cNvSpPr txBox="1"/>
          <p:nvPr/>
        </p:nvSpPr>
        <p:spPr>
          <a:xfrm>
            <a:off x="8732520" y="1828800"/>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1</a:t>
            </a:r>
            <a:endParaRPr lang="en-US" sz="850" dirty="0"/>
          </a:p>
        </p:txBody>
      </p:sp>
      <p:sp>
        <p:nvSpPr>
          <p:cNvPr id="13" name="Text 10"/>
          <p:cNvSpPr txBox="1"/>
          <p:nvPr/>
        </p:nvSpPr>
        <p:spPr>
          <a:xfrm>
            <a:off x="9061704" y="1810512"/>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개발 환경</a:t>
            </a:r>
            <a:endParaRPr lang="en-US" sz="1050" dirty="0"/>
          </a:p>
        </p:txBody>
      </p:sp>
      <p:sp>
        <p:nvSpPr>
          <p:cNvPr id="14" name="Text 11"/>
          <p:cNvSpPr txBox="1"/>
          <p:nvPr/>
        </p:nvSpPr>
        <p:spPr>
          <a:xfrm>
            <a:off x="9061704" y="2066544"/>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코드 편집 · 디버깅 · 인터프리터 설정</a:t>
            </a:r>
            <a:endParaRPr lang="en-US" sz="950" dirty="0"/>
          </a:p>
        </p:txBody>
      </p:sp>
      <p:sp>
        <p:nvSpPr>
          <p:cNvPr id="15" name="Shape 12"/>
          <p:cNvSpPr/>
          <p:nvPr/>
        </p:nvSpPr>
        <p:spPr>
          <a:xfrm>
            <a:off x="8732520" y="2578608"/>
            <a:ext cx="237744" cy="237744"/>
          </a:xfrm>
          <a:prstGeom prst="ellipse">
            <a:avLst/>
          </a:prstGeom>
          <a:solidFill>
            <a:srgbClr val="16305B"/>
          </a:solidFill>
          <a:ln w="12700">
            <a:solidFill>
              <a:srgbClr val="16305B"/>
            </a:solidFill>
            <a:prstDash val="solid"/>
          </a:ln>
        </p:spPr>
      </p:sp>
      <p:sp>
        <p:nvSpPr>
          <p:cNvPr id="16" name="Text 13"/>
          <p:cNvSpPr txBox="1"/>
          <p:nvPr/>
        </p:nvSpPr>
        <p:spPr>
          <a:xfrm>
            <a:off x="8732520" y="2578608"/>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2</a:t>
            </a:r>
            <a:endParaRPr lang="en-US" sz="850" dirty="0"/>
          </a:p>
        </p:txBody>
      </p:sp>
      <p:sp>
        <p:nvSpPr>
          <p:cNvPr id="17" name="Text 14"/>
          <p:cNvSpPr txBox="1"/>
          <p:nvPr/>
        </p:nvSpPr>
        <p:spPr>
          <a:xfrm>
            <a:off x="9061704" y="2560320"/>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실행 환경</a:t>
            </a:r>
            <a:endParaRPr lang="en-US" sz="1050" dirty="0"/>
          </a:p>
        </p:txBody>
      </p:sp>
      <p:sp>
        <p:nvSpPr>
          <p:cNvPr id="18" name="Text 15"/>
          <p:cNvSpPr txBox="1"/>
          <p:nvPr/>
        </p:nvSpPr>
        <p:spPr>
          <a:xfrm>
            <a:off x="9061704" y="2816352"/>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Python 기반 API 라이브러리로 명령 전달</a:t>
            </a:r>
            <a:endParaRPr lang="en-US" sz="950" dirty="0"/>
          </a:p>
        </p:txBody>
      </p:sp>
      <p:sp>
        <p:nvSpPr>
          <p:cNvPr id="19" name="Shape 16"/>
          <p:cNvSpPr/>
          <p:nvPr/>
        </p:nvSpPr>
        <p:spPr>
          <a:xfrm>
            <a:off x="8732520" y="3328416"/>
            <a:ext cx="237744" cy="237744"/>
          </a:xfrm>
          <a:prstGeom prst="ellipse">
            <a:avLst/>
          </a:prstGeom>
          <a:solidFill>
            <a:srgbClr val="16305B"/>
          </a:solidFill>
          <a:ln w="12700">
            <a:solidFill>
              <a:srgbClr val="16305B"/>
            </a:solidFill>
            <a:prstDash val="solid"/>
          </a:ln>
        </p:spPr>
      </p:sp>
      <p:sp>
        <p:nvSpPr>
          <p:cNvPr id="20" name="Text 17"/>
          <p:cNvSpPr txBox="1"/>
          <p:nvPr/>
        </p:nvSpPr>
        <p:spPr>
          <a:xfrm>
            <a:off x="8732520" y="3328416"/>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3</a:t>
            </a:r>
            <a:endParaRPr lang="en-US" sz="850" dirty="0"/>
          </a:p>
        </p:txBody>
      </p:sp>
      <p:sp>
        <p:nvSpPr>
          <p:cNvPr id="21" name="Text 18"/>
          <p:cNvSpPr txBox="1"/>
          <p:nvPr/>
        </p:nvSpPr>
        <p:spPr>
          <a:xfrm>
            <a:off x="9061704" y="3310128"/>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CAD</a:t>
            </a:r>
            <a:endParaRPr lang="en-US" sz="1050" dirty="0"/>
          </a:p>
        </p:txBody>
      </p:sp>
      <p:sp>
        <p:nvSpPr>
          <p:cNvPr id="22" name="Text 19"/>
          <p:cNvSpPr txBox="1"/>
          <p:nvPr/>
        </p:nvSpPr>
        <p:spPr>
          <a:xfrm>
            <a:off x="9061704" y="3566160"/>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형상 파라미터 갱신 · 리빌드 · STEP 내보내기</a:t>
            </a:r>
            <a:endParaRPr lang="en-US" sz="950" dirty="0"/>
          </a:p>
        </p:txBody>
      </p:sp>
      <p:sp>
        <p:nvSpPr>
          <p:cNvPr id="23" name="Shape 20"/>
          <p:cNvSpPr/>
          <p:nvPr/>
        </p:nvSpPr>
        <p:spPr>
          <a:xfrm>
            <a:off x="8732520" y="4078224"/>
            <a:ext cx="237744" cy="237744"/>
          </a:xfrm>
          <a:prstGeom prst="ellipse">
            <a:avLst/>
          </a:prstGeom>
          <a:solidFill>
            <a:srgbClr val="16305B"/>
          </a:solidFill>
          <a:ln w="12700">
            <a:solidFill>
              <a:srgbClr val="16305B"/>
            </a:solidFill>
            <a:prstDash val="solid"/>
          </a:ln>
        </p:spPr>
      </p:sp>
      <p:sp>
        <p:nvSpPr>
          <p:cNvPr id="24" name="Text 21"/>
          <p:cNvSpPr txBox="1"/>
          <p:nvPr/>
        </p:nvSpPr>
        <p:spPr>
          <a:xfrm>
            <a:off x="8732520" y="4078224"/>
            <a:ext cx="237744"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Malgun Gothic" pitchFamily="34" charset="0"/>
                <a:ea typeface="Malgun Gothic" pitchFamily="34" charset="-122"/>
                <a:cs typeface="Malgun Gothic" pitchFamily="34" charset="-120"/>
              </a:rPr>
              <a:t>4</a:t>
            </a:r>
            <a:endParaRPr lang="en-US" sz="850" dirty="0"/>
          </a:p>
        </p:txBody>
      </p:sp>
      <p:sp>
        <p:nvSpPr>
          <p:cNvPr id="25" name="Text 22"/>
          <p:cNvSpPr txBox="1"/>
          <p:nvPr/>
        </p:nvSpPr>
        <p:spPr>
          <a:xfrm>
            <a:off x="9061704" y="4059936"/>
            <a:ext cx="2627071"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해석</a:t>
            </a:r>
            <a:endParaRPr lang="en-US" sz="1050" dirty="0"/>
          </a:p>
        </p:txBody>
      </p:sp>
      <p:sp>
        <p:nvSpPr>
          <p:cNvPr id="26" name="Text 23"/>
          <p:cNvSpPr txBox="1"/>
          <p:nvPr/>
        </p:nvSpPr>
        <p:spPr>
          <a:xfrm>
            <a:off x="9061704" y="4315968"/>
            <a:ext cx="2627071" cy="384048"/>
          </a:xfrm>
          <a:prstGeom prst="rect">
            <a:avLst/>
          </a:prstGeom>
          <a:noFill/>
          <a:ln/>
        </p:spPr>
        <p:txBody>
          <a:bodyPr wrap="square" lIns="0" tIns="0" rIns="0" bIns="0" rtlCol="0" anchor="ctr"/>
          <a:lstStyle/>
          <a:p>
            <a:pPr indent="0" marL="0">
              <a:lnSpc>
                <a:spcPct val="115000"/>
              </a:lnSpc>
              <a:buNone/>
            </a:pPr>
            <a:r>
              <a:rPr lang="en-US" sz="950" dirty="0">
                <a:solidFill>
                  <a:srgbClr val="6B7A8F"/>
                </a:solidFill>
                <a:latin typeface="Malgun Gothic" pitchFamily="34" charset="0"/>
                <a:ea typeface="Malgun Gothic" pitchFamily="34" charset="-122"/>
                <a:cs typeface="Malgun Gothic" pitchFamily="34" charset="-120"/>
              </a:rPr>
              <a:t>해석 모델 구성 · 솔버 실행 · 결과 추출</a:t>
            </a:r>
            <a:endParaRPr lang="en-US" sz="950" dirty="0"/>
          </a:p>
        </p:txBody>
      </p:sp>
      <p:sp>
        <p:nvSpPr>
          <p:cNvPr id="27" name="Shape 24"/>
          <p:cNvSpPr/>
          <p:nvPr/>
        </p:nvSpPr>
        <p:spPr>
          <a:xfrm>
            <a:off x="8732520" y="4991177"/>
            <a:ext cx="2956255" cy="822960"/>
          </a:xfrm>
          <a:prstGeom prst="roundRect">
            <a:avLst>
              <a:gd name="adj" fmla="val 6667"/>
            </a:avLst>
          </a:prstGeom>
          <a:solidFill>
            <a:srgbClr val="16305B"/>
          </a:solidFill>
          <a:ln w="12700">
            <a:solidFill>
              <a:srgbClr val="16305B"/>
            </a:solidFill>
            <a:prstDash val="solid"/>
          </a:ln>
        </p:spPr>
      </p:sp>
      <p:sp>
        <p:nvSpPr>
          <p:cNvPr id="28" name="Text 25"/>
          <p:cNvSpPr txBox="1"/>
          <p:nvPr/>
        </p:nvSpPr>
        <p:spPr>
          <a:xfrm>
            <a:off x="8878824" y="4991177"/>
            <a:ext cx="2663647" cy="822960"/>
          </a:xfrm>
          <a:prstGeom prst="rect">
            <a:avLst/>
          </a:prstGeom>
          <a:noFill/>
          <a:ln/>
        </p:spPr>
        <p:txBody>
          <a:bodyPr wrap="square" lIns="0" tIns="0" rIns="0" bIns="0" rtlCol="0" anchor="ctr"/>
          <a:lstStyle/>
          <a:p>
            <a:pPr algn="ctr" indent="0" marL="0">
              <a:lnSpc>
                <a:spcPct val="120000"/>
              </a:lnSpc>
              <a:buNone/>
            </a:pPr>
            <a:r>
              <a:rPr lang="en-US" sz="1000" b="1" dirty="0">
                <a:solidFill>
                  <a:srgbClr val="FFFFFF"/>
                </a:solidFill>
                <a:latin typeface="Malgun Gothic" pitchFamily="34" charset="0"/>
                <a:ea typeface="Malgun Gothic" pitchFamily="34" charset="-122"/>
                <a:cs typeface="Malgun Gothic" pitchFamily="34" charset="-120"/>
              </a:rPr>
              <a:t>망분리 정책상</a:t>
            </a:r>
            <a:endParaRPr lang="en-US" sz="1000" dirty="0"/>
          </a:p>
          <a:p>
            <a:pPr algn="ctr" indent="0" marL="0">
              <a:lnSpc>
                <a:spcPct val="120000"/>
              </a:lnSpc>
              <a:buNone/>
            </a:pPr>
            <a:r>
              <a:rPr lang="en-US" sz="1000" b="1" dirty="0">
                <a:solidFill>
                  <a:srgbClr val="FFFFFF"/>
                </a:solidFill>
                <a:latin typeface="Malgun Gothic" pitchFamily="34" charset="0"/>
                <a:ea typeface="Malgun Gothic" pitchFamily="34" charset="-122"/>
                <a:cs typeface="Malgun Gothic" pitchFamily="34" charset="-120"/>
              </a:rPr>
              <a:t>외부망 ↔ 내부망 코드 이전은 수동 수행</a:t>
            </a:r>
            <a:endParaRPr lang="en-US" sz="1000" dirty="0"/>
          </a:p>
        </p:txBody>
      </p:sp>
      <p:sp>
        <p:nvSpPr>
          <p:cNvPr id="29" name="Shape 26"/>
          <p:cNvSpPr/>
          <p:nvPr/>
        </p:nvSpPr>
        <p:spPr>
          <a:xfrm>
            <a:off x="502920" y="6070169"/>
            <a:ext cx="11183112" cy="658368"/>
          </a:xfrm>
          <a:prstGeom prst="roundRect">
            <a:avLst>
              <a:gd name="adj" fmla="val 8333"/>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0" name="Shape 27"/>
          <p:cNvSpPr/>
          <p:nvPr/>
        </p:nvSpPr>
        <p:spPr>
          <a:xfrm>
            <a:off x="832104" y="6216473"/>
            <a:ext cx="64008" cy="155448"/>
          </a:xfrm>
          <a:prstGeom prst="rect">
            <a:avLst/>
          </a:prstGeom>
          <a:solidFill>
            <a:srgbClr val="00A3C4"/>
          </a:solidFill>
          <a:ln w="12700">
            <a:solidFill>
              <a:srgbClr val="00A3C4"/>
            </a:solidFill>
            <a:prstDash val="solid"/>
          </a:ln>
        </p:spPr>
      </p:sp>
      <p:sp>
        <p:nvSpPr>
          <p:cNvPr id="31" name="Text 28"/>
          <p:cNvSpPr txBox="1"/>
          <p:nvPr/>
        </p:nvSpPr>
        <p:spPr>
          <a:xfrm>
            <a:off x="9784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프로그램 간 연동</a:t>
            </a:r>
            <a:endParaRPr lang="en-US" sz="1050" dirty="0"/>
          </a:p>
        </p:txBody>
      </p:sp>
      <p:sp>
        <p:nvSpPr>
          <p:cNvPr id="32" name="Text 29"/>
          <p:cNvSpPr txBox="1"/>
          <p:nvPr/>
        </p:nvSpPr>
        <p:spPr>
          <a:xfrm>
            <a:off x="9784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CAD와 해석 프로그램을 코드 한 곳에서 제어</a:t>
            </a:r>
            <a:endParaRPr lang="en-US" sz="950" dirty="0"/>
          </a:p>
        </p:txBody>
      </p:sp>
      <p:sp>
        <p:nvSpPr>
          <p:cNvPr id="33" name="Shape 30"/>
          <p:cNvSpPr/>
          <p:nvPr/>
        </p:nvSpPr>
        <p:spPr>
          <a:xfrm>
            <a:off x="4489704" y="6216473"/>
            <a:ext cx="64008" cy="155448"/>
          </a:xfrm>
          <a:prstGeom prst="rect">
            <a:avLst/>
          </a:prstGeom>
          <a:solidFill>
            <a:srgbClr val="00A3C4"/>
          </a:solidFill>
          <a:ln w="12700">
            <a:solidFill>
              <a:srgbClr val="00A3C4"/>
            </a:solidFill>
            <a:prstDash val="solid"/>
          </a:ln>
        </p:spPr>
      </p:sp>
      <p:sp>
        <p:nvSpPr>
          <p:cNvPr id="34" name="Text 31"/>
          <p:cNvSpPr txBox="1"/>
          <p:nvPr/>
        </p:nvSpPr>
        <p:spPr>
          <a:xfrm>
            <a:off x="46360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수작업 개입 제거</a:t>
            </a:r>
            <a:endParaRPr lang="en-US" sz="1050" dirty="0"/>
          </a:p>
        </p:txBody>
      </p:sp>
      <p:sp>
        <p:nvSpPr>
          <p:cNvPr id="35" name="Text 32"/>
          <p:cNvSpPr txBox="1"/>
          <p:nvPr/>
        </p:nvSpPr>
        <p:spPr>
          <a:xfrm>
            <a:off x="46360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 수정·해석 실행·결과 정리를 무인 반복</a:t>
            </a:r>
            <a:endParaRPr lang="en-US" sz="950" dirty="0"/>
          </a:p>
        </p:txBody>
      </p:sp>
      <p:sp>
        <p:nvSpPr>
          <p:cNvPr id="36" name="Shape 33"/>
          <p:cNvSpPr/>
          <p:nvPr/>
        </p:nvSpPr>
        <p:spPr>
          <a:xfrm>
            <a:off x="8147304" y="6216473"/>
            <a:ext cx="64008" cy="155448"/>
          </a:xfrm>
          <a:prstGeom prst="rect">
            <a:avLst/>
          </a:prstGeom>
          <a:solidFill>
            <a:srgbClr val="00A3C4"/>
          </a:solidFill>
          <a:ln w="12700">
            <a:solidFill>
              <a:srgbClr val="00A3C4"/>
            </a:solidFill>
            <a:prstDash val="solid"/>
          </a:ln>
        </p:spPr>
      </p:sp>
      <p:sp>
        <p:nvSpPr>
          <p:cNvPr id="37" name="Text 34"/>
          <p:cNvSpPr txBox="1"/>
          <p:nvPr/>
        </p:nvSpPr>
        <p:spPr>
          <a:xfrm>
            <a:off x="8293608" y="6161609"/>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재사용 가능 구조</a:t>
            </a:r>
            <a:endParaRPr lang="en-US" sz="1050" dirty="0"/>
          </a:p>
        </p:txBody>
      </p:sp>
      <p:sp>
        <p:nvSpPr>
          <p:cNvPr id="38" name="Text 35"/>
          <p:cNvSpPr txBox="1"/>
          <p:nvPr/>
        </p:nvSpPr>
        <p:spPr>
          <a:xfrm>
            <a:off x="8293608" y="6417641"/>
            <a:ext cx="3383280" cy="256032"/>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설계변수 정의만 교체하면 타 과제 적용 가능</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02</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설계변수 정의 및 설계공간 설정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형상 및 유동 경로 · 설계변수 선정</a:t>
            </a:r>
            <a:endParaRPr lang="en-US" sz="2200" dirty="0"/>
          </a:p>
        </p:txBody>
      </p:sp>
      <p:sp>
        <p:nvSpPr>
          <p:cNvPr id="6" name="Shape 4"/>
          <p:cNvSpPr/>
          <p:nvPr/>
        </p:nvSpPr>
        <p:spPr>
          <a:xfrm>
            <a:off x="502920" y="1188720"/>
            <a:ext cx="5440680" cy="5120640"/>
          </a:xfrm>
          <a:prstGeom prst="roundRect">
            <a:avLst>
              <a:gd name="adj" fmla="val 107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형상 및 유동 경로</a:t>
            </a:r>
            <a:endParaRPr lang="en-US" sz="1300" dirty="0"/>
          </a:p>
        </p:txBody>
      </p:sp>
      <p:sp>
        <p:nvSpPr>
          <p:cNvPr id="9" name="Shape 7"/>
          <p:cNvSpPr/>
          <p:nvPr/>
        </p:nvSpPr>
        <p:spPr>
          <a:xfrm>
            <a:off x="1709928" y="1965960"/>
            <a:ext cx="3017520" cy="420624"/>
          </a:xfrm>
          <a:prstGeom prst="roundRect">
            <a:avLst>
              <a:gd name="adj" fmla="val 13043"/>
            </a:avLst>
          </a:prstGeom>
          <a:solidFill>
            <a:srgbClr val="EEF2F7"/>
          </a:solidFill>
          <a:ln w="12700">
            <a:solidFill>
              <a:srgbClr val="EEF2F7"/>
            </a:solidFill>
            <a:prstDash val="solid"/>
          </a:ln>
        </p:spPr>
      </p:sp>
      <p:sp>
        <p:nvSpPr>
          <p:cNvPr id="10" name="Text 8"/>
          <p:cNvSpPr txBox="1"/>
          <p:nvPr/>
        </p:nvSpPr>
        <p:spPr>
          <a:xfrm>
            <a:off x="1709928" y="1965960"/>
            <a:ext cx="3017520" cy="420624"/>
          </a:xfrm>
          <a:prstGeom prst="rect">
            <a:avLst/>
          </a:prstGeom>
          <a:noFill/>
          <a:ln/>
        </p:spPr>
        <p:txBody>
          <a:bodyPr wrap="square" lIns="0" tIns="0" rIns="0" bIns="0" rtlCol="0" anchor="ctr"/>
          <a:lstStyle/>
          <a:p>
            <a:pPr algn="ctr" indent="0" marL="0">
              <a:buNone/>
            </a:pPr>
            <a:r>
              <a:rPr lang="en-US" sz="1050" b="1" dirty="0">
                <a:solidFill>
                  <a:srgbClr val="16305B"/>
                </a:solidFill>
                <a:latin typeface="Malgun Gothic" pitchFamily="34" charset="0"/>
                <a:ea typeface="Malgun Gothic" pitchFamily="34" charset="-122"/>
                <a:cs typeface="Malgun Gothic" pitchFamily="34" charset="-120"/>
              </a:rPr>
              <a:t>입    구</a:t>
            </a:r>
            <a:endParaRPr lang="en-US" sz="1050" dirty="0"/>
          </a:p>
        </p:txBody>
      </p:sp>
      <p:sp>
        <p:nvSpPr>
          <p:cNvPr id="11" name="Text 9"/>
          <p:cNvSpPr txBox="1"/>
          <p:nvPr/>
        </p:nvSpPr>
        <p:spPr>
          <a:xfrm>
            <a:off x="1709928" y="2386584"/>
            <a:ext cx="3017520" cy="219456"/>
          </a:xfrm>
          <a:prstGeom prst="rect">
            <a:avLst/>
          </a:prstGeom>
          <a:noFill/>
          <a:ln/>
        </p:spPr>
        <p:txBody>
          <a:bodyPr wrap="square" lIns="0" tIns="0" rIns="0" bIns="0" rtlCol="0" anchor="ctr"/>
          <a:lstStyle/>
          <a:p>
            <a:pPr algn="ctr" indent="0" marL="0">
              <a:buNone/>
            </a:pPr>
            <a:r>
              <a:rPr lang="en-US" sz="800" dirty="0">
                <a:solidFill>
                  <a:srgbClr val="6B7A8F"/>
                </a:solidFill>
                <a:latin typeface="Malgun Gothic" pitchFamily="34" charset="0"/>
                <a:ea typeface="Malgun Gothic" pitchFamily="34" charset="-122"/>
                <a:cs typeface="Malgun Gothic" pitchFamily="34" charset="-120"/>
              </a:rPr>
              <a:t>▼</a:t>
            </a:r>
            <a:endParaRPr lang="en-US" sz="800" dirty="0"/>
          </a:p>
        </p:txBody>
      </p:sp>
      <p:sp>
        <p:nvSpPr>
          <p:cNvPr id="12" name="Shape 10"/>
          <p:cNvSpPr/>
          <p:nvPr/>
        </p:nvSpPr>
        <p:spPr>
          <a:xfrm>
            <a:off x="1709928" y="2606040"/>
            <a:ext cx="3017520" cy="420624"/>
          </a:xfrm>
          <a:prstGeom prst="roundRect">
            <a:avLst>
              <a:gd name="adj" fmla="val 13043"/>
            </a:avLst>
          </a:prstGeom>
          <a:solidFill>
            <a:srgbClr val="16305B"/>
          </a:solidFill>
          <a:ln w="12700">
            <a:solidFill>
              <a:srgbClr val="16305B"/>
            </a:solidFill>
            <a:prstDash val="solid"/>
          </a:ln>
        </p:spPr>
      </p:sp>
      <p:sp>
        <p:nvSpPr>
          <p:cNvPr id="13" name="Text 11"/>
          <p:cNvSpPr txBox="1"/>
          <p:nvPr/>
        </p:nvSpPr>
        <p:spPr>
          <a:xfrm>
            <a:off x="1709928" y="2606040"/>
            <a:ext cx="301752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하단 유로 — 1차 통과</a:t>
            </a:r>
            <a:endParaRPr lang="en-US" sz="1050" dirty="0"/>
          </a:p>
        </p:txBody>
      </p:sp>
      <p:sp>
        <p:nvSpPr>
          <p:cNvPr id="14" name="Text 12"/>
          <p:cNvSpPr txBox="1"/>
          <p:nvPr/>
        </p:nvSpPr>
        <p:spPr>
          <a:xfrm>
            <a:off x="1709928" y="3026664"/>
            <a:ext cx="3017520" cy="219456"/>
          </a:xfrm>
          <a:prstGeom prst="rect">
            <a:avLst/>
          </a:prstGeom>
          <a:noFill/>
          <a:ln/>
        </p:spPr>
        <p:txBody>
          <a:bodyPr wrap="square" lIns="0" tIns="0" rIns="0" bIns="0" rtlCol="0" anchor="ctr"/>
          <a:lstStyle/>
          <a:p>
            <a:pPr algn="ctr" indent="0" marL="0">
              <a:buNone/>
            </a:pPr>
            <a:r>
              <a:rPr lang="en-US" sz="800" dirty="0">
                <a:solidFill>
                  <a:srgbClr val="6B7A8F"/>
                </a:solidFill>
                <a:latin typeface="Malgun Gothic" pitchFamily="34" charset="0"/>
                <a:ea typeface="Malgun Gothic" pitchFamily="34" charset="-122"/>
                <a:cs typeface="Malgun Gothic" pitchFamily="34" charset="-120"/>
              </a:rPr>
              <a:t>▼</a:t>
            </a:r>
            <a:endParaRPr lang="en-US" sz="800" dirty="0"/>
          </a:p>
        </p:txBody>
      </p:sp>
      <p:sp>
        <p:nvSpPr>
          <p:cNvPr id="15" name="Shape 13"/>
          <p:cNvSpPr/>
          <p:nvPr/>
        </p:nvSpPr>
        <p:spPr>
          <a:xfrm>
            <a:off x="1709928" y="3246120"/>
            <a:ext cx="3017520" cy="420624"/>
          </a:xfrm>
          <a:prstGeom prst="roundRect">
            <a:avLst>
              <a:gd name="adj" fmla="val 13043"/>
            </a:avLst>
          </a:prstGeom>
          <a:solidFill>
            <a:srgbClr val="00A3C4"/>
          </a:solidFill>
          <a:ln w="12700">
            <a:solidFill>
              <a:srgbClr val="00A3C4"/>
            </a:solidFill>
            <a:prstDash val="solid"/>
          </a:ln>
        </p:spPr>
      </p:sp>
      <p:sp>
        <p:nvSpPr>
          <p:cNvPr id="16" name="Text 14"/>
          <p:cNvSpPr txBox="1"/>
          <p:nvPr/>
        </p:nvSpPr>
        <p:spPr>
          <a:xfrm>
            <a:off x="1709928" y="3246120"/>
            <a:ext cx="301752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분    기</a:t>
            </a:r>
            <a:endParaRPr lang="en-US" sz="1050" dirty="0"/>
          </a:p>
        </p:txBody>
      </p:sp>
      <p:sp>
        <p:nvSpPr>
          <p:cNvPr id="17" name="Text 15"/>
          <p:cNvSpPr txBox="1"/>
          <p:nvPr/>
        </p:nvSpPr>
        <p:spPr>
          <a:xfrm>
            <a:off x="1709928" y="3666744"/>
            <a:ext cx="3017520" cy="219456"/>
          </a:xfrm>
          <a:prstGeom prst="rect">
            <a:avLst/>
          </a:prstGeom>
          <a:noFill/>
          <a:ln/>
        </p:spPr>
        <p:txBody>
          <a:bodyPr wrap="square" lIns="0" tIns="0" rIns="0" bIns="0" rtlCol="0" anchor="ctr"/>
          <a:lstStyle/>
          <a:p>
            <a:pPr algn="ctr" indent="0" marL="0">
              <a:buNone/>
            </a:pPr>
            <a:r>
              <a:rPr lang="en-US" sz="800" dirty="0">
                <a:solidFill>
                  <a:srgbClr val="6B7A8F"/>
                </a:solidFill>
                <a:latin typeface="Malgun Gothic" pitchFamily="34" charset="0"/>
                <a:ea typeface="Malgun Gothic" pitchFamily="34" charset="-122"/>
                <a:cs typeface="Malgun Gothic" pitchFamily="34" charset="-120"/>
              </a:rPr>
              <a:t>▼</a:t>
            </a:r>
            <a:endParaRPr lang="en-US" sz="800" dirty="0"/>
          </a:p>
        </p:txBody>
      </p:sp>
      <p:sp>
        <p:nvSpPr>
          <p:cNvPr id="18" name="Shape 16"/>
          <p:cNvSpPr/>
          <p:nvPr/>
        </p:nvSpPr>
        <p:spPr>
          <a:xfrm>
            <a:off x="868680" y="3886200"/>
            <a:ext cx="2194560" cy="420624"/>
          </a:xfrm>
          <a:prstGeom prst="roundRect">
            <a:avLst>
              <a:gd name="adj" fmla="val 13043"/>
            </a:avLst>
          </a:prstGeom>
          <a:solidFill>
            <a:srgbClr val="EEF2F7"/>
          </a:solidFill>
          <a:ln w="9525">
            <a:solidFill>
              <a:srgbClr val="DDE3EB"/>
            </a:solidFill>
            <a:prstDash val="solid"/>
          </a:ln>
        </p:spPr>
      </p:sp>
      <p:sp>
        <p:nvSpPr>
          <p:cNvPr id="19" name="Text 17"/>
          <p:cNvSpPr txBox="1"/>
          <p:nvPr/>
        </p:nvSpPr>
        <p:spPr>
          <a:xfrm>
            <a:off x="868680" y="3886200"/>
            <a:ext cx="2194560" cy="420624"/>
          </a:xfrm>
          <a:prstGeom prst="rect">
            <a:avLst/>
          </a:prstGeom>
          <a:noFill/>
          <a:ln/>
        </p:spPr>
        <p:txBody>
          <a:bodyPr wrap="square" lIns="0" tIns="0" rIns="0" bIns="0" rtlCol="0" anchor="ctr"/>
          <a:lstStyle/>
          <a:p>
            <a:pPr algn="ctr" indent="0" marL="0">
              <a:buNone/>
            </a:pPr>
            <a:r>
              <a:rPr lang="en-US" sz="1000" b="1" dirty="0">
                <a:solidFill>
                  <a:srgbClr val="16305B"/>
                </a:solidFill>
                <a:latin typeface="Malgun Gothic" pitchFamily="34" charset="0"/>
                <a:ea typeface="Malgun Gothic" pitchFamily="34" charset="-122"/>
                <a:cs typeface="Malgun Gothic" pitchFamily="34" charset="-120"/>
              </a:rPr>
              <a:t>전원공급모듈</a:t>
            </a:r>
            <a:endParaRPr lang="en-US" sz="1000" dirty="0"/>
          </a:p>
        </p:txBody>
      </p:sp>
      <p:sp>
        <p:nvSpPr>
          <p:cNvPr id="20" name="Shape 18"/>
          <p:cNvSpPr/>
          <p:nvPr/>
        </p:nvSpPr>
        <p:spPr>
          <a:xfrm>
            <a:off x="3383280" y="3886200"/>
            <a:ext cx="2194560" cy="420624"/>
          </a:xfrm>
          <a:prstGeom prst="roundRect">
            <a:avLst>
              <a:gd name="adj" fmla="val 13043"/>
            </a:avLst>
          </a:prstGeom>
          <a:solidFill>
            <a:srgbClr val="16305B"/>
          </a:solidFill>
          <a:ln w="12700">
            <a:solidFill>
              <a:srgbClr val="16305B"/>
            </a:solidFill>
            <a:prstDash val="solid"/>
          </a:ln>
        </p:spPr>
      </p:sp>
      <p:sp>
        <p:nvSpPr>
          <p:cNvPr id="21" name="Text 19"/>
          <p:cNvSpPr txBox="1"/>
          <p:nvPr/>
        </p:nvSpPr>
        <p:spPr>
          <a:xfrm>
            <a:off x="3383280" y="3886200"/>
            <a:ext cx="2194560" cy="420624"/>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상단 유로 — 2차 통과</a:t>
            </a:r>
            <a:endParaRPr lang="en-US" sz="950" dirty="0"/>
          </a:p>
        </p:txBody>
      </p:sp>
      <p:sp>
        <p:nvSpPr>
          <p:cNvPr id="22" name="Text 20"/>
          <p:cNvSpPr txBox="1"/>
          <p:nvPr/>
        </p:nvSpPr>
        <p:spPr>
          <a:xfrm>
            <a:off x="1709928" y="4306824"/>
            <a:ext cx="3017520" cy="219456"/>
          </a:xfrm>
          <a:prstGeom prst="rect">
            <a:avLst/>
          </a:prstGeom>
          <a:noFill/>
          <a:ln/>
        </p:spPr>
        <p:txBody>
          <a:bodyPr wrap="square" lIns="0" tIns="0" rIns="0" bIns="0" rtlCol="0" anchor="ctr"/>
          <a:lstStyle/>
          <a:p>
            <a:pPr algn="ctr" indent="0" marL="0">
              <a:buNone/>
            </a:pPr>
            <a:r>
              <a:rPr lang="en-US" sz="800" dirty="0">
                <a:solidFill>
                  <a:srgbClr val="6B7A8F"/>
                </a:solidFill>
                <a:latin typeface="Malgun Gothic" pitchFamily="34" charset="0"/>
                <a:ea typeface="Malgun Gothic" pitchFamily="34" charset="-122"/>
                <a:cs typeface="Malgun Gothic" pitchFamily="34" charset="-120"/>
              </a:rPr>
              <a:t>▼</a:t>
            </a:r>
            <a:endParaRPr lang="en-US" sz="800" dirty="0"/>
          </a:p>
        </p:txBody>
      </p:sp>
      <p:sp>
        <p:nvSpPr>
          <p:cNvPr id="23" name="Shape 21"/>
          <p:cNvSpPr/>
          <p:nvPr/>
        </p:nvSpPr>
        <p:spPr>
          <a:xfrm>
            <a:off x="1709928" y="4526280"/>
            <a:ext cx="3017520" cy="420624"/>
          </a:xfrm>
          <a:prstGeom prst="roundRect">
            <a:avLst>
              <a:gd name="adj" fmla="val 13043"/>
            </a:avLst>
          </a:prstGeom>
          <a:solidFill>
            <a:srgbClr val="EEF2F7"/>
          </a:solidFill>
          <a:ln w="9525">
            <a:solidFill>
              <a:srgbClr val="DDE3EB"/>
            </a:solidFill>
            <a:prstDash val="solid"/>
          </a:ln>
        </p:spPr>
      </p:sp>
      <p:sp>
        <p:nvSpPr>
          <p:cNvPr id="24" name="Text 22"/>
          <p:cNvSpPr txBox="1"/>
          <p:nvPr/>
        </p:nvSpPr>
        <p:spPr>
          <a:xfrm>
            <a:off x="1709928" y="4526280"/>
            <a:ext cx="3017520" cy="420624"/>
          </a:xfrm>
          <a:prstGeom prst="rect">
            <a:avLst/>
          </a:prstGeom>
          <a:noFill/>
          <a:ln/>
        </p:spPr>
        <p:txBody>
          <a:bodyPr wrap="square" lIns="0" tIns="0" rIns="0" bIns="0" rtlCol="0" anchor="ctr"/>
          <a:lstStyle/>
          <a:p>
            <a:pPr algn="ctr" indent="0" marL="0">
              <a:buNone/>
            </a:pPr>
            <a:r>
              <a:rPr lang="en-US" sz="1050" b="1" dirty="0">
                <a:solidFill>
                  <a:srgbClr val="16305B"/>
                </a:solidFill>
                <a:latin typeface="Malgun Gothic" pitchFamily="34" charset="0"/>
                <a:ea typeface="Malgun Gothic" pitchFamily="34" charset="-122"/>
                <a:cs typeface="Malgun Gothic" pitchFamily="34" charset="-120"/>
              </a:rPr>
              <a:t>합류  →  출구</a:t>
            </a:r>
            <a:endParaRPr lang="en-US" sz="1050" dirty="0"/>
          </a:p>
        </p:txBody>
      </p:sp>
      <p:sp>
        <p:nvSpPr>
          <p:cNvPr id="25" name="Text 23"/>
          <p:cNvSpPr txBox="1"/>
          <p:nvPr/>
        </p:nvSpPr>
        <p:spPr>
          <a:xfrm>
            <a:off x="813816" y="4983480"/>
            <a:ext cx="4846320" cy="100584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총 유량 4 LPM 고정 / 발열채널 9개 (채널당 40 W)</a:t>
            </a:r>
            <a:endParaRPr lang="en-US" sz="1000" dirty="0"/>
          </a:p>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분기 구조 — 한쪽 경로가 유량을 많이 가져가면 반대쪽은 필연적으로 감소</a:t>
            </a:r>
            <a:endParaRPr lang="en-US" sz="1000" dirty="0"/>
          </a:p>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변수 간 상호작용이 커 개별 튜닝으로는 최적점 탐색이 어려움</a:t>
            </a:r>
            <a:endParaRPr lang="en-US" sz="1000" dirty="0"/>
          </a:p>
        </p:txBody>
      </p:sp>
      <p:sp>
        <p:nvSpPr>
          <p:cNvPr id="26" name="Shape 24"/>
          <p:cNvSpPr/>
          <p:nvPr/>
        </p:nvSpPr>
        <p:spPr>
          <a:xfrm>
            <a:off x="6336792" y="1188720"/>
            <a:ext cx="5440680" cy="5120640"/>
          </a:xfrm>
          <a:prstGeom prst="roundRect">
            <a:avLst>
              <a:gd name="adj" fmla="val 107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7" name="Shape 25"/>
          <p:cNvSpPr/>
          <p:nvPr/>
        </p:nvSpPr>
        <p:spPr>
          <a:xfrm>
            <a:off x="6592824" y="1463040"/>
            <a:ext cx="82296" cy="182880"/>
          </a:xfrm>
          <a:prstGeom prst="rect">
            <a:avLst/>
          </a:prstGeom>
          <a:solidFill>
            <a:srgbClr val="00A3C4"/>
          </a:solidFill>
          <a:ln w="12700">
            <a:solidFill>
              <a:srgbClr val="00A3C4"/>
            </a:solidFill>
            <a:prstDash val="solid"/>
          </a:ln>
        </p:spPr>
      </p:sp>
      <p:sp>
        <p:nvSpPr>
          <p:cNvPr id="28" name="Text 26"/>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설계변수 — 자유 9종</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47688" y="1901952"/>
          <a:ext cx="4846320" cy="914400"/>
        </p:xfrm>
        <a:graphic>
          <a:graphicData uri="http://schemas.openxmlformats.org/drawingml/2006/table">
            <a:tbl>
              <a:tblPr/>
              <a:tblGrid>
                <a:gridCol w="2743200"/>
                <a:gridCol w="2103120"/>
              </a:tblGrid>
              <a:tr h="269748">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설계변수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범위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6974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input_thick / input_angle</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13 ~ 25 mm / 90 ~ 150°</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power_input_thick</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3 ~ 20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mid_thick / mid_angle</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10 ~ 25 mm / 90 ~ 140°</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mid_input_thick</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10 ~ 25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output_thick</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13 ~ 35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fin_thick (방열핀 두께)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1.5 ~ 3.0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69748">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fin_count (방열핀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10 ~ 21 개 (정수)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0" name="Text 27"/>
          <p:cNvSpPr txBox="1"/>
          <p:nvPr/>
        </p:nvSpPr>
        <p:spPr>
          <a:xfrm>
            <a:off x="6647688" y="4005072"/>
            <a:ext cx="4846320" cy="274320"/>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고정 파라미터 2종</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647688" y="4315968"/>
          <a:ext cx="4846320" cy="914400"/>
        </p:xfrm>
        <a:graphic>
          <a:graphicData uri="http://schemas.openxmlformats.org/drawingml/2006/table">
            <a:tbl>
              <a:tblPr/>
              <a:tblGrid>
                <a:gridCol w="1600200"/>
                <a:gridCol w="777240"/>
                <a:gridCol w="2468880"/>
              </a:tblGrid>
              <a:tr h="310896">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고정 근거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power_output_thick</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25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사전 분석 결과 트레이드오프 없음</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fin_height</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8.0 mm</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우회공간 제거 (메싱 안정성 확보)</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2" name="Shape 28"/>
          <p:cNvSpPr/>
          <p:nvPr/>
        </p:nvSpPr>
        <p:spPr>
          <a:xfrm>
            <a:off x="6647688" y="5504688"/>
            <a:ext cx="4846320" cy="530352"/>
          </a:xfrm>
          <a:prstGeom prst="roundRect">
            <a:avLst>
              <a:gd name="adj" fmla="val 10345"/>
            </a:avLst>
          </a:prstGeom>
          <a:solidFill>
            <a:srgbClr val="16305B"/>
          </a:solidFill>
          <a:ln/>
        </p:spPr>
      </p:sp>
      <p:sp>
        <p:nvSpPr>
          <p:cNvPr id="33" name="Text 29"/>
          <p:cNvSpPr txBox="1"/>
          <p:nvPr/>
        </p:nvSpPr>
        <p:spPr>
          <a:xfrm>
            <a:off x="6647688" y="5504688"/>
            <a:ext cx="4846320" cy="530352"/>
          </a:xfrm>
          <a:prstGeom prst="rect">
            <a:avLst/>
          </a:prstGeom>
          <a:noFill/>
          <a:ln/>
        </p:spPr>
        <p:txBody>
          <a:bodyPr wrap="square" lIns="0" tIns="0" rIns="0" bIns="0" rtlCol="0" anchor="ctr"/>
          <a:lstStyle/>
          <a:p>
            <a:pPr algn="ctr" indent="0" marL="0">
              <a:buNone/>
            </a:pPr>
            <a:r>
              <a:rPr lang="en-US" sz="1150" b="1" dirty="0">
                <a:solidFill>
                  <a:srgbClr val="FFFFFF"/>
                </a:solidFill>
                <a:latin typeface="Malgun Gothic" pitchFamily="34" charset="0"/>
                <a:ea typeface="Malgun Gothic" pitchFamily="34" charset="-122"/>
                <a:cs typeface="Malgun Gothic" pitchFamily="34" charset="-120"/>
              </a:rPr>
              <a:t>9차원 설계공간 → 전수탐색 불가능</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02</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설계변수 정의 및 설계공간 설정</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방열핀 배치 및 가공 제약 · 평가 항목</a:t>
            </a:r>
            <a:endParaRPr lang="en-US" sz="2200" dirty="0"/>
          </a:p>
        </p:txBody>
      </p:sp>
      <p:sp>
        <p:nvSpPr>
          <p:cNvPr id="6" name="Shape 4"/>
          <p:cNvSpPr/>
          <p:nvPr/>
        </p:nvSpPr>
        <p:spPr>
          <a:xfrm>
            <a:off x="502920" y="1188720"/>
            <a:ext cx="5440680" cy="5120640"/>
          </a:xfrm>
          <a:prstGeom prst="roundRect">
            <a:avLst>
              <a:gd name="adj" fmla="val 107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방열핀 등간격 배치</a:t>
            </a:r>
            <a:endParaRPr lang="en-US" sz="1300" dirty="0"/>
          </a:p>
        </p:txBody>
      </p:sp>
      <p:sp>
        <p:nvSpPr>
          <p:cNvPr id="9" name="Shape 7"/>
          <p:cNvSpPr/>
          <p:nvPr/>
        </p:nvSpPr>
        <p:spPr>
          <a:xfrm>
            <a:off x="868680" y="1965960"/>
            <a:ext cx="4736592" cy="960120"/>
          </a:xfrm>
          <a:prstGeom prst="rect">
            <a:avLst/>
          </a:prstGeom>
          <a:solidFill>
            <a:srgbClr val="EEF2F7"/>
          </a:solidFill>
          <a:ln w="12700">
            <a:solidFill>
              <a:srgbClr val="16305B"/>
            </a:solidFill>
            <a:prstDash val="solid"/>
          </a:ln>
        </p:spPr>
      </p:sp>
      <p:sp>
        <p:nvSpPr>
          <p:cNvPr id="10" name="Shape 8"/>
          <p:cNvSpPr/>
          <p:nvPr/>
        </p:nvSpPr>
        <p:spPr>
          <a:xfrm>
            <a:off x="1252728" y="2084832"/>
            <a:ext cx="237744" cy="722376"/>
          </a:xfrm>
          <a:prstGeom prst="rect">
            <a:avLst/>
          </a:prstGeom>
          <a:solidFill>
            <a:srgbClr val="16305B"/>
          </a:solidFill>
          <a:ln w="12700">
            <a:solidFill>
              <a:srgbClr val="16305B"/>
            </a:solidFill>
            <a:prstDash val="solid"/>
          </a:ln>
        </p:spPr>
      </p:sp>
      <p:sp>
        <p:nvSpPr>
          <p:cNvPr id="11" name="Shape 9"/>
          <p:cNvSpPr/>
          <p:nvPr/>
        </p:nvSpPr>
        <p:spPr>
          <a:xfrm>
            <a:off x="1874520" y="2084832"/>
            <a:ext cx="237744" cy="722376"/>
          </a:xfrm>
          <a:prstGeom prst="rect">
            <a:avLst/>
          </a:prstGeom>
          <a:solidFill>
            <a:srgbClr val="16305B"/>
          </a:solidFill>
          <a:ln w="12700">
            <a:solidFill>
              <a:srgbClr val="16305B"/>
            </a:solidFill>
            <a:prstDash val="solid"/>
          </a:ln>
        </p:spPr>
      </p:sp>
      <p:sp>
        <p:nvSpPr>
          <p:cNvPr id="12" name="Shape 10"/>
          <p:cNvSpPr/>
          <p:nvPr/>
        </p:nvSpPr>
        <p:spPr>
          <a:xfrm>
            <a:off x="2496312" y="2084832"/>
            <a:ext cx="237744" cy="722376"/>
          </a:xfrm>
          <a:prstGeom prst="rect">
            <a:avLst/>
          </a:prstGeom>
          <a:solidFill>
            <a:srgbClr val="16305B"/>
          </a:solidFill>
          <a:ln w="12700">
            <a:solidFill>
              <a:srgbClr val="16305B"/>
            </a:solidFill>
            <a:prstDash val="solid"/>
          </a:ln>
        </p:spPr>
      </p:sp>
      <p:sp>
        <p:nvSpPr>
          <p:cNvPr id="13" name="Shape 11"/>
          <p:cNvSpPr/>
          <p:nvPr/>
        </p:nvSpPr>
        <p:spPr>
          <a:xfrm>
            <a:off x="3118104" y="2084832"/>
            <a:ext cx="237744" cy="722376"/>
          </a:xfrm>
          <a:prstGeom prst="rect">
            <a:avLst/>
          </a:prstGeom>
          <a:solidFill>
            <a:srgbClr val="16305B"/>
          </a:solidFill>
          <a:ln w="12700">
            <a:solidFill>
              <a:srgbClr val="16305B"/>
            </a:solidFill>
            <a:prstDash val="solid"/>
          </a:ln>
        </p:spPr>
      </p:sp>
      <p:sp>
        <p:nvSpPr>
          <p:cNvPr id="14" name="Shape 12"/>
          <p:cNvSpPr/>
          <p:nvPr/>
        </p:nvSpPr>
        <p:spPr>
          <a:xfrm>
            <a:off x="3739896" y="2084832"/>
            <a:ext cx="237744" cy="722376"/>
          </a:xfrm>
          <a:prstGeom prst="rect">
            <a:avLst/>
          </a:prstGeom>
          <a:solidFill>
            <a:srgbClr val="16305B"/>
          </a:solidFill>
          <a:ln w="12700">
            <a:solidFill>
              <a:srgbClr val="16305B"/>
            </a:solidFill>
            <a:prstDash val="solid"/>
          </a:ln>
        </p:spPr>
      </p:sp>
      <p:sp>
        <p:nvSpPr>
          <p:cNvPr id="15" name="Shape 13"/>
          <p:cNvSpPr/>
          <p:nvPr/>
        </p:nvSpPr>
        <p:spPr>
          <a:xfrm>
            <a:off x="4361688" y="2084832"/>
            <a:ext cx="237744" cy="722376"/>
          </a:xfrm>
          <a:prstGeom prst="rect">
            <a:avLst/>
          </a:prstGeom>
          <a:solidFill>
            <a:srgbClr val="16305B"/>
          </a:solidFill>
          <a:ln w="12700">
            <a:solidFill>
              <a:srgbClr val="16305B"/>
            </a:solidFill>
            <a:prstDash val="solid"/>
          </a:ln>
        </p:spPr>
      </p:sp>
      <p:sp>
        <p:nvSpPr>
          <p:cNvPr id="16" name="Shape 14"/>
          <p:cNvSpPr/>
          <p:nvPr/>
        </p:nvSpPr>
        <p:spPr>
          <a:xfrm>
            <a:off x="4983480" y="2084832"/>
            <a:ext cx="237744" cy="722376"/>
          </a:xfrm>
          <a:prstGeom prst="rect">
            <a:avLst/>
          </a:prstGeom>
          <a:solidFill>
            <a:srgbClr val="16305B"/>
          </a:solidFill>
          <a:ln w="12700">
            <a:solidFill>
              <a:srgbClr val="16305B"/>
            </a:solidFill>
            <a:prstDash val="solid"/>
          </a:ln>
        </p:spPr>
      </p:sp>
      <p:sp>
        <p:nvSpPr>
          <p:cNvPr id="17" name="Text 15"/>
          <p:cNvSpPr txBox="1"/>
          <p:nvPr/>
        </p:nvSpPr>
        <p:spPr>
          <a:xfrm>
            <a:off x="1252728" y="2944368"/>
            <a:ext cx="237744" cy="219456"/>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t</a:t>
            </a:r>
            <a:endParaRPr lang="en-US" sz="900" dirty="0"/>
          </a:p>
        </p:txBody>
      </p:sp>
      <p:sp>
        <p:nvSpPr>
          <p:cNvPr id="18" name="Text 16"/>
          <p:cNvSpPr txBox="1"/>
          <p:nvPr/>
        </p:nvSpPr>
        <p:spPr>
          <a:xfrm>
            <a:off x="1874520" y="2944368"/>
            <a:ext cx="384048" cy="219456"/>
          </a:xfrm>
          <a:prstGeom prst="rect">
            <a:avLst/>
          </a:prstGeom>
          <a:noFill/>
          <a:ln/>
        </p:spPr>
        <p:txBody>
          <a:bodyPr wrap="square" lIns="0" tIns="0" rIns="0" bIns="0" rtlCol="0" anchor="ctr"/>
          <a:lstStyle/>
          <a:p>
            <a:pPr algn="ctr" indent="0" marL="0">
              <a:buNone/>
            </a:pPr>
            <a:r>
              <a:rPr lang="en-US" sz="900" b="1" dirty="0">
                <a:solidFill>
                  <a:srgbClr val="00A3C4"/>
                </a:solidFill>
                <a:latin typeface="Malgun Gothic" pitchFamily="34" charset="0"/>
                <a:ea typeface="Malgun Gothic" pitchFamily="34" charset="-122"/>
                <a:cs typeface="Malgun Gothic" pitchFamily="34" charset="-120"/>
              </a:rPr>
              <a:t>g</a:t>
            </a:r>
            <a:endParaRPr lang="en-US" sz="900" dirty="0"/>
          </a:p>
        </p:txBody>
      </p:sp>
      <p:sp>
        <p:nvSpPr>
          <p:cNvPr id="19" name="Shape 17"/>
          <p:cNvSpPr/>
          <p:nvPr/>
        </p:nvSpPr>
        <p:spPr>
          <a:xfrm>
            <a:off x="868680" y="3273552"/>
            <a:ext cx="4736592" cy="822960"/>
          </a:xfrm>
          <a:prstGeom prst="roundRect">
            <a:avLst>
              <a:gd name="adj" fmla="val 6667"/>
            </a:avLst>
          </a:prstGeom>
          <a:solidFill>
            <a:srgbClr val="F7F9FC"/>
          </a:solidFill>
          <a:ln w="9525">
            <a:solidFill>
              <a:srgbClr val="DDE3EB"/>
            </a:solidFill>
            <a:prstDash val="solid"/>
          </a:ln>
        </p:spPr>
      </p:sp>
      <p:sp>
        <p:nvSpPr>
          <p:cNvPr id="20" name="Text 18"/>
          <p:cNvSpPr txBox="1"/>
          <p:nvPr/>
        </p:nvSpPr>
        <p:spPr>
          <a:xfrm>
            <a:off x="1005840" y="3328416"/>
            <a:ext cx="4480560" cy="713232"/>
          </a:xfrm>
          <a:prstGeom prst="rect">
            <a:avLst/>
          </a:prstGeom>
          <a:noFill/>
          <a:ln/>
        </p:spPr>
        <p:txBody>
          <a:bodyPr wrap="square" lIns="0" tIns="0" rIns="0" bIns="0" rtlCol="0" anchor="ctr"/>
          <a:lstStyle/>
          <a:p>
            <a:pPr indent="0" marL="0">
              <a:lnSpc>
                <a:spcPct val="130000"/>
              </a:lnSpc>
              <a:buNone/>
            </a:pPr>
            <a:r>
              <a:rPr lang="en-US" sz="1100" b="1" dirty="0">
                <a:solidFill>
                  <a:srgbClr val="16305B"/>
                </a:solidFill>
                <a:latin typeface="Malgun Gothic" pitchFamily="34" charset="0"/>
                <a:ea typeface="Malgun Gothic" pitchFamily="34" charset="-122"/>
                <a:cs typeface="Malgun Gothic" pitchFamily="34" charset="-120"/>
              </a:rPr>
              <a:t>L = N·t + (N+1)·g</a:t>
            </a:r>
            <a:endParaRPr lang="en-US" sz="1100" dirty="0"/>
          </a:p>
          <a:p>
            <a:pPr indent="0" marL="0">
              <a:lnSpc>
                <a:spcPct val="130000"/>
              </a:lnSpc>
              <a:buNone/>
            </a:pPr>
            <a:r>
              <a:rPr lang="en-US" sz="1100" dirty="0">
                <a:solidFill>
                  <a:srgbClr val="1C2733"/>
                </a:solidFill>
                <a:latin typeface="Malgun Gothic" pitchFamily="34" charset="0"/>
                <a:ea typeface="Malgun Gothic" pitchFamily="34" charset="-122"/>
                <a:cs typeface="Malgun Gothic" pitchFamily="34" charset="-120"/>
              </a:rPr>
              <a:t>g = ( L − N·t ) / ( N+1 )        L = 86.5 mm (핀뱅크 길이)</a:t>
            </a:r>
            <a:endParaRPr lang="en-US" sz="1100" dirty="0"/>
          </a:p>
        </p:txBody>
      </p:sp>
      <p:sp>
        <p:nvSpPr>
          <p:cNvPr id="21" name="Text 19"/>
          <p:cNvSpPr txBox="1"/>
          <p:nvPr/>
        </p:nvSpPr>
        <p:spPr>
          <a:xfrm>
            <a:off x="813816" y="4251960"/>
            <a:ext cx="4846320" cy="118872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폐합조건 하나로 벽↔핀 / 핀↔핀 / 핀↔벽 간격이 자동으로 동일</a:t>
            </a:r>
            <a:endParaRPr lang="en-US" sz="1000" dirty="0"/>
          </a:p>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갭은 설계변수가 아닌 종속 계산값 — CAD 수식으로 자체 산출</a:t>
            </a:r>
            <a:endParaRPr lang="en-US" sz="1000" dirty="0"/>
          </a:p>
          <a:p>
            <a:pPr marL="342900" indent="-342900">
              <a:lnSpc>
                <a:spcPct val="125000"/>
              </a:lnSpc>
              <a:spcAft>
                <a:spcPts val="500"/>
              </a:spcAft>
              <a:buSzPct val="100000"/>
              <a:buChar char="•"/>
            </a:pPr>
            <a:r>
              <a:rPr lang="en-US" sz="1000" b="1" dirty="0">
                <a:solidFill>
                  <a:srgbClr val="1C2733"/>
                </a:solidFill>
                <a:latin typeface="Malgun Gothic" pitchFamily="34" charset="0"/>
                <a:ea typeface="Malgun Gothic" pitchFamily="34" charset="-122"/>
                <a:cs typeface="Malgun Gothic" pitchFamily="34" charset="-120"/>
              </a:rPr>
              <a:t>가공 제약 : 갭 ≥ 2.5 mm (밀링 가공 한계 · 메시 확보)</a:t>
            </a:r>
            <a:endParaRPr lang="en-US" sz="1000" dirty="0"/>
          </a:p>
        </p:txBody>
      </p:sp>
      <p:sp>
        <p:nvSpPr>
          <p:cNvPr id="22" name="Shape 20"/>
          <p:cNvSpPr/>
          <p:nvPr/>
        </p:nvSpPr>
        <p:spPr>
          <a:xfrm>
            <a:off x="813816" y="5532120"/>
            <a:ext cx="4846320" cy="502920"/>
          </a:xfrm>
          <a:prstGeom prst="roundRect">
            <a:avLst>
              <a:gd name="adj" fmla="val 10909"/>
            </a:avLst>
          </a:prstGeom>
          <a:solidFill>
            <a:srgbClr val="EEF2F7"/>
          </a:solidFill>
          <a:ln w="12700">
            <a:solidFill>
              <a:srgbClr val="EEF2F7"/>
            </a:solidFill>
            <a:prstDash val="solid"/>
          </a:ln>
        </p:spPr>
      </p:sp>
      <p:sp>
        <p:nvSpPr>
          <p:cNvPr id="23" name="Text 21"/>
          <p:cNvSpPr txBox="1"/>
          <p:nvPr/>
        </p:nvSpPr>
        <p:spPr>
          <a:xfrm>
            <a:off x="914400" y="5532120"/>
            <a:ext cx="4663440" cy="502920"/>
          </a:xfrm>
          <a:prstGeom prst="rect">
            <a:avLst/>
          </a:prstGeom>
          <a:noFill/>
          <a:ln/>
        </p:spPr>
        <p:txBody>
          <a:bodyPr wrap="square" lIns="0" tIns="0" rIns="0" bIns="0" rtlCol="0" anchor="ctr"/>
          <a:lstStyle/>
          <a:p>
            <a:pPr indent="0" marL="0">
              <a:buNone/>
            </a:pPr>
            <a:r>
              <a:rPr lang="en-US" sz="950" dirty="0">
                <a:solidFill>
                  <a:srgbClr val="16305B"/>
                </a:solidFill>
                <a:latin typeface="Malgun Gothic" pitchFamily="34" charset="0"/>
                <a:ea typeface="Malgun Gothic" pitchFamily="34" charset="-122"/>
                <a:cs typeface="Malgun Gothic" pitchFamily="34" charset="-120"/>
              </a:rPr>
              <a:t>두께·개수 조합의 약 70%만 유효 — 두 변수가 독립이 아닌 유효영역 형성</a:t>
            </a:r>
            <a:endParaRPr lang="en-US" sz="950" dirty="0"/>
          </a:p>
        </p:txBody>
      </p:sp>
      <p:sp>
        <p:nvSpPr>
          <p:cNvPr id="24" name="Shape 22"/>
          <p:cNvSpPr/>
          <p:nvPr/>
        </p:nvSpPr>
        <p:spPr>
          <a:xfrm>
            <a:off x="6336792" y="1188720"/>
            <a:ext cx="5440680" cy="5120640"/>
          </a:xfrm>
          <a:prstGeom prst="roundRect">
            <a:avLst>
              <a:gd name="adj" fmla="val 107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5" name="Shape 23"/>
          <p:cNvSpPr/>
          <p:nvPr/>
        </p:nvSpPr>
        <p:spPr>
          <a:xfrm>
            <a:off x="6592824" y="1463040"/>
            <a:ext cx="82296" cy="182880"/>
          </a:xfrm>
          <a:prstGeom prst="rect">
            <a:avLst/>
          </a:prstGeom>
          <a:solidFill>
            <a:srgbClr val="00A3C4"/>
          </a:solidFill>
          <a:ln w="12700">
            <a:solidFill>
              <a:srgbClr val="00A3C4"/>
            </a:solidFill>
            <a:prstDash val="solid"/>
          </a:ln>
        </p:spPr>
      </p:sp>
      <p:sp>
        <p:nvSpPr>
          <p:cNvPr id="26" name="Text 24"/>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평가 항목 정의</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47688" y="1938528"/>
          <a:ext cx="4846320" cy="914400"/>
        </p:xfrm>
        <a:graphic>
          <a:graphicData uri="http://schemas.openxmlformats.org/drawingml/2006/table">
            <a:tbl>
              <a:tblPr/>
              <a:tblGrid>
                <a:gridCol w="1371600"/>
                <a:gridCol w="347472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목적함수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차압 (압력강하)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채널 온도편차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최고온도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유량 균일도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제약조건</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전원모듈 분기 유량비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총 중량</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28" name="Shape 25"/>
          <p:cNvSpPr/>
          <p:nvPr/>
        </p:nvSpPr>
        <p:spPr>
          <a:xfrm>
            <a:off x="6647688" y="4480560"/>
            <a:ext cx="4846320" cy="1371600"/>
          </a:xfrm>
          <a:prstGeom prst="roundRect">
            <a:avLst>
              <a:gd name="adj" fmla="val 4000"/>
            </a:avLst>
          </a:prstGeom>
          <a:solidFill>
            <a:srgbClr val="F7F9FC"/>
          </a:solidFill>
          <a:ln w="9525">
            <a:solidFill>
              <a:srgbClr val="DDE3EB"/>
            </a:solidFill>
            <a:prstDash val="solid"/>
          </a:ln>
        </p:spPr>
      </p:sp>
      <p:sp>
        <p:nvSpPr>
          <p:cNvPr id="29" name="Text 26"/>
          <p:cNvSpPr txBox="1"/>
          <p:nvPr/>
        </p:nvSpPr>
        <p:spPr>
          <a:xfrm>
            <a:off x="6839712" y="4626864"/>
            <a:ext cx="4480560" cy="274320"/>
          </a:xfrm>
          <a:prstGeom prst="rect">
            <a:avLst/>
          </a:prstGeom>
          <a:noFill/>
          <a:ln/>
        </p:spPr>
        <p:txBody>
          <a:bodyPr wrap="square" lIns="0" tIns="0" rIns="0" bIns="0" rtlCol="0" anchor="ctr"/>
          <a:lstStyle/>
          <a:p>
            <a:pPr indent="0" marL="0">
              <a:buNone/>
            </a:pPr>
            <a:r>
              <a:rPr lang="en-US" sz="1050" b="1" dirty="0">
                <a:solidFill>
                  <a:srgbClr val="00A3C4"/>
                </a:solidFill>
                <a:latin typeface="Malgun Gothic" pitchFamily="34" charset="0"/>
                <a:ea typeface="Malgun Gothic" pitchFamily="34" charset="-122"/>
                <a:cs typeface="Malgun Gothic" pitchFamily="34" charset="-120"/>
              </a:rPr>
              <a:t>본 단계 범위</a:t>
            </a:r>
            <a:endParaRPr lang="en-US" sz="1050" dirty="0"/>
          </a:p>
        </p:txBody>
      </p:sp>
      <p:sp>
        <p:nvSpPr>
          <p:cNvPr id="30" name="Text 27"/>
          <p:cNvSpPr txBox="1"/>
          <p:nvPr/>
        </p:nvSpPr>
        <p:spPr>
          <a:xfrm>
            <a:off x="6839712" y="4956048"/>
            <a:ext cx="4480560" cy="822960"/>
          </a:xfrm>
          <a:prstGeom prst="rect">
            <a:avLst/>
          </a:prstGeom>
          <a:noFill/>
          <a:ln/>
        </p:spPr>
        <p:txBody>
          <a:bodyPr wrap="square" lIns="0" tIns="0" rIns="0" bIns="0" rtlCol="0" anchor="ctr"/>
          <a:lstStyle/>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측정 · 기록 대상 항목의 정의까지 수행</a:t>
            </a:r>
            <a:endParaRPr lang="en-US" sz="1000" dirty="0"/>
          </a:p>
          <a:p>
            <a:pPr marL="342900" indent="-342900">
              <a:lnSpc>
                <a:spcPct val="125000"/>
              </a:lnSpc>
              <a:spcAft>
                <a:spcPts val="500"/>
              </a:spcAft>
              <a:buSzPct val="100000"/>
              <a:buChar char="•"/>
            </a:pPr>
            <a:r>
              <a:rPr lang="en-US" sz="1000" dirty="0">
                <a:solidFill>
                  <a:srgbClr val="1C2733"/>
                </a:solidFill>
                <a:latin typeface="Malgun Gothic" pitchFamily="34" charset="0"/>
                <a:ea typeface="Malgun Gothic" pitchFamily="34" charset="-122"/>
                <a:cs typeface="Malgun Gothic" pitchFamily="34" charset="-120"/>
              </a:rPr>
              <a:t>유량 균일도의 구체적 지표화 방식은 대리모델 구축 단계에서 확정 예정</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자동해석 코드 구성</a:t>
            </a:r>
            <a:endParaRPr lang="en-US" sz="2200" dirty="0"/>
          </a:p>
        </p:txBody>
      </p:sp>
      <p:sp>
        <p:nvSpPr>
          <p:cNvPr id="6" name="Shape 4"/>
          <p:cNvSpPr/>
          <p:nvPr/>
        </p:nvSpPr>
        <p:spPr>
          <a:xfrm>
            <a:off x="502920" y="1188720"/>
            <a:ext cx="11183112"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모듈 구성 및 실행 흐름</a:t>
            </a:r>
            <a:endParaRPr lang="en-US" sz="1300" dirty="0"/>
          </a:p>
        </p:txBody>
      </p:sp>
      <p:sp>
        <p:nvSpPr>
          <p:cNvPr id="9" name="Shape 7"/>
          <p:cNvSpPr/>
          <p:nvPr/>
        </p:nvSpPr>
        <p:spPr>
          <a:xfrm>
            <a:off x="813816" y="1847088"/>
            <a:ext cx="10561320" cy="512064"/>
          </a:xfrm>
          <a:prstGeom prst="roundRect">
            <a:avLst>
              <a:gd name="adj" fmla="val 12500"/>
            </a:avLst>
          </a:prstGeom>
          <a:solidFill>
            <a:srgbClr val="16305B"/>
          </a:solidFill>
          <a:ln w="12700">
            <a:solidFill>
              <a:srgbClr val="16305B"/>
            </a:solidFill>
            <a:prstDash val="solid"/>
          </a:ln>
        </p:spPr>
      </p:sp>
      <p:sp>
        <p:nvSpPr>
          <p:cNvPr id="10" name="Text 8"/>
          <p:cNvSpPr txBox="1"/>
          <p:nvPr/>
        </p:nvSpPr>
        <p:spPr>
          <a:xfrm>
            <a:off x="1042416" y="1847088"/>
            <a:ext cx="8732520" cy="512064"/>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main.py</a:t>
            </a:r>
            <a:pPr indent="0" marL="0">
              <a:buNone/>
            </a:pPr>
            <a:r>
              <a:rPr lang="en-US" sz="1000" dirty="0">
                <a:solidFill>
                  <a:srgbClr val="CFE0F2"/>
                </a:solidFill>
                <a:latin typeface="Malgun Gothic" pitchFamily="34" charset="0"/>
                <a:ea typeface="Malgun Gothic" pitchFamily="34" charset="-122"/>
                <a:cs typeface="Malgun Gothic" pitchFamily="34" charset="-120"/>
              </a:rPr>
              <a:t>     루프 제어  —  실험점마다 아래 4단계를 순서대로 호출, 실패 시 기록 후 다음 점</a:t>
            </a:r>
            <a:endParaRPr lang="en-US" sz="1250" dirty="0"/>
          </a:p>
        </p:txBody>
      </p:sp>
      <p:sp>
        <p:nvSpPr>
          <p:cNvPr id="11" name="Shape 9"/>
          <p:cNvSpPr/>
          <p:nvPr/>
        </p:nvSpPr>
        <p:spPr>
          <a:xfrm>
            <a:off x="9957816" y="1947672"/>
            <a:ext cx="1234440" cy="310896"/>
          </a:xfrm>
          <a:prstGeom prst="roundRect">
            <a:avLst>
              <a:gd name="adj" fmla="val 29412"/>
            </a:avLst>
          </a:prstGeom>
          <a:solidFill>
            <a:srgbClr val="00A3C4"/>
          </a:solidFill>
          <a:ln w="12700">
            <a:solidFill>
              <a:srgbClr val="00A3C4"/>
            </a:solidFill>
            <a:prstDash val="solid"/>
          </a:ln>
        </p:spPr>
      </p:sp>
      <p:sp>
        <p:nvSpPr>
          <p:cNvPr id="12" name="Text 10"/>
          <p:cNvSpPr txBox="1"/>
          <p:nvPr/>
        </p:nvSpPr>
        <p:spPr>
          <a:xfrm>
            <a:off x="9957816" y="1947672"/>
            <a:ext cx="123444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90회 반복</a:t>
            </a:r>
            <a:endParaRPr lang="en-US" sz="950" dirty="0"/>
          </a:p>
        </p:txBody>
      </p:sp>
      <p:sp>
        <p:nvSpPr>
          <p:cNvPr id="13" name="Shape 11"/>
          <p:cNvSpPr/>
          <p:nvPr/>
        </p:nvSpPr>
        <p:spPr>
          <a:xfrm>
            <a:off x="1979676" y="2359152"/>
            <a:ext cx="0" cy="310896"/>
          </a:xfrm>
          <a:prstGeom prst="line">
            <a:avLst/>
          </a:prstGeom>
          <a:noFill/>
          <a:ln w="12700">
            <a:solidFill>
              <a:srgbClr val="9FB0C6"/>
            </a:solidFill>
            <a:prstDash val="solid"/>
            <a:tailEnd type="triangle"/>
          </a:ln>
        </p:spPr>
      </p:sp>
      <p:sp>
        <p:nvSpPr>
          <p:cNvPr id="14" name="Shape 12"/>
          <p:cNvSpPr/>
          <p:nvPr/>
        </p:nvSpPr>
        <p:spPr>
          <a:xfrm>
            <a:off x="813816" y="2670048"/>
            <a:ext cx="2331720" cy="1243584"/>
          </a:xfrm>
          <a:prstGeom prst="roundRect">
            <a:avLst>
              <a:gd name="adj" fmla="val 5147"/>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15" name="Shape 13"/>
          <p:cNvSpPr/>
          <p:nvPr/>
        </p:nvSpPr>
        <p:spPr>
          <a:xfrm>
            <a:off x="941832" y="2798064"/>
            <a:ext cx="274320" cy="274320"/>
          </a:xfrm>
          <a:prstGeom prst="ellipse">
            <a:avLst/>
          </a:prstGeom>
          <a:solidFill>
            <a:srgbClr val="16305B"/>
          </a:solidFill>
          <a:ln w="12700">
            <a:solidFill>
              <a:srgbClr val="16305B"/>
            </a:solidFill>
            <a:prstDash val="solid"/>
          </a:ln>
        </p:spPr>
      </p:sp>
      <p:sp>
        <p:nvSpPr>
          <p:cNvPr id="16" name="Text 14"/>
          <p:cNvSpPr txBox="1"/>
          <p:nvPr/>
        </p:nvSpPr>
        <p:spPr>
          <a:xfrm>
            <a:off x="941832" y="279806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1</a:t>
            </a:r>
            <a:endParaRPr lang="en-US" sz="950" dirty="0"/>
          </a:p>
        </p:txBody>
      </p:sp>
      <p:sp>
        <p:nvSpPr>
          <p:cNvPr id="17" name="Text 15"/>
          <p:cNvSpPr txBox="1"/>
          <p:nvPr/>
        </p:nvSpPr>
        <p:spPr>
          <a:xfrm>
            <a:off x="1289304" y="2779776"/>
            <a:ext cx="1783080" cy="310896"/>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실험점 생성</a:t>
            </a:r>
            <a:endParaRPr lang="en-US" sz="1100" dirty="0"/>
          </a:p>
        </p:txBody>
      </p:sp>
      <p:sp>
        <p:nvSpPr>
          <p:cNvPr id="18" name="Text 16"/>
          <p:cNvSpPr txBox="1"/>
          <p:nvPr/>
        </p:nvSpPr>
        <p:spPr>
          <a:xfrm>
            <a:off x="941832" y="3145536"/>
            <a:ext cx="2075688" cy="237744"/>
          </a:xfrm>
          <a:prstGeom prst="rect">
            <a:avLst/>
          </a:prstGeom>
          <a:noFill/>
          <a:ln/>
        </p:spPr>
        <p:txBody>
          <a:bodyPr wrap="square" lIns="0" tIns="0" rIns="0" bIns="0" rtlCol="0" anchor="ctr"/>
          <a:lstStyle/>
          <a:p>
            <a:pPr indent="0" marL="0">
              <a:buNone/>
            </a:pPr>
            <a:r>
              <a:rPr lang="en-US" sz="950" b="1" dirty="0">
                <a:solidFill>
                  <a:srgbClr val="2C4E82"/>
                </a:solidFill>
                <a:latin typeface="Consolas" pitchFamily="34" charset="0"/>
                <a:ea typeface="Consolas" pitchFamily="34" charset="-122"/>
                <a:cs typeface="Consolas" pitchFamily="34" charset="-120"/>
              </a:rPr>
              <a:t>OLHD.py · fins.py</a:t>
            </a:r>
            <a:endParaRPr lang="en-US" sz="950" dirty="0"/>
          </a:p>
        </p:txBody>
      </p:sp>
      <p:sp>
        <p:nvSpPr>
          <p:cNvPr id="19" name="Text 17"/>
          <p:cNvSpPr txBox="1"/>
          <p:nvPr/>
        </p:nvSpPr>
        <p:spPr>
          <a:xfrm>
            <a:off x="941832" y="3401568"/>
            <a:ext cx="2075688" cy="457200"/>
          </a:xfrm>
          <a:prstGeom prst="rect">
            <a:avLst/>
          </a:prstGeom>
          <a:noFill/>
          <a:ln/>
        </p:spPr>
        <p:txBody>
          <a:bodyPr wrap="square" lIns="0" tIns="0" rIns="0" bIns="0" rtlCol="0" anchor="ctr"/>
          <a:lstStyle/>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설계변수 정의 · 실험점 생성</a:t>
            </a:r>
            <a:endParaRPr lang="en-US" sz="880" dirty="0"/>
          </a:p>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갭 가공 제약 반영</a:t>
            </a:r>
            <a:endParaRPr lang="en-US" sz="880" dirty="0"/>
          </a:p>
        </p:txBody>
      </p:sp>
      <p:sp>
        <p:nvSpPr>
          <p:cNvPr id="20" name="Shape 18"/>
          <p:cNvSpPr/>
          <p:nvPr/>
        </p:nvSpPr>
        <p:spPr>
          <a:xfrm>
            <a:off x="3191256" y="3291840"/>
            <a:ext cx="320040" cy="0"/>
          </a:xfrm>
          <a:prstGeom prst="line">
            <a:avLst/>
          </a:prstGeom>
          <a:noFill/>
          <a:ln w="19050">
            <a:solidFill>
              <a:srgbClr val="00A3C4"/>
            </a:solidFill>
            <a:prstDash val="solid"/>
            <a:tailEnd type="triangle"/>
          </a:ln>
        </p:spPr>
      </p:sp>
      <p:sp>
        <p:nvSpPr>
          <p:cNvPr id="21" name="Text 19"/>
          <p:cNvSpPr txBox="1"/>
          <p:nvPr/>
        </p:nvSpPr>
        <p:spPr>
          <a:xfrm>
            <a:off x="3054096" y="3017520"/>
            <a:ext cx="594360" cy="219456"/>
          </a:xfrm>
          <a:prstGeom prst="rect">
            <a:avLst/>
          </a:prstGeom>
          <a:noFill/>
          <a:ln/>
        </p:spPr>
        <p:txBody>
          <a:bodyPr wrap="square" lIns="0" tIns="0" rIns="0" bIns="0" rtlCol="0" anchor="ctr"/>
          <a:lstStyle/>
          <a:p>
            <a:pPr algn="ctr" indent="0" marL="0">
              <a:buNone/>
            </a:pPr>
            <a:r>
              <a:rPr lang="en-US" sz="850" b="1" dirty="0">
                <a:solidFill>
                  <a:srgbClr val="0088A6"/>
                </a:solidFill>
                <a:latin typeface="Malgun Gothic" pitchFamily="34" charset="0"/>
                <a:ea typeface="Malgun Gothic" pitchFamily="34" charset="-122"/>
                <a:cs typeface="Malgun Gothic" pitchFamily="34" charset="-120"/>
              </a:rPr>
              <a:t>설계값</a:t>
            </a:r>
            <a:endParaRPr lang="en-US" sz="850" dirty="0"/>
          </a:p>
        </p:txBody>
      </p:sp>
      <p:sp>
        <p:nvSpPr>
          <p:cNvPr id="22" name="Shape 20"/>
          <p:cNvSpPr/>
          <p:nvPr/>
        </p:nvSpPr>
        <p:spPr>
          <a:xfrm>
            <a:off x="4722876" y="2359152"/>
            <a:ext cx="0" cy="310896"/>
          </a:xfrm>
          <a:prstGeom prst="line">
            <a:avLst/>
          </a:prstGeom>
          <a:noFill/>
          <a:ln w="12700">
            <a:solidFill>
              <a:srgbClr val="9FB0C6"/>
            </a:solidFill>
            <a:prstDash val="solid"/>
            <a:tailEnd type="triangle"/>
          </a:ln>
        </p:spPr>
      </p:sp>
      <p:sp>
        <p:nvSpPr>
          <p:cNvPr id="23" name="Shape 21"/>
          <p:cNvSpPr/>
          <p:nvPr/>
        </p:nvSpPr>
        <p:spPr>
          <a:xfrm>
            <a:off x="3557016" y="2670048"/>
            <a:ext cx="2331720" cy="1243584"/>
          </a:xfrm>
          <a:prstGeom prst="roundRect">
            <a:avLst>
              <a:gd name="adj" fmla="val 5147"/>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24" name="Shape 22"/>
          <p:cNvSpPr/>
          <p:nvPr/>
        </p:nvSpPr>
        <p:spPr>
          <a:xfrm>
            <a:off x="3685032" y="2798064"/>
            <a:ext cx="274320" cy="274320"/>
          </a:xfrm>
          <a:prstGeom prst="ellipse">
            <a:avLst/>
          </a:prstGeom>
          <a:solidFill>
            <a:srgbClr val="16305B"/>
          </a:solidFill>
          <a:ln w="12700">
            <a:solidFill>
              <a:srgbClr val="16305B"/>
            </a:solidFill>
            <a:prstDash val="solid"/>
          </a:ln>
        </p:spPr>
      </p:sp>
      <p:sp>
        <p:nvSpPr>
          <p:cNvPr id="25" name="Text 23"/>
          <p:cNvSpPr txBox="1"/>
          <p:nvPr/>
        </p:nvSpPr>
        <p:spPr>
          <a:xfrm>
            <a:off x="3685032" y="279806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2</a:t>
            </a:r>
            <a:endParaRPr lang="en-US" sz="950" dirty="0"/>
          </a:p>
        </p:txBody>
      </p:sp>
      <p:sp>
        <p:nvSpPr>
          <p:cNvPr id="26" name="Text 24"/>
          <p:cNvSpPr txBox="1"/>
          <p:nvPr/>
        </p:nvSpPr>
        <p:spPr>
          <a:xfrm>
            <a:off x="4032504" y="2779776"/>
            <a:ext cx="1783080" cy="310896"/>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형상 빌드</a:t>
            </a:r>
            <a:endParaRPr lang="en-US" sz="1100" dirty="0"/>
          </a:p>
        </p:txBody>
      </p:sp>
      <p:sp>
        <p:nvSpPr>
          <p:cNvPr id="27" name="Text 25"/>
          <p:cNvSpPr txBox="1"/>
          <p:nvPr/>
        </p:nvSpPr>
        <p:spPr>
          <a:xfrm>
            <a:off x="3685032" y="3145536"/>
            <a:ext cx="2075688" cy="237744"/>
          </a:xfrm>
          <a:prstGeom prst="rect">
            <a:avLst/>
          </a:prstGeom>
          <a:noFill/>
          <a:ln/>
        </p:spPr>
        <p:txBody>
          <a:bodyPr wrap="square" lIns="0" tIns="0" rIns="0" bIns="0" rtlCol="0" anchor="ctr"/>
          <a:lstStyle/>
          <a:p>
            <a:pPr indent="0" marL="0">
              <a:buNone/>
            </a:pPr>
            <a:r>
              <a:rPr lang="en-US" sz="950" b="1" dirty="0">
                <a:solidFill>
                  <a:srgbClr val="2C4E82"/>
                </a:solidFill>
                <a:latin typeface="Consolas" pitchFamily="34" charset="0"/>
                <a:ea typeface="Consolas" pitchFamily="34" charset="-122"/>
                <a:cs typeface="Consolas" pitchFamily="34" charset="-120"/>
              </a:rPr>
              <a:t>Solidworks.py</a:t>
            </a:r>
            <a:endParaRPr lang="en-US" sz="950" dirty="0"/>
          </a:p>
        </p:txBody>
      </p:sp>
      <p:sp>
        <p:nvSpPr>
          <p:cNvPr id="28" name="Text 26"/>
          <p:cNvSpPr txBox="1"/>
          <p:nvPr/>
        </p:nvSpPr>
        <p:spPr>
          <a:xfrm>
            <a:off x="3685032" y="3401568"/>
            <a:ext cx="2075688" cy="457200"/>
          </a:xfrm>
          <a:prstGeom prst="rect">
            <a:avLst/>
          </a:prstGeom>
          <a:noFill/>
          <a:ln/>
        </p:spPr>
        <p:txBody>
          <a:bodyPr wrap="square" lIns="0" tIns="0" rIns="0" bIns="0" rtlCol="0" anchor="ctr"/>
          <a:lstStyle/>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전역변수 갱신 → 리빌드</a:t>
            </a:r>
            <a:endParaRPr lang="en-US" sz="880" dirty="0"/>
          </a:p>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질량 · 부피 취득</a:t>
            </a:r>
            <a:endParaRPr lang="en-US" sz="880" dirty="0"/>
          </a:p>
        </p:txBody>
      </p:sp>
      <p:sp>
        <p:nvSpPr>
          <p:cNvPr id="29" name="Shape 27"/>
          <p:cNvSpPr/>
          <p:nvPr/>
        </p:nvSpPr>
        <p:spPr>
          <a:xfrm>
            <a:off x="5934456" y="3291840"/>
            <a:ext cx="320040" cy="0"/>
          </a:xfrm>
          <a:prstGeom prst="line">
            <a:avLst/>
          </a:prstGeom>
          <a:noFill/>
          <a:ln w="19050">
            <a:solidFill>
              <a:srgbClr val="00A3C4"/>
            </a:solidFill>
            <a:prstDash val="solid"/>
            <a:tailEnd type="triangle"/>
          </a:ln>
        </p:spPr>
      </p:sp>
      <p:sp>
        <p:nvSpPr>
          <p:cNvPr id="30" name="Text 28"/>
          <p:cNvSpPr txBox="1"/>
          <p:nvPr/>
        </p:nvSpPr>
        <p:spPr>
          <a:xfrm>
            <a:off x="5797296" y="3017520"/>
            <a:ext cx="594360" cy="219456"/>
          </a:xfrm>
          <a:prstGeom prst="rect">
            <a:avLst/>
          </a:prstGeom>
          <a:noFill/>
          <a:ln/>
        </p:spPr>
        <p:txBody>
          <a:bodyPr wrap="square" lIns="0" tIns="0" rIns="0" bIns="0" rtlCol="0" anchor="ctr"/>
          <a:lstStyle/>
          <a:p>
            <a:pPr algn="ctr" indent="0" marL="0">
              <a:buNone/>
            </a:pPr>
            <a:r>
              <a:rPr lang="en-US" sz="850" b="1" dirty="0">
                <a:solidFill>
                  <a:srgbClr val="0088A6"/>
                </a:solidFill>
                <a:latin typeface="Malgun Gothic" pitchFamily="34" charset="0"/>
                <a:ea typeface="Malgun Gothic" pitchFamily="34" charset="-122"/>
                <a:cs typeface="Malgun Gothic" pitchFamily="34" charset="-120"/>
              </a:rPr>
              <a:t>STEP</a:t>
            </a:r>
            <a:endParaRPr lang="en-US" sz="850" dirty="0"/>
          </a:p>
        </p:txBody>
      </p:sp>
      <p:sp>
        <p:nvSpPr>
          <p:cNvPr id="31" name="Shape 29"/>
          <p:cNvSpPr/>
          <p:nvPr/>
        </p:nvSpPr>
        <p:spPr>
          <a:xfrm>
            <a:off x="7466076" y="2359152"/>
            <a:ext cx="0" cy="310896"/>
          </a:xfrm>
          <a:prstGeom prst="line">
            <a:avLst/>
          </a:prstGeom>
          <a:noFill/>
          <a:ln w="12700">
            <a:solidFill>
              <a:srgbClr val="9FB0C6"/>
            </a:solidFill>
            <a:prstDash val="solid"/>
            <a:tailEnd type="triangle"/>
          </a:ln>
        </p:spPr>
      </p:sp>
      <p:sp>
        <p:nvSpPr>
          <p:cNvPr id="32" name="Shape 30"/>
          <p:cNvSpPr/>
          <p:nvPr/>
        </p:nvSpPr>
        <p:spPr>
          <a:xfrm>
            <a:off x="6300216" y="2670048"/>
            <a:ext cx="2331720" cy="1243584"/>
          </a:xfrm>
          <a:prstGeom prst="roundRect">
            <a:avLst>
              <a:gd name="adj" fmla="val 5147"/>
            </a:avLst>
          </a:prstGeom>
          <a:solidFill>
            <a:srgbClr val="FFFFFF"/>
          </a:solidFill>
          <a:ln w="15875">
            <a:solidFill>
              <a:srgbClr val="B9C7D8"/>
            </a:solidFill>
            <a:prstDash val="solid"/>
          </a:ln>
          <a:effectLst>
            <a:outerShdw sx="100000" sy="100000" kx="0" ky="0" algn="bl" rotWithShape="0" blurRad="101600" dist="12700" dir="5400000">
              <a:srgbClr val="9AA8BC">
                <a:alpha val="18000"/>
              </a:srgbClr>
            </a:outerShdw>
          </a:effectLst>
        </p:spPr>
      </p:sp>
      <p:sp>
        <p:nvSpPr>
          <p:cNvPr id="33" name="Shape 31"/>
          <p:cNvSpPr/>
          <p:nvPr/>
        </p:nvSpPr>
        <p:spPr>
          <a:xfrm>
            <a:off x="6428232" y="2798064"/>
            <a:ext cx="274320" cy="274320"/>
          </a:xfrm>
          <a:prstGeom prst="ellipse">
            <a:avLst/>
          </a:prstGeom>
          <a:solidFill>
            <a:srgbClr val="16305B"/>
          </a:solidFill>
          <a:ln w="12700">
            <a:solidFill>
              <a:srgbClr val="16305B"/>
            </a:solidFill>
            <a:prstDash val="solid"/>
          </a:ln>
        </p:spPr>
      </p:sp>
      <p:sp>
        <p:nvSpPr>
          <p:cNvPr id="34" name="Text 32"/>
          <p:cNvSpPr txBox="1"/>
          <p:nvPr/>
        </p:nvSpPr>
        <p:spPr>
          <a:xfrm>
            <a:off x="6428232" y="279806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3</a:t>
            </a:r>
            <a:endParaRPr lang="en-US" sz="950" dirty="0"/>
          </a:p>
        </p:txBody>
      </p:sp>
      <p:sp>
        <p:nvSpPr>
          <p:cNvPr id="35" name="Text 33"/>
          <p:cNvSpPr txBox="1"/>
          <p:nvPr/>
        </p:nvSpPr>
        <p:spPr>
          <a:xfrm>
            <a:off x="6775704" y="2779776"/>
            <a:ext cx="1783080" cy="310896"/>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해석</a:t>
            </a:r>
            <a:endParaRPr lang="en-US" sz="1100" dirty="0"/>
          </a:p>
        </p:txBody>
      </p:sp>
      <p:sp>
        <p:nvSpPr>
          <p:cNvPr id="36" name="Text 34"/>
          <p:cNvSpPr txBox="1"/>
          <p:nvPr/>
        </p:nvSpPr>
        <p:spPr>
          <a:xfrm>
            <a:off x="6428232" y="3145536"/>
            <a:ext cx="2075688" cy="237744"/>
          </a:xfrm>
          <a:prstGeom prst="rect">
            <a:avLst/>
          </a:prstGeom>
          <a:noFill/>
          <a:ln/>
        </p:spPr>
        <p:txBody>
          <a:bodyPr wrap="square" lIns="0" tIns="0" rIns="0" bIns="0" rtlCol="0" anchor="ctr"/>
          <a:lstStyle/>
          <a:p>
            <a:pPr indent="0" marL="0">
              <a:buNone/>
            </a:pPr>
            <a:r>
              <a:rPr lang="en-US" sz="950" b="1" dirty="0">
                <a:solidFill>
                  <a:srgbClr val="2C4E82"/>
                </a:solidFill>
                <a:latin typeface="Consolas" pitchFamily="34" charset="0"/>
                <a:ea typeface="Consolas" pitchFamily="34" charset="-122"/>
                <a:cs typeface="Consolas" pitchFamily="34" charset="-120"/>
              </a:rPr>
              <a:t>icepak.py</a:t>
            </a:r>
            <a:endParaRPr lang="en-US" sz="950" dirty="0"/>
          </a:p>
        </p:txBody>
      </p:sp>
      <p:sp>
        <p:nvSpPr>
          <p:cNvPr id="37" name="Text 35"/>
          <p:cNvSpPr txBox="1"/>
          <p:nvPr/>
        </p:nvSpPr>
        <p:spPr>
          <a:xfrm>
            <a:off x="6428232" y="3401568"/>
            <a:ext cx="2075688" cy="457200"/>
          </a:xfrm>
          <a:prstGeom prst="rect">
            <a:avLst/>
          </a:prstGeom>
          <a:noFill/>
          <a:ln/>
        </p:spPr>
        <p:txBody>
          <a:bodyPr wrap="square" lIns="0" tIns="0" rIns="0" bIns="0" rtlCol="0" anchor="ctr"/>
          <a:lstStyle/>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해석 모델 구성 → 해석</a:t>
            </a:r>
            <a:endParaRPr lang="en-US" sz="880" dirty="0"/>
          </a:p>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결과 추출</a:t>
            </a:r>
            <a:endParaRPr lang="en-US" sz="880" dirty="0"/>
          </a:p>
        </p:txBody>
      </p:sp>
      <p:sp>
        <p:nvSpPr>
          <p:cNvPr id="38" name="Shape 36"/>
          <p:cNvSpPr/>
          <p:nvPr/>
        </p:nvSpPr>
        <p:spPr>
          <a:xfrm>
            <a:off x="8677656" y="3291840"/>
            <a:ext cx="320040" cy="0"/>
          </a:xfrm>
          <a:prstGeom prst="line">
            <a:avLst/>
          </a:prstGeom>
          <a:noFill/>
          <a:ln w="19050">
            <a:solidFill>
              <a:srgbClr val="00A3C4"/>
            </a:solidFill>
            <a:prstDash val="solid"/>
            <a:tailEnd type="triangle"/>
          </a:ln>
        </p:spPr>
      </p:sp>
      <p:sp>
        <p:nvSpPr>
          <p:cNvPr id="39" name="Text 37"/>
          <p:cNvSpPr txBox="1"/>
          <p:nvPr/>
        </p:nvSpPr>
        <p:spPr>
          <a:xfrm>
            <a:off x="8540496" y="3017520"/>
            <a:ext cx="594360" cy="219456"/>
          </a:xfrm>
          <a:prstGeom prst="rect">
            <a:avLst/>
          </a:prstGeom>
          <a:noFill/>
          <a:ln/>
        </p:spPr>
        <p:txBody>
          <a:bodyPr wrap="square" lIns="0" tIns="0" rIns="0" bIns="0" rtlCol="0" anchor="ctr"/>
          <a:lstStyle/>
          <a:p>
            <a:pPr algn="ctr" indent="0" marL="0">
              <a:buNone/>
            </a:pPr>
            <a:r>
              <a:rPr lang="en-US" sz="850" b="1" dirty="0">
                <a:solidFill>
                  <a:srgbClr val="0088A6"/>
                </a:solidFill>
                <a:latin typeface="Malgun Gothic" pitchFamily="34" charset="0"/>
                <a:ea typeface="Malgun Gothic" pitchFamily="34" charset="-122"/>
                <a:cs typeface="Malgun Gothic" pitchFamily="34" charset="-120"/>
              </a:rPr>
              <a:t>CSV</a:t>
            </a:r>
            <a:endParaRPr lang="en-US" sz="850" dirty="0"/>
          </a:p>
        </p:txBody>
      </p:sp>
      <p:sp>
        <p:nvSpPr>
          <p:cNvPr id="40" name="Shape 38"/>
          <p:cNvSpPr/>
          <p:nvPr/>
        </p:nvSpPr>
        <p:spPr>
          <a:xfrm>
            <a:off x="10209276" y="2359152"/>
            <a:ext cx="0" cy="310896"/>
          </a:xfrm>
          <a:prstGeom prst="line">
            <a:avLst/>
          </a:prstGeom>
          <a:noFill/>
          <a:ln w="12700">
            <a:solidFill>
              <a:srgbClr val="9FB0C6"/>
            </a:solidFill>
            <a:prstDash val="solid"/>
            <a:tailEnd type="triangle"/>
          </a:ln>
        </p:spPr>
      </p:sp>
      <p:sp>
        <p:nvSpPr>
          <p:cNvPr id="41" name="Shape 39"/>
          <p:cNvSpPr/>
          <p:nvPr/>
        </p:nvSpPr>
        <p:spPr>
          <a:xfrm>
            <a:off x="9043416" y="2670048"/>
            <a:ext cx="2331720" cy="1243584"/>
          </a:xfrm>
          <a:prstGeom prst="roundRect">
            <a:avLst>
              <a:gd name="adj" fmla="val 5147"/>
            </a:avLst>
          </a:prstGeom>
          <a:solidFill>
            <a:srgbClr val="FFFFFF"/>
          </a:solidFill>
          <a:ln w="15875">
            <a:solidFill>
              <a:srgbClr val="00A3C4"/>
            </a:solidFill>
            <a:prstDash val="solid"/>
          </a:ln>
          <a:effectLst>
            <a:outerShdw sx="100000" sy="100000" kx="0" ky="0" algn="bl" rotWithShape="0" blurRad="101600" dist="12700" dir="5400000">
              <a:srgbClr val="9AA8BC">
                <a:alpha val="18000"/>
              </a:srgbClr>
            </a:outerShdw>
          </a:effectLst>
        </p:spPr>
      </p:sp>
      <p:sp>
        <p:nvSpPr>
          <p:cNvPr id="42" name="Shape 40"/>
          <p:cNvSpPr/>
          <p:nvPr/>
        </p:nvSpPr>
        <p:spPr>
          <a:xfrm>
            <a:off x="9171432" y="2798064"/>
            <a:ext cx="274320" cy="274320"/>
          </a:xfrm>
          <a:prstGeom prst="ellipse">
            <a:avLst/>
          </a:prstGeom>
          <a:solidFill>
            <a:srgbClr val="00A3C4"/>
          </a:solidFill>
          <a:ln w="12700">
            <a:solidFill>
              <a:srgbClr val="00A3C4"/>
            </a:solidFill>
            <a:prstDash val="solid"/>
          </a:ln>
        </p:spPr>
      </p:sp>
      <p:sp>
        <p:nvSpPr>
          <p:cNvPr id="43" name="Text 41"/>
          <p:cNvSpPr txBox="1"/>
          <p:nvPr/>
        </p:nvSpPr>
        <p:spPr>
          <a:xfrm>
            <a:off x="9171432" y="2798064"/>
            <a:ext cx="274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4</a:t>
            </a:r>
            <a:endParaRPr lang="en-US" sz="950" dirty="0"/>
          </a:p>
        </p:txBody>
      </p:sp>
      <p:sp>
        <p:nvSpPr>
          <p:cNvPr id="44" name="Text 42"/>
          <p:cNvSpPr txBox="1"/>
          <p:nvPr/>
        </p:nvSpPr>
        <p:spPr>
          <a:xfrm>
            <a:off x="9518904" y="2779776"/>
            <a:ext cx="1783080" cy="310896"/>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결과 저장</a:t>
            </a:r>
            <a:endParaRPr lang="en-US" sz="1100" dirty="0"/>
          </a:p>
        </p:txBody>
      </p:sp>
      <p:sp>
        <p:nvSpPr>
          <p:cNvPr id="45" name="Text 43"/>
          <p:cNvSpPr txBox="1"/>
          <p:nvPr/>
        </p:nvSpPr>
        <p:spPr>
          <a:xfrm>
            <a:off x="9171432" y="3145536"/>
            <a:ext cx="2075688" cy="237744"/>
          </a:xfrm>
          <a:prstGeom prst="rect">
            <a:avLst/>
          </a:prstGeom>
          <a:noFill/>
          <a:ln/>
        </p:spPr>
        <p:txBody>
          <a:bodyPr wrap="square" lIns="0" tIns="0" rIns="0" bIns="0" rtlCol="0" anchor="ctr"/>
          <a:lstStyle/>
          <a:p>
            <a:pPr indent="0" marL="0">
              <a:buNone/>
            </a:pPr>
            <a:r>
              <a:rPr lang="en-US" sz="950" b="1" dirty="0">
                <a:solidFill>
                  <a:srgbClr val="0088A6"/>
                </a:solidFill>
                <a:latin typeface="Consolas" pitchFamily="34" charset="0"/>
                <a:ea typeface="Consolas" pitchFamily="34" charset="-122"/>
                <a:cs typeface="Consolas" pitchFamily="34" charset="-120"/>
              </a:rPr>
              <a:t>result_parser.py</a:t>
            </a:r>
            <a:endParaRPr lang="en-US" sz="950" dirty="0"/>
          </a:p>
        </p:txBody>
      </p:sp>
      <p:sp>
        <p:nvSpPr>
          <p:cNvPr id="46" name="Text 44"/>
          <p:cNvSpPr txBox="1"/>
          <p:nvPr/>
        </p:nvSpPr>
        <p:spPr>
          <a:xfrm>
            <a:off x="9171432" y="3401568"/>
            <a:ext cx="2075688" cy="457200"/>
          </a:xfrm>
          <a:prstGeom prst="rect">
            <a:avLst/>
          </a:prstGeom>
          <a:noFill/>
          <a:ln/>
        </p:spPr>
        <p:txBody>
          <a:bodyPr wrap="square" lIns="0" tIns="0" rIns="0" bIns="0" rtlCol="0" anchor="ctr"/>
          <a:lstStyle/>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차압 · 온도 · 유량 · 중량 산출</a:t>
            </a:r>
            <a:endParaRPr lang="en-US" sz="880" dirty="0"/>
          </a:p>
          <a:p>
            <a:pPr indent="0" marL="0">
              <a:lnSpc>
                <a:spcPct val="115000"/>
              </a:lnSpc>
              <a:buNone/>
            </a:pPr>
            <a:r>
              <a:rPr lang="en-US" sz="880" dirty="0">
                <a:solidFill>
                  <a:srgbClr val="1C2733"/>
                </a:solidFill>
                <a:latin typeface="Malgun Gothic" pitchFamily="34" charset="0"/>
                <a:ea typeface="Malgun Gothic" pitchFamily="34" charset="-122"/>
                <a:cs typeface="Malgun Gothic" pitchFamily="34" charset="-120"/>
              </a:rPr>
              <a:t>결과 누적 저장</a:t>
            </a:r>
            <a:endParaRPr lang="en-US" sz="880" dirty="0"/>
          </a:p>
        </p:txBody>
      </p:sp>
      <p:sp>
        <p:nvSpPr>
          <p:cNvPr id="47" name="Shape 45"/>
          <p:cNvSpPr/>
          <p:nvPr/>
        </p:nvSpPr>
        <p:spPr>
          <a:xfrm>
            <a:off x="1979676" y="3913632"/>
            <a:ext cx="0" cy="274320"/>
          </a:xfrm>
          <a:prstGeom prst="line">
            <a:avLst/>
          </a:prstGeom>
          <a:noFill/>
          <a:ln w="12700">
            <a:solidFill>
              <a:srgbClr val="C3CDDA"/>
            </a:solidFill>
            <a:prstDash val="dash"/>
            <a:tailEnd type="triangle"/>
          </a:ln>
        </p:spPr>
      </p:sp>
      <p:sp>
        <p:nvSpPr>
          <p:cNvPr id="48" name="Shape 46"/>
          <p:cNvSpPr/>
          <p:nvPr/>
        </p:nvSpPr>
        <p:spPr>
          <a:xfrm>
            <a:off x="996696" y="4187952"/>
            <a:ext cx="1965960" cy="420624"/>
          </a:xfrm>
          <a:prstGeom prst="roundRect">
            <a:avLst>
              <a:gd name="adj" fmla="val 17391"/>
            </a:avLst>
          </a:prstGeom>
          <a:solidFill>
            <a:srgbClr val="F7F9FC"/>
          </a:solidFill>
          <a:ln w="9525">
            <a:solidFill>
              <a:srgbClr val="DDE3EB"/>
            </a:solidFill>
            <a:prstDash val="dash"/>
          </a:ln>
        </p:spPr>
      </p:sp>
      <p:sp>
        <p:nvSpPr>
          <p:cNvPr id="49" name="Text 47"/>
          <p:cNvSpPr txBox="1"/>
          <p:nvPr/>
        </p:nvSpPr>
        <p:spPr>
          <a:xfrm>
            <a:off x="996696" y="4187952"/>
            <a:ext cx="1965960" cy="420624"/>
          </a:xfrm>
          <a:prstGeom prst="rect">
            <a:avLst/>
          </a:prstGeom>
          <a:noFill/>
          <a:ln/>
        </p:spPr>
        <p:txBody>
          <a:bodyPr wrap="square" lIns="0" tIns="0" rIns="0" bIns="0" rtlCol="0" anchor="ct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초기 실험점 90개</a:t>
            </a:r>
            <a:endParaRPr lang="en-US" sz="950" dirty="0"/>
          </a:p>
        </p:txBody>
      </p:sp>
      <p:sp>
        <p:nvSpPr>
          <p:cNvPr id="50" name="Shape 48"/>
          <p:cNvSpPr/>
          <p:nvPr/>
        </p:nvSpPr>
        <p:spPr>
          <a:xfrm>
            <a:off x="4722876" y="3913632"/>
            <a:ext cx="0" cy="274320"/>
          </a:xfrm>
          <a:prstGeom prst="line">
            <a:avLst/>
          </a:prstGeom>
          <a:noFill/>
          <a:ln w="12700">
            <a:solidFill>
              <a:srgbClr val="16305B"/>
            </a:solidFill>
            <a:prstDash val="solid"/>
            <a:headEnd type="triangle"/>
            <a:tailEnd type="triangle"/>
          </a:ln>
        </p:spPr>
      </p:sp>
      <p:sp>
        <p:nvSpPr>
          <p:cNvPr id="51" name="Text 49"/>
          <p:cNvSpPr txBox="1"/>
          <p:nvPr/>
        </p:nvSpPr>
        <p:spPr>
          <a:xfrm>
            <a:off x="4796028" y="3931920"/>
            <a:ext cx="1097280" cy="237744"/>
          </a:xfrm>
          <a:prstGeom prst="rect">
            <a:avLst/>
          </a:prstGeom>
          <a:noFill/>
          <a:ln/>
        </p:spPr>
        <p:txBody>
          <a:bodyPr wrap="square" lIns="0" tIns="0" rIns="0" bIns="0" rtlCol="0" anchor="ctr"/>
          <a:lstStyle/>
          <a:p>
            <a:pPr indent="0" marL="0">
              <a:buNone/>
            </a:pPr>
            <a:r>
              <a:rPr lang="en-US" sz="800" dirty="0">
                <a:solidFill>
                  <a:srgbClr val="6B7A8F"/>
                </a:solidFill>
                <a:latin typeface="Consolas" pitchFamily="34" charset="0"/>
                <a:ea typeface="Consolas" pitchFamily="34" charset="-122"/>
                <a:cs typeface="Consolas" pitchFamily="34" charset="-120"/>
              </a:rPr>
              <a:t>COM API</a:t>
            </a:r>
            <a:endParaRPr lang="en-US" sz="800" dirty="0"/>
          </a:p>
        </p:txBody>
      </p:sp>
      <p:sp>
        <p:nvSpPr>
          <p:cNvPr id="52" name="Shape 50"/>
          <p:cNvSpPr/>
          <p:nvPr/>
        </p:nvSpPr>
        <p:spPr>
          <a:xfrm>
            <a:off x="3739896" y="4187952"/>
            <a:ext cx="1965960" cy="420624"/>
          </a:xfrm>
          <a:prstGeom prst="roundRect">
            <a:avLst>
              <a:gd name="adj" fmla="val 17391"/>
            </a:avLst>
          </a:prstGeom>
          <a:solidFill>
            <a:srgbClr val="E4EAF2"/>
          </a:solidFill>
          <a:ln w="9525">
            <a:solidFill>
              <a:srgbClr val="B9C7D8"/>
            </a:solidFill>
            <a:prstDash val="solid"/>
          </a:ln>
        </p:spPr>
      </p:sp>
      <p:sp>
        <p:nvSpPr>
          <p:cNvPr id="53" name="Text 51"/>
          <p:cNvSpPr txBox="1"/>
          <p:nvPr/>
        </p:nvSpPr>
        <p:spPr>
          <a:xfrm>
            <a:off x="3739896" y="4187952"/>
            <a:ext cx="1965960" cy="420624"/>
          </a:xfrm>
          <a:prstGeom prst="rect">
            <a:avLst/>
          </a:prstGeom>
          <a:noFill/>
          <a:ln/>
        </p:spPr>
        <p:txBody>
          <a:bodyPr wrap="square" lIns="0" tIns="0" rIns="0" bIns="0" rtlCol="0" anchor="ct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SolidWorks</a:t>
            </a:r>
            <a:endParaRPr lang="en-US" sz="950" dirty="0"/>
          </a:p>
        </p:txBody>
      </p:sp>
      <p:sp>
        <p:nvSpPr>
          <p:cNvPr id="54" name="Shape 52"/>
          <p:cNvSpPr/>
          <p:nvPr/>
        </p:nvSpPr>
        <p:spPr>
          <a:xfrm>
            <a:off x="7466076" y="3913632"/>
            <a:ext cx="0" cy="274320"/>
          </a:xfrm>
          <a:prstGeom prst="line">
            <a:avLst/>
          </a:prstGeom>
          <a:noFill/>
          <a:ln w="12700">
            <a:solidFill>
              <a:srgbClr val="16305B"/>
            </a:solidFill>
            <a:prstDash val="solid"/>
            <a:headEnd type="triangle"/>
            <a:tailEnd type="triangle"/>
          </a:ln>
        </p:spPr>
      </p:sp>
      <p:sp>
        <p:nvSpPr>
          <p:cNvPr id="55" name="Text 53"/>
          <p:cNvSpPr txBox="1"/>
          <p:nvPr/>
        </p:nvSpPr>
        <p:spPr>
          <a:xfrm>
            <a:off x="7539228" y="3931920"/>
            <a:ext cx="1097280" cy="237744"/>
          </a:xfrm>
          <a:prstGeom prst="rect">
            <a:avLst/>
          </a:prstGeom>
          <a:noFill/>
          <a:ln/>
        </p:spPr>
        <p:txBody>
          <a:bodyPr wrap="square" lIns="0" tIns="0" rIns="0" bIns="0" rtlCol="0" anchor="ctr"/>
          <a:lstStyle/>
          <a:p>
            <a:pPr indent="0" marL="0">
              <a:buNone/>
            </a:pPr>
            <a:r>
              <a:rPr lang="en-US" sz="800" dirty="0">
                <a:solidFill>
                  <a:srgbClr val="6B7A8F"/>
                </a:solidFill>
                <a:latin typeface="Consolas" pitchFamily="34" charset="0"/>
                <a:ea typeface="Consolas" pitchFamily="34" charset="-122"/>
                <a:cs typeface="Consolas" pitchFamily="34" charset="-120"/>
              </a:rPr>
              <a:t>PyAEDT</a:t>
            </a:r>
            <a:endParaRPr lang="en-US" sz="800" dirty="0"/>
          </a:p>
        </p:txBody>
      </p:sp>
      <p:sp>
        <p:nvSpPr>
          <p:cNvPr id="56" name="Shape 54"/>
          <p:cNvSpPr/>
          <p:nvPr/>
        </p:nvSpPr>
        <p:spPr>
          <a:xfrm>
            <a:off x="6483096" y="4187952"/>
            <a:ext cx="1965960" cy="420624"/>
          </a:xfrm>
          <a:prstGeom prst="roundRect">
            <a:avLst>
              <a:gd name="adj" fmla="val 17391"/>
            </a:avLst>
          </a:prstGeom>
          <a:solidFill>
            <a:srgbClr val="E4EAF2"/>
          </a:solidFill>
          <a:ln w="9525">
            <a:solidFill>
              <a:srgbClr val="B9C7D8"/>
            </a:solidFill>
            <a:prstDash val="solid"/>
          </a:ln>
        </p:spPr>
      </p:sp>
      <p:sp>
        <p:nvSpPr>
          <p:cNvPr id="57" name="Text 55"/>
          <p:cNvSpPr txBox="1"/>
          <p:nvPr/>
        </p:nvSpPr>
        <p:spPr>
          <a:xfrm>
            <a:off x="6483096" y="4187952"/>
            <a:ext cx="1965960" cy="420624"/>
          </a:xfrm>
          <a:prstGeom prst="rect">
            <a:avLst/>
          </a:prstGeom>
          <a:noFill/>
          <a:ln/>
        </p:spPr>
        <p:txBody>
          <a:bodyPr wrap="square" lIns="0" tIns="0" rIns="0" bIns="0" rtlCol="0" anchor="ctr"/>
          <a:lstStyle/>
          <a:p>
            <a:pPr algn="ctr" indent="0" marL="0">
              <a:buNone/>
            </a:pPr>
            <a:r>
              <a:rPr lang="en-US" sz="950" b="1" dirty="0">
                <a:solidFill>
                  <a:srgbClr val="16305B"/>
                </a:solidFill>
                <a:latin typeface="Malgun Gothic" pitchFamily="34" charset="0"/>
                <a:ea typeface="Malgun Gothic" pitchFamily="34" charset="-122"/>
                <a:cs typeface="Malgun Gothic" pitchFamily="34" charset="-120"/>
              </a:rPr>
              <a:t>Ansys Icepak</a:t>
            </a:r>
            <a:endParaRPr lang="en-US" sz="950" dirty="0"/>
          </a:p>
        </p:txBody>
      </p:sp>
      <p:sp>
        <p:nvSpPr>
          <p:cNvPr id="58" name="Shape 56"/>
          <p:cNvSpPr/>
          <p:nvPr/>
        </p:nvSpPr>
        <p:spPr>
          <a:xfrm>
            <a:off x="10209276" y="3913632"/>
            <a:ext cx="0" cy="274320"/>
          </a:xfrm>
          <a:prstGeom prst="line">
            <a:avLst/>
          </a:prstGeom>
          <a:noFill/>
          <a:ln w="12700">
            <a:solidFill>
              <a:srgbClr val="C3CDDA"/>
            </a:solidFill>
            <a:prstDash val="dash"/>
            <a:tailEnd type="triangle"/>
          </a:ln>
        </p:spPr>
      </p:sp>
      <p:sp>
        <p:nvSpPr>
          <p:cNvPr id="59" name="Shape 57"/>
          <p:cNvSpPr/>
          <p:nvPr/>
        </p:nvSpPr>
        <p:spPr>
          <a:xfrm>
            <a:off x="9226296" y="4187952"/>
            <a:ext cx="1965960" cy="420624"/>
          </a:xfrm>
          <a:prstGeom prst="roundRect">
            <a:avLst>
              <a:gd name="adj" fmla="val 17391"/>
            </a:avLst>
          </a:prstGeom>
          <a:solidFill>
            <a:srgbClr val="E8F6FA"/>
          </a:solidFill>
          <a:ln w="9525">
            <a:solidFill>
              <a:srgbClr val="00A3C4"/>
            </a:solidFill>
            <a:prstDash val="dash"/>
          </a:ln>
        </p:spPr>
      </p:sp>
      <p:sp>
        <p:nvSpPr>
          <p:cNvPr id="60" name="Text 58"/>
          <p:cNvSpPr txBox="1"/>
          <p:nvPr/>
        </p:nvSpPr>
        <p:spPr>
          <a:xfrm>
            <a:off x="9226296" y="4187952"/>
            <a:ext cx="1965960" cy="420624"/>
          </a:xfrm>
          <a:prstGeom prst="rect">
            <a:avLst/>
          </a:prstGeom>
          <a:noFill/>
          <a:ln/>
        </p:spPr>
        <p:txBody>
          <a:bodyPr wrap="square" lIns="0" tIns="0" rIns="0" bIns="0" rtlCol="0" anchor="ctr"/>
          <a:lstStyle/>
          <a:p>
            <a:pPr algn="ctr" indent="0" marL="0">
              <a:buNone/>
            </a:pPr>
            <a:r>
              <a:rPr lang="en-US" sz="950" b="1" dirty="0">
                <a:solidFill>
                  <a:srgbClr val="0088A6"/>
                </a:solidFill>
                <a:latin typeface="Malgun Gothic" pitchFamily="34" charset="0"/>
                <a:ea typeface="Malgun Gothic" pitchFamily="34" charset="-122"/>
                <a:cs typeface="Malgun Gothic" pitchFamily="34" charset="-120"/>
              </a:rPr>
              <a:t>결과 데이터셋 (CSV 누적)</a:t>
            </a:r>
            <a:endParaRPr lang="en-US" sz="950" dirty="0"/>
          </a:p>
        </p:txBody>
      </p:sp>
      <p:sp>
        <p:nvSpPr>
          <p:cNvPr id="61" name="Shape 59"/>
          <p:cNvSpPr/>
          <p:nvPr/>
        </p:nvSpPr>
        <p:spPr>
          <a:xfrm>
            <a:off x="813816" y="4782312"/>
            <a:ext cx="10561320" cy="0"/>
          </a:xfrm>
          <a:prstGeom prst="line">
            <a:avLst/>
          </a:prstGeom>
          <a:noFill/>
          <a:ln w="9525">
            <a:solidFill>
              <a:srgbClr val="DDE3EB"/>
            </a:solidFill>
            <a:prstDash val="solid"/>
          </a:ln>
        </p:spPr>
      </p:sp>
      <p:sp>
        <p:nvSpPr>
          <p:cNvPr id="62" name="Text 60"/>
          <p:cNvSpPr txBox="1"/>
          <p:nvPr/>
        </p:nvSpPr>
        <p:spPr>
          <a:xfrm>
            <a:off x="813816" y="4873752"/>
            <a:ext cx="10561320" cy="292608"/>
          </a:xfrm>
          <a:prstGeom prst="rect">
            <a:avLst/>
          </a:prstGeom>
          <a:noFill/>
          <a:ln/>
        </p:spPr>
        <p:txBody>
          <a:bodyPr wrap="square" lIns="0" tIns="0" rIns="0" bIns="0" rtlCol="0" anchor="ctr"/>
          <a:lstStyle/>
          <a:p>
            <a:pPr indent="0" marL="0">
              <a:buNone/>
            </a:pPr>
            <a:r>
              <a:rPr lang="en-US" sz="950" b="1" dirty="0">
                <a:solidFill>
                  <a:srgbClr val="16305B"/>
                </a:solidFill>
                <a:latin typeface="Consolas" pitchFamily="34" charset="0"/>
                <a:ea typeface="Consolas" pitchFamily="34" charset="-122"/>
                <a:cs typeface="Consolas" pitchFamily="34" charset="-120"/>
              </a:rPr>
              <a:t>paths.py</a:t>
            </a:r>
            <a:pPr indent="0" marL="0">
              <a:buNone/>
            </a:pPr>
            <a:r>
              <a:rPr lang="en-US" sz="950" dirty="0">
                <a:solidFill>
                  <a:srgbClr val="6B7A8F"/>
                </a:solidFill>
                <a:latin typeface="Malgun Gothic" pitchFamily="34" charset="0"/>
                <a:ea typeface="Malgun Gothic" pitchFamily="34" charset="-122"/>
                <a:cs typeface="Malgun Gothic" pitchFamily="34" charset="-120"/>
              </a:rPr>
              <a:t>   작업폴더 · 모델 파일 · 결과 파일 경로를 한 곳에서 관리 — 모든 모듈이 참조</a:t>
            </a:r>
            <a:endParaRPr lang="en-US" sz="950" dirty="0"/>
          </a:p>
        </p:txBody>
      </p:sp>
      <p:sp>
        <p:nvSpPr>
          <p:cNvPr id="63" name="Shape 61"/>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64" name="Shape 62"/>
          <p:cNvSpPr/>
          <p:nvPr/>
        </p:nvSpPr>
        <p:spPr>
          <a:xfrm>
            <a:off x="832104" y="5724144"/>
            <a:ext cx="64008" cy="164592"/>
          </a:xfrm>
          <a:prstGeom prst="rect">
            <a:avLst/>
          </a:prstGeom>
          <a:solidFill>
            <a:srgbClr val="00A3C4"/>
          </a:solidFill>
          <a:ln w="12700">
            <a:solidFill>
              <a:srgbClr val="00A3C4"/>
            </a:solidFill>
            <a:prstDash val="solid"/>
          </a:ln>
        </p:spPr>
      </p:sp>
      <p:sp>
        <p:nvSpPr>
          <p:cNvPr id="65" name="Text 63"/>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프로그램별 모듈 분리</a:t>
            </a:r>
            <a:endParaRPr lang="en-US" sz="1050" dirty="0"/>
          </a:p>
        </p:txBody>
      </p:sp>
      <p:sp>
        <p:nvSpPr>
          <p:cNvPr id="66" name="Text 64"/>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CAD·해석 제어를 독립 모듈로 구성해 서로 영향 없음</a:t>
            </a:r>
            <a:endParaRPr lang="en-US" sz="950" dirty="0"/>
          </a:p>
        </p:txBody>
      </p:sp>
      <p:sp>
        <p:nvSpPr>
          <p:cNvPr id="67" name="Shape 65"/>
          <p:cNvSpPr/>
          <p:nvPr/>
        </p:nvSpPr>
        <p:spPr>
          <a:xfrm>
            <a:off x="4489704" y="5724144"/>
            <a:ext cx="64008" cy="164592"/>
          </a:xfrm>
          <a:prstGeom prst="rect">
            <a:avLst/>
          </a:prstGeom>
          <a:solidFill>
            <a:srgbClr val="00A3C4"/>
          </a:solidFill>
          <a:ln w="12700">
            <a:solidFill>
              <a:srgbClr val="00A3C4"/>
            </a:solidFill>
            <a:prstDash val="solid"/>
          </a:ln>
        </p:spPr>
      </p:sp>
      <p:sp>
        <p:nvSpPr>
          <p:cNvPr id="68" name="Text 66"/>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단일 출처</a:t>
            </a:r>
            <a:endParaRPr lang="en-US" sz="1050" dirty="0"/>
          </a:p>
        </p:txBody>
      </p:sp>
      <p:sp>
        <p:nvSpPr>
          <p:cNvPr id="69" name="Text 67"/>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설계변수·경로는 한 파일에서만 정의하고 나머지는 참조</a:t>
            </a:r>
            <a:endParaRPr lang="en-US" sz="950" dirty="0"/>
          </a:p>
        </p:txBody>
      </p:sp>
      <p:sp>
        <p:nvSpPr>
          <p:cNvPr id="70" name="Shape 68"/>
          <p:cNvSpPr/>
          <p:nvPr/>
        </p:nvSpPr>
        <p:spPr>
          <a:xfrm>
            <a:off x="8147304" y="5724144"/>
            <a:ext cx="64008" cy="164592"/>
          </a:xfrm>
          <a:prstGeom prst="rect">
            <a:avLst/>
          </a:prstGeom>
          <a:solidFill>
            <a:srgbClr val="00A3C4"/>
          </a:solidFill>
          <a:ln w="12700">
            <a:solidFill>
              <a:srgbClr val="00A3C4"/>
            </a:solidFill>
            <a:prstDash val="solid"/>
          </a:ln>
        </p:spPr>
      </p:sp>
      <p:sp>
        <p:nvSpPr>
          <p:cNvPr id="71" name="Text 69"/>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실패 격리</a:t>
            </a:r>
            <a:endParaRPr lang="en-US" sz="1050" dirty="0"/>
          </a:p>
        </p:txBody>
      </p:sp>
      <p:sp>
        <p:nvSpPr>
          <p:cNvPr id="72" name="Text 70"/>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한 점이 실패해도 기록 후 다음 점으로 진행</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형상 자동 빌드 및 중량 산출 — SolidWorks</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Equation Manager 기반 형상 빌드</a:t>
            </a:r>
            <a:endParaRPr lang="en-US" sz="1300" dirty="0"/>
          </a:p>
        </p:txBody>
      </p:sp>
      <p:sp>
        <p:nvSpPr>
          <p:cNvPr id="9" name="Shape 7"/>
          <p:cNvSpPr/>
          <p:nvPr/>
        </p:nvSpPr>
        <p:spPr>
          <a:xfrm>
            <a:off x="813816" y="1920240"/>
            <a:ext cx="1463040" cy="420624"/>
          </a:xfrm>
          <a:prstGeom prst="roundRect">
            <a:avLst>
              <a:gd name="adj" fmla="val 15217"/>
            </a:avLst>
          </a:prstGeom>
          <a:solidFill>
            <a:srgbClr val="16305B"/>
          </a:solidFill>
          <a:ln w="9525">
            <a:solidFill>
              <a:srgbClr val="16305B"/>
            </a:solidFill>
            <a:prstDash val="solid"/>
          </a:ln>
        </p:spPr>
      </p:sp>
      <p:sp>
        <p:nvSpPr>
          <p:cNvPr id="10" name="Text 8"/>
          <p:cNvSpPr txBox="1"/>
          <p:nvPr/>
        </p:nvSpPr>
        <p:spPr>
          <a:xfrm>
            <a:off x="813816" y="1920240"/>
            <a:ext cx="1463040" cy="420624"/>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전역변수 갱신</a:t>
            </a:r>
            <a:endParaRPr lang="en-US" sz="900" dirty="0"/>
          </a:p>
        </p:txBody>
      </p:sp>
      <p:sp>
        <p:nvSpPr>
          <p:cNvPr id="11" name="Text 9"/>
          <p:cNvSpPr txBox="1"/>
          <p:nvPr/>
        </p:nvSpPr>
        <p:spPr>
          <a:xfrm>
            <a:off x="2276856" y="1920240"/>
            <a:ext cx="201168" cy="420624"/>
          </a:xfrm>
          <a:prstGeom prst="rect">
            <a:avLst/>
          </a:prstGeom>
          <a:noFill/>
          <a:ln/>
        </p:spPr>
        <p:txBody>
          <a:bodyPr wrap="square" lIns="0" tIns="0" rIns="0" bIns="0" rtlCol="0" anchor="ctr"/>
          <a:lstStyle/>
          <a:p>
            <a:pPr algn="ctr" indent="0" marL="0">
              <a:buNone/>
            </a:pPr>
            <a:r>
              <a:rPr lang="en-US" sz="900" dirty="0">
                <a:solidFill>
                  <a:srgbClr val="00A3C4"/>
                </a:solidFill>
                <a:latin typeface="Malgun Gothic" pitchFamily="34" charset="0"/>
                <a:ea typeface="Malgun Gothic" pitchFamily="34" charset="-122"/>
                <a:cs typeface="Malgun Gothic" pitchFamily="34" charset="-120"/>
              </a:rPr>
              <a:t>▶</a:t>
            </a:r>
            <a:endParaRPr lang="en-US" sz="900" dirty="0"/>
          </a:p>
        </p:txBody>
      </p:sp>
      <p:sp>
        <p:nvSpPr>
          <p:cNvPr id="12" name="Shape 10"/>
          <p:cNvSpPr/>
          <p:nvPr/>
        </p:nvSpPr>
        <p:spPr>
          <a:xfrm>
            <a:off x="2478024" y="1920240"/>
            <a:ext cx="1463040" cy="420624"/>
          </a:xfrm>
          <a:prstGeom prst="roundRect">
            <a:avLst>
              <a:gd name="adj" fmla="val 15217"/>
            </a:avLst>
          </a:prstGeom>
          <a:solidFill>
            <a:srgbClr val="EEF2F7"/>
          </a:solidFill>
          <a:ln w="9525">
            <a:solidFill>
              <a:srgbClr val="DDE3EB"/>
            </a:solidFill>
            <a:prstDash val="solid"/>
          </a:ln>
        </p:spPr>
      </p:sp>
      <p:sp>
        <p:nvSpPr>
          <p:cNvPr id="13" name="Text 11"/>
          <p:cNvSpPr txBox="1"/>
          <p:nvPr/>
        </p:nvSpPr>
        <p:spPr>
          <a:xfrm>
            <a:off x="2478024" y="1920240"/>
            <a:ext cx="1463040" cy="42062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파트·어셈블리 리빌드</a:t>
            </a:r>
            <a:endParaRPr lang="en-US" sz="900" dirty="0"/>
          </a:p>
        </p:txBody>
      </p:sp>
      <p:sp>
        <p:nvSpPr>
          <p:cNvPr id="14" name="Text 12"/>
          <p:cNvSpPr txBox="1"/>
          <p:nvPr/>
        </p:nvSpPr>
        <p:spPr>
          <a:xfrm>
            <a:off x="3941064" y="1920240"/>
            <a:ext cx="201168" cy="420624"/>
          </a:xfrm>
          <a:prstGeom prst="rect">
            <a:avLst/>
          </a:prstGeom>
          <a:noFill/>
          <a:ln/>
        </p:spPr>
        <p:txBody>
          <a:bodyPr wrap="square" lIns="0" tIns="0" rIns="0" bIns="0" rtlCol="0" anchor="ctr"/>
          <a:lstStyle/>
          <a:p>
            <a:pPr algn="ctr" indent="0" marL="0">
              <a:buNone/>
            </a:pPr>
            <a:r>
              <a:rPr lang="en-US" sz="900" dirty="0">
                <a:solidFill>
                  <a:srgbClr val="00A3C4"/>
                </a:solidFill>
                <a:latin typeface="Malgun Gothic" pitchFamily="34" charset="0"/>
                <a:ea typeface="Malgun Gothic" pitchFamily="34" charset="-122"/>
                <a:cs typeface="Malgun Gothic" pitchFamily="34" charset="-120"/>
              </a:rPr>
              <a:t>▶</a:t>
            </a:r>
            <a:endParaRPr lang="en-US" sz="900" dirty="0"/>
          </a:p>
        </p:txBody>
      </p:sp>
      <p:sp>
        <p:nvSpPr>
          <p:cNvPr id="15" name="Shape 13"/>
          <p:cNvSpPr/>
          <p:nvPr/>
        </p:nvSpPr>
        <p:spPr>
          <a:xfrm>
            <a:off x="4142232" y="1920240"/>
            <a:ext cx="1463040" cy="420624"/>
          </a:xfrm>
          <a:prstGeom prst="roundRect">
            <a:avLst>
              <a:gd name="adj" fmla="val 15217"/>
            </a:avLst>
          </a:prstGeom>
          <a:solidFill>
            <a:srgbClr val="EEF2F7"/>
          </a:solidFill>
          <a:ln w="9525">
            <a:solidFill>
              <a:srgbClr val="DDE3EB"/>
            </a:solidFill>
            <a:prstDash val="solid"/>
          </a:ln>
        </p:spPr>
      </p:sp>
      <p:sp>
        <p:nvSpPr>
          <p:cNvPr id="16" name="Text 14"/>
          <p:cNvSpPr txBox="1"/>
          <p:nvPr/>
        </p:nvSpPr>
        <p:spPr>
          <a:xfrm>
            <a:off x="4142232" y="1920240"/>
            <a:ext cx="1463040" cy="420624"/>
          </a:xfrm>
          <a:prstGeom prst="rect">
            <a:avLst/>
          </a:prstGeom>
          <a:noFill/>
          <a:ln/>
        </p:spPr>
        <p:txBody>
          <a:bodyPr wrap="square" lIns="0" tIns="0" rIns="0" bIns="0" rtlCol="0" anchor="ctr"/>
          <a:lstStyle/>
          <a:p>
            <a:pPr algn="ctr" indent="0" marL="0">
              <a:buNone/>
            </a:pPr>
            <a:r>
              <a:rPr lang="en-US" sz="900" b="1" dirty="0">
                <a:solidFill>
                  <a:srgbClr val="16305B"/>
                </a:solidFill>
                <a:latin typeface="Malgun Gothic" pitchFamily="34" charset="0"/>
                <a:ea typeface="Malgun Gothic" pitchFamily="34" charset="-122"/>
                <a:cs typeface="Malgun Gothic" pitchFamily="34" charset="-120"/>
              </a:rPr>
              <a:t>STEP 저장</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13816" y="2542032"/>
          <a:ext cx="4846320" cy="914400"/>
        </p:xfrm>
        <a:graphic>
          <a:graphicData uri="http://schemas.openxmlformats.org/drawingml/2006/table">
            <a:tbl>
              <a:tblPr/>
              <a:tblGrid>
                <a:gridCol w="1097280"/>
                <a:gridCol w="374904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단계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처리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변수 갱신</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수식 목록에서 변수명 → 인덱스 매핑 후 값 치환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정수 변수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핀 개수는 정수 문자열로 기입 (선형패턴 개수)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파트 → 어셈블리 순으로 리빌드 후 저장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질량 특성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 직후 부피·질량 일괄 취득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 저장</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실험점 번호별 STEP 파일로 내보내기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8" name="Shape 15"/>
          <p:cNvSpPr/>
          <p:nvPr/>
        </p:nvSpPr>
        <p:spPr>
          <a:xfrm>
            <a:off x="813816" y="4663440"/>
            <a:ext cx="4846320" cy="512064"/>
          </a:xfrm>
          <a:prstGeom prst="roundRect">
            <a:avLst>
              <a:gd name="adj" fmla="val 10714"/>
            </a:avLst>
          </a:prstGeom>
          <a:solidFill>
            <a:srgbClr val="F7F9FC"/>
          </a:solidFill>
          <a:ln w="9525">
            <a:solidFill>
              <a:srgbClr val="DDE3EB"/>
            </a:solidFill>
            <a:prstDash val="solid"/>
          </a:ln>
        </p:spPr>
      </p:sp>
      <p:sp>
        <p:nvSpPr>
          <p:cNvPr id="19" name="Text 16"/>
          <p:cNvSpPr txBox="1"/>
          <p:nvPr/>
        </p:nvSpPr>
        <p:spPr>
          <a:xfrm>
            <a:off x="941832" y="4663440"/>
            <a:ext cx="4617720" cy="512064"/>
          </a:xfrm>
          <a:prstGeom prst="rect">
            <a:avLst/>
          </a:prstGeom>
          <a:noFill/>
          <a:ln/>
        </p:spPr>
        <p:txBody>
          <a:bodyPr wrap="square" lIns="0" tIns="0" rIns="0" bIns="0" rtlCol="0" anchor="ct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중량 = </a:t>
            </a:r>
            <a:pPr indent="0" marL="0">
              <a:buNone/>
            </a:pPr>
            <a:r>
              <a:rPr lang="en-US" sz="950" dirty="0">
                <a:solidFill>
                  <a:srgbClr val="1C2733"/>
                </a:solidFill>
                <a:latin typeface="Malgun Gothic" pitchFamily="34" charset="0"/>
                <a:ea typeface="Malgun Gothic" pitchFamily="34" charset="-122"/>
                <a:cs typeface="Malgun Gothic" pitchFamily="34" charset="-120"/>
              </a:rPr>
              <a:t>알루미늄 질량 + (완전충진 부피 − 알루미늄 부피) × 794 kg/m³</a:t>
            </a:r>
            <a:endParaRPr lang="en-US" sz="950" dirty="0"/>
          </a:p>
        </p:txBody>
      </p:sp>
      <p:sp>
        <p:nvSpPr>
          <p:cNvPr id="20" name="Shape 17"/>
          <p:cNvSpPr/>
          <p:nvPr/>
        </p:nvSpPr>
        <p:spPr>
          <a:xfrm>
            <a:off x="6336792"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1" name="Shape 18"/>
          <p:cNvSpPr/>
          <p:nvPr/>
        </p:nvSpPr>
        <p:spPr>
          <a:xfrm>
            <a:off x="6592824" y="1463040"/>
            <a:ext cx="82296" cy="182880"/>
          </a:xfrm>
          <a:prstGeom prst="rect">
            <a:avLst/>
          </a:prstGeom>
          <a:solidFill>
            <a:srgbClr val="00A3C4"/>
          </a:solidFill>
          <a:ln w="12700">
            <a:solidFill>
              <a:srgbClr val="00A3C4"/>
            </a:solidFill>
            <a:prstDash val="solid"/>
          </a:ln>
        </p:spPr>
      </p:sp>
      <p:sp>
        <p:nvSpPr>
          <p:cNvPr id="22" name="Text 19"/>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중량 산출</a:t>
            </a:r>
            <a:endParaRPr lang="en-US" sz="1300" dirty="0"/>
          </a:p>
        </p:txBody>
      </p:sp>
      <p:sp>
        <p:nvSpPr>
          <p:cNvPr id="23" name="Shape 20"/>
          <p:cNvSpPr/>
          <p:nvPr/>
        </p:nvSpPr>
        <p:spPr>
          <a:xfrm>
            <a:off x="6647688" y="1920240"/>
            <a:ext cx="4846320" cy="868680"/>
          </a:xfrm>
          <a:prstGeom prst="roundRect">
            <a:avLst>
              <a:gd name="adj" fmla="val 6316"/>
            </a:avLst>
          </a:prstGeom>
          <a:solidFill>
            <a:srgbClr val="F7F9FC"/>
          </a:solidFill>
          <a:ln w="9525">
            <a:solidFill>
              <a:srgbClr val="DDE3EB"/>
            </a:solidFill>
            <a:prstDash val="solid"/>
          </a:ln>
        </p:spPr>
      </p:sp>
      <p:sp>
        <p:nvSpPr>
          <p:cNvPr id="24" name="Text 21"/>
          <p:cNvSpPr txBox="1"/>
          <p:nvPr/>
        </p:nvSpPr>
        <p:spPr>
          <a:xfrm>
            <a:off x="6793992" y="1975104"/>
            <a:ext cx="4572000" cy="758952"/>
          </a:xfrm>
          <a:prstGeom prst="rect">
            <a:avLst/>
          </a:prstGeom>
          <a:noFill/>
          <a:ln/>
        </p:spPr>
        <p:txBody>
          <a:bodyPr wrap="square" lIns="0" tIns="0" rIns="0" bIns="0" rtlCol="0" anchor="ctr"/>
          <a:lstStyle/>
          <a:p>
            <a:pPr indent="0" marL="0">
              <a:lnSpc>
                <a:spcPct val="135000"/>
              </a:lnSpc>
              <a:buNone/>
            </a:pPr>
            <a:r>
              <a:rPr lang="en-US" sz="1050" dirty="0">
                <a:solidFill>
                  <a:srgbClr val="1C2733"/>
                </a:solidFill>
                <a:latin typeface="Malgun Gothic" pitchFamily="34" charset="0"/>
                <a:ea typeface="Malgun Gothic" pitchFamily="34" charset="-122"/>
                <a:cs typeface="Malgun Gothic" pitchFamily="34" charset="-120"/>
              </a:rPr>
              <a:t>PAO 부피 = 완전충진 형상 부피(상수) − 알루미늄 부피</a:t>
            </a:r>
            <a:endParaRPr lang="en-US" sz="1050" dirty="0"/>
          </a:p>
          <a:p>
            <a:pPr indent="0" marL="0">
              <a:lnSpc>
                <a:spcPct val="135000"/>
              </a:lnSpc>
              <a:buNone/>
            </a:pPr>
            <a:r>
              <a:rPr lang="en-US" sz="1050" b="1" dirty="0">
                <a:solidFill>
                  <a:srgbClr val="16305B"/>
                </a:solidFill>
                <a:latin typeface="Malgun Gothic" pitchFamily="34" charset="0"/>
                <a:ea typeface="Malgun Gothic" pitchFamily="34" charset="-122"/>
                <a:cs typeface="Malgun Gothic" pitchFamily="34" charset="-120"/>
              </a:rPr>
              <a:t>중  량   = 알루미늄 질량 + PAO 부피 × 794 kg/m³</a:t>
            </a:r>
            <a:endParaRPr lang="en-US" sz="10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647688" y="2971800"/>
          <a:ext cx="4846320" cy="914400"/>
        </p:xfrm>
        <a:graphic>
          <a:graphicData uri="http://schemas.openxmlformats.org/drawingml/2006/table">
            <a:tbl>
              <a:tblPr/>
              <a:tblGrid>
                <a:gridCol w="1188720"/>
                <a:gridCol w="3657600"/>
              </a:tblGrid>
              <a:tr h="365760">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내용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취득 시점</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리빌드 직후 어셈블리에서 질량 특성 일괄 취득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반환값 해석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반환 순서 미문서화 → GUI 패널과 전량 대조해 확정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검산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산출값이 수기 계산값과 소수점까지 일치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65760">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교차검증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해석 측 유체 부피와 대조, 이상 시 로그 경고</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26" name="Shape 22"/>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7" name="Shape 23"/>
          <p:cNvSpPr/>
          <p:nvPr/>
        </p:nvSpPr>
        <p:spPr>
          <a:xfrm>
            <a:off x="832104" y="5724144"/>
            <a:ext cx="64008" cy="164592"/>
          </a:xfrm>
          <a:prstGeom prst="rect">
            <a:avLst/>
          </a:prstGeom>
          <a:solidFill>
            <a:srgbClr val="00A3C4"/>
          </a:solidFill>
          <a:ln w="12700">
            <a:solidFill>
              <a:srgbClr val="00A3C4"/>
            </a:solidFill>
            <a:prstDash val="solid"/>
          </a:ln>
        </p:spPr>
      </p:sp>
      <p:sp>
        <p:nvSpPr>
          <p:cNvPr id="28" name="Text 24"/>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변수명 검증</a:t>
            </a:r>
            <a:endParaRPr lang="en-US" sz="1050" dirty="0"/>
          </a:p>
        </p:txBody>
      </p:sp>
      <p:sp>
        <p:nvSpPr>
          <p:cNvPr id="29" name="Text 25"/>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불일치 시 즉시 중단 — 형상 미변경 해석 차단</a:t>
            </a:r>
            <a:endParaRPr lang="en-US" sz="950" dirty="0"/>
          </a:p>
        </p:txBody>
      </p:sp>
      <p:sp>
        <p:nvSpPr>
          <p:cNvPr id="30" name="Shape 26"/>
          <p:cNvSpPr/>
          <p:nvPr/>
        </p:nvSpPr>
        <p:spPr>
          <a:xfrm>
            <a:off x="4489704" y="5724144"/>
            <a:ext cx="64008" cy="164592"/>
          </a:xfrm>
          <a:prstGeom prst="rect">
            <a:avLst/>
          </a:prstGeom>
          <a:solidFill>
            <a:srgbClr val="00A3C4"/>
          </a:solidFill>
          <a:ln w="12700">
            <a:solidFill>
              <a:srgbClr val="00A3C4"/>
            </a:solidFill>
            <a:prstDash val="solid"/>
          </a:ln>
        </p:spPr>
      </p:sp>
      <p:sp>
        <p:nvSpPr>
          <p:cNvPr id="31" name="Text 27"/>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종속값 CAD 위임</a:t>
            </a:r>
            <a:endParaRPr lang="en-US" sz="1050" dirty="0"/>
          </a:p>
        </p:txBody>
      </p:sp>
      <p:sp>
        <p:nvSpPr>
          <p:cNvPr id="32" name="Text 28"/>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핀 간격은 CAD 수식이 계산 — 이중 계산 방지</a:t>
            </a:r>
            <a:endParaRPr lang="en-US" sz="950" dirty="0"/>
          </a:p>
        </p:txBody>
      </p:sp>
      <p:sp>
        <p:nvSpPr>
          <p:cNvPr id="33" name="Shape 29"/>
          <p:cNvSpPr/>
          <p:nvPr/>
        </p:nvSpPr>
        <p:spPr>
          <a:xfrm>
            <a:off x="8147304" y="5724144"/>
            <a:ext cx="64008" cy="164592"/>
          </a:xfrm>
          <a:prstGeom prst="rect">
            <a:avLst/>
          </a:prstGeom>
          <a:solidFill>
            <a:srgbClr val="00A3C4"/>
          </a:solidFill>
          <a:ln w="12700">
            <a:solidFill>
              <a:srgbClr val="00A3C4"/>
            </a:solidFill>
            <a:prstDash val="solid"/>
          </a:ln>
        </p:spPr>
      </p:sp>
      <p:sp>
        <p:nvSpPr>
          <p:cNvPr id="34" name="Text 30"/>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질량 특성 검증</a:t>
            </a:r>
            <a:endParaRPr lang="en-US" sz="1050" dirty="0"/>
          </a:p>
        </p:txBody>
      </p:sp>
      <p:sp>
        <p:nvSpPr>
          <p:cNvPr id="35" name="Text 31"/>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미문서화 반환값을 GUI 패널과 대조해 확정</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해석 모델 자동 구성 및 결과 추출 — Icepak</a:t>
            </a:r>
            <a:endParaRPr lang="en-US" sz="2200" dirty="0"/>
          </a:p>
        </p:txBody>
      </p:sp>
      <p:sp>
        <p:nvSpPr>
          <p:cNvPr id="6" name="Shape 4"/>
          <p:cNvSpPr/>
          <p:nvPr/>
        </p:nvSpPr>
        <p:spPr>
          <a:xfrm>
            <a:off x="502920" y="1188720"/>
            <a:ext cx="5440680" cy="4160520"/>
          </a:xfrm>
          <a:prstGeom prst="roundRect">
            <a:avLst>
              <a:gd name="adj" fmla="val 1319"/>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자동화 전환 과정</a:t>
            </a:r>
            <a:endParaRPr lang="en-US" sz="1300" dirty="0"/>
          </a:p>
        </p:txBody>
      </p:sp>
      <p:sp>
        <p:nvSpPr>
          <p:cNvPr id="9" name="Shape 7"/>
          <p:cNvSpPr/>
          <p:nvPr/>
        </p:nvSpPr>
        <p:spPr>
          <a:xfrm>
            <a:off x="813816" y="1901952"/>
            <a:ext cx="4846320" cy="585216"/>
          </a:xfrm>
          <a:prstGeom prst="roundRect">
            <a:avLst>
              <a:gd name="adj" fmla="val 9375"/>
            </a:avLst>
          </a:prstGeom>
          <a:solidFill>
            <a:srgbClr val="EEF2F7"/>
          </a:solidFill>
          <a:ln w="9525">
            <a:solidFill>
              <a:srgbClr val="DDE3EB"/>
            </a:solidFill>
            <a:prstDash val="solid"/>
          </a:ln>
        </p:spPr>
      </p:sp>
      <p:sp>
        <p:nvSpPr>
          <p:cNvPr id="10" name="Text 8"/>
          <p:cNvSpPr txBox="1"/>
          <p:nvPr/>
        </p:nvSpPr>
        <p:spPr>
          <a:xfrm>
            <a:off x="923544" y="1901952"/>
            <a:ext cx="310896" cy="585216"/>
          </a:xfrm>
          <a:prstGeom prst="rect">
            <a:avLst/>
          </a:prstGeom>
          <a:noFill/>
          <a:ln/>
        </p:spPr>
        <p:txBody>
          <a:bodyPr wrap="square" lIns="0" tIns="0" rIns="0" bIns="0" rtlCol="0" anchor="ctr"/>
          <a:lstStyle/>
          <a:p>
            <a:pPr indent="0" marL="0">
              <a:buNone/>
            </a:pPr>
            <a:r>
              <a:rPr lang="en-US" sz="1600" b="1" dirty="0">
                <a:solidFill>
                  <a:srgbClr val="00A3C4"/>
                </a:solidFill>
                <a:latin typeface="Malgun Gothic" pitchFamily="34" charset="0"/>
                <a:ea typeface="Malgun Gothic" pitchFamily="34" charset="-122"/>
                <a:cs typeface="Malgun Gothic" pitchFamily="34" charset="-120"/>
              </a:rPr>
              <a:t>1</a:t>
            </a:r>
            <a:endParaRPr lang="en-US" sz="1600" dirty="0"/>
          </a:p>
        </p:txBody>
      </p:sp>
      <p:sp>
        <p:nvSpPr>
          <p:cNvPr id="11" name="Text 9"/>
          <p:cNvSpPr txBox="1"/>
          <p:nvPr/>
        </p:nvSpPr>
        <p:spPr>
          <a:xfrm>
            <a:off x="1289304" y="1938528"/>
            <a:ext cx="1737360" cy="512064"/>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GUI 수동 설정</a:t>
            </a:r>
            <a:endParaRPr lang="en-US" sz="1050" dirty="0"/>
          </a:p>
        </p:txBody>
      </p:sp>
      <p:sp>
        <p:nvSpPr>
          <p:cNvPr id="12" name="Text 10"/>
          <p:cNvSpPr txBox="1"/>
          <p:nvPr/>
        </p:nvSpPr>
        <p:spPr>
          <a:xfrm>
            <a:off x="2990088" y="1938528"/>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해석 모델을 GUI로 한 번 직접 구성</a:t>
            </a:r>
            <a:endParaRPr lang="en-US" sz="880" dirty="0"/>
          </a:p>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(프로젝트 생성 ~ 결과 추출 7단계)</a:t>
            </a:r>
            <a:endParaRPr lang="en-US" sz="880" dirty="0"/>
          </a:p>
        </p:txBody>
      </p:sp>
      <p:sp>
        <p:nvSpPr>
          <p:cNvPr id="13" name="Text 11"/>
          <p:cNvSpPr txBox="1"/>
          <p:nvPr/>
        </p:nvSpPr>
        <p:spPr>
          <a:xfrm>
            <a:off x="813816" y="2487168"/>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14" name="Shape 12"/>
          <p:cNvSpPr/>
          <p:nvPr/>
        </p:nvSpPr>
        <p:spPr>
          <a:xfrm>
            <a:off x="813816" y="2670048"/>
            <a:ext cx="4846320" cy="585216"/>
          </a:xfrm>
          <a:prstGeom prst="roundRect">
            <a:avLst>
              <a:gd name="adj" fmla="val 9375"/>
            </a:avLst>
          </a:prstGeom>
          <a:solidFill>
            <a:srgbClr val="EEF2F7"/>
          </a:solidFill>
          <a:ln w="9525">
            <a:solidFill>
              <a:srgbClr val="DDE3EB"/>
            </a:solidFill>
            <a:prstDash val="solid"/>
          </a:ln>
        </p:spPr>
      </p:sp>
      <p:sp>
        <p:nvSpPr>
          <p:cNvPr id="15" name="Text 13"/>
          <p:cNvSpPr txBox="1"/>
          <p:nvPr/>
        </p:nvSpPr>
        <p:spPr>
          <a:xfrm>
            <a:off x="923544" y="2670048"/>
            <a:ext cx="310896" cy="585216"/>
          </a:xfrm>
          <a:prstGeom prst="rect">
            <a:avLst/>
          </a:prstGeom>
          <a:noFill/>
          <a:ln/>
        </p:spPr>
        <p:txBody>
          <a:bodyPr wrap="square" lIns="0" tIns="0" rIns="0" bIns="0" rtlCol="0" anchor="ctr"/>
          <a:lstStyle/>
          <a:p>
            <a:pPr indent="0" marL="0">
              <a:buNone/>
            </a:pPr>
            <a:r>
              <a:rPr lang="en-US" sz="1600" b="1" dirty="0">
                <a:solidFill>
                  <a:srgbClr val="00A3C4"/>
                </a:solidFill>
                <a:latin typeface="Malgun Gothic" pitchFamily="34" charset="0"/>
                <a:ea typeface="Malgun Gothic" pitchFamily="34" charset="-122"/>
                <a:cs typeface="Malgun Gothic" pitchFamily="34" charset="-120"/>
              </a:rPr>
              <a:t>2</a:t>
            </a:r>
            <a:endParaRPr lang="en-US" sz="1600" dirty="0"/>
          </a:p>
        </p:txBody>
      </p:sp>
      <p:sp>
        <p:nvSpPr>
          <p:cNvPr id="16" name="Text 14"/>
          <p:cNvSpPr txBox="1"/>
          <p:nvPr/>
        </p:nvSpPr>
        <p:spPr>
          <a:xfrm>
            <a:off x="1289304" y="2706624"/>
            <a:ext cx="1737360" cy="512064"/>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스크립트 리코더 기록</a:t>
            </a:r>
            <a:endParaRPr lang="en-US" sz="1050" dirty="0"/>
          </a:p>
        </p:txBody>
      </p:sp>
      <p:sp>
        <p:nvSpPr>
          <p:cNvPr id="17" name="Text 15"/>
          <p:cNvSpPr txBox="1"/>
          <p:nvPr/>
        </p:nvSpPr>
        <p:spPr>
          <a:xfrm>
            <a:off x="2990088" y="2706624"/>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1C2733"/>
                </a:solidFill>
                <a:latin typeface="Malgun Gothic" pitchFamily="34" charset="0"/>
                <a:ea typeface="Malgun Gothic" pitchFamily="34" charset="-122"/>
                <a:cs typeface="Malgun Gothic" pitchFamily="34" charset="-120"/>
              </a:rPr>
              <a:t>GUI 조작 과정을 Python 스크립트로 기록</a:t>
            </a:r>
            <a:endParaRPr lang="en-US" sz="880" dirty="0"/>
          </a:p>
        </p:txBody>
      </p:sp>
      <p:sp>
        <p:nvSpPr>
          <p:cNvPr id="18" name="Text 16"/>
          <p:cNvSpPr txBox="1"/>
          <p:nvPr/>
        </p:nvSpPr>
        <p:spPr>
          <a:xfrm>
            <a:off x="813816" y="3255264"/>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19" name="Shape 17"/>
          <p:cNvSpPr/>
          <p:nvPr/>
        </p:nvSpPr>
        <p:spPr>
          <a:xfrm>
            <a:off x="813816" y="3438144"/>
            <a:ext cx="4846320" cy="585216"/>
          </a:xfrm>
          <a:prstGeom prst="roundRect">
            <a:avLst>
              <a:gd name="adj" fmla="val 9375"/>
            </a:avLst>
          </a:prstGeom>
          <a:solidFill>
            <a:srgbClr val="16305B"/>
          </a:solidFill>
          <a:ln w="9525">
            <a:solidFill>
              <a:srgbClr val="16305B"/>
            </a:solidFill>
            <a:prstDash val="solid"/>
          </a:ln>
        </p:spPr>
      </p:sp>
      <p:sp>
        <p:nvSpPr>
          <p:cNvPr id="20" name="Text 18"/>
          <p:cNvSpPr txBox="1"/>
          <p:nvPr/>
        </p:nvSpPr>
        <p:spPr>
          <a:xfrm>
            <a:off x="923544" y="3438144"/>
            <a:ext cx="310896" cy="585216"/>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21" name="Text 19"/>
          <p:cNvSpPr txBox="1"/>
          <p:nvPr/>
        </p:nvSpPr>
        <p:spPr>
          <a:xfrm>
            <a:off x="1289304" y="3474720"/>
            <a:ext cx="1737360" cy="512064"/>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AI 에이전트와 코드 정리</a:t>
            </a:r>
            <a:endParaRPr lang="en-US" sz="1050" dirty="0"/>
          </a:p>
        </p:txBody>
      </p:sp>
      <p:sp>
        <p:nvSpPr>
          <p:cNvPr id="22" name="Text 20"/>
          <p:cNvSpPr txBox="1"/>
          <p:nvPr/>
        </p:nvSpPr>
        <p:spPr>
          <a:xfrm>
            <a:off x="2990088" y="3474720"/>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기록된 고정값을 설계변수 기반으로 치환하고</a:t>
            </a:r>
            <a:endParaRPr lang="en-US" sz="880" dirty="0"/>
          </a:p>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재사용 가능한 모듈로 구조화</a:t>
            </a:r>
            <a:endParaRPr lang="en-US" sz="880" dirty="0"/>
          </a:p>
        </p:txBody>
      </p:sp>
      <p:sp>
        <p:nvSpPr>
          <p:cNvPr id="23" name="Text 21"/>
          <p:cNvSpPr txBox="1"/>
          <p:nvPr/>
        </p:nvSpPr>
        <p:spPr>
          <a:xfrm>
            <a:off x="813816" y="4023360"/>
            <a:ext cx="4846320" cy="182880"/>
          </a:xfrm>
          <a:prstGeom prst="rect">
            <a:avLst/>
          </a:prstGeom>
          <a:noFill/>
          <a:ln/>
        </p:spPr>
        <p:txBody>
          <a:bodyPr wrap="square" lIns="0" tIns="0" rIns="0" bIns="0" rtlCol="0" anchor="ctr"/>
          <a:lstStyle/>
          <a:p>
            <a:pPr algn="ctr" indent="0" marL="0">
              <a:buNone/>
            </a:pPr>
            <a:r>
              <a:rPr lang="en-US" sz="700" dirty="0">
                <a:solidFill>
                  <a:srgbClr val="6B7A8F"/>
                </a:solidFill>
                <a:latin typeface="Malgun Gothic" pitchFamily="34" charset="0"/>
                <a:ea typeface="Malgun Gothic" pitchFamily="34" charset="-122"/>
                <a:cs typeface="Malgun Gothic" pitchFamily="34" charset="-120"/>
              </a:rPr>
              <a:t>▼</a:t>
            </a:r>
            <a:endParaRPr lang="en-US" sz="700" dirty="0"/>
          </a:p>
        </p:txBody>
      </p:sp>
      <p:sp>
        <p:nvSpPr>
          <p:cNvPr id="24" name="Shape 22"/>
          <p:cNvSpPr/>
          <p:nvPr/>
        </p:nvSpPr>
        <p:spPr>
          <a:xfrm>
            <a:off x="813816" y="4206240"/>
            <a:ext cx="4846320" cy="585216"/>
          </a:xfrm>
          <a:prstGeom prst="roundRect">
            <a:avLst>
              <a:gd name="adj" fmla="val 9375"/>
            </a:avLst>
          </a:prstGeom>
          <a:solidFill>
            <a:srgbClr val="00A3C4"/>
          </a:solidFill>
          <a:ln w="9525">
            <a:solidFill>
              <a:srgbClr val="00A3C4"/>
            </a:solidFill>
            <a:prstDash val="solid"/>
          </a:ln>
        </p:spPr>
      </p:sp>
      <p:sp>
        <p:nvSpPr>
          <p:cNvPr id="25" name="Text 23"/>
          <p:cNvSpPr txBox="1"/>
          <p:nvPr/>
        </p:nvSpPr>
        <p:spPr>
          <a:xfrm>
            <a:off x="923544" y="4206240"/>
            <a:ext cx="310896" cy="585216"/>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26" name="Text 24"/>
          <p:cNvSpPr txBox="1"/>
          <p:nvPr/>
        </p:nvSpPr>
        <p:spPr>
          <a:xfrm>
            <a:off x="1289304" y="4242816"/>
            <a:ext cx="1737360" cy="512064"/>
          </a:xfrm>
          <a:prstGeom prst="rect">
            <a:avLst/>
          </a:prstGeom>
          <a:noFill/>
          <a:ln/>
        </p:spPr>
        <p:txBody>
          <a:bodyPr wrap="square" lIns="0" tIns="0" rIns="0" bIns="0" rtlCol="0" anchor="ct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매 회차 자동 반복</a:t>
            </a:r>
            <a:endParaRPr lang="en-US" sz="1050" dirty="0"/>
          </a:p>
        </p:txBody>
      </p:sp>
      <p:sp>
        <p:nvSpPr>
          <p:cNvPr id="27" name="Text 25"/>
          <p:cNvSpPr txBox="1"/>
          <p:nvPr/>
        </p:nvSpPr>
        <p:spPr>
          <a:xfrm>
            <a:off x="2990088" y="4242816"/>
            <a:ext cx="2596896" cy="512064"/>
          </a:xfrm>
          <a:prstGeom prst="rect">
            <a:avLst/>
          </a:prstGeom>
          <a:noFill/>
          <a:ln/>
        </p:spPr>
        <p:txBody>
          <a:bodyPr wrap="square" lIns="0" tIns="0" rIns="0" bIns="0" rtlCol="0" anchor="ctr"/>
          <a:lstStyle/>
          <a:p>
            <a:pPr indent="0" marL="0">
              <a:lnSpc>
                <a:spcPct val="110000"/>
              </a:lnSpc>
              <a:buNone/>
            </a:pPr>
            <a:r>
              <a:rPr lang="en-US" sz="880" dirty="0">
                <a:solidFill>
                  <a:srgbClr val="FFFFFF"/>
                </a:solidFill>
                <a:latin typeface="Malgun Gothic" pitchFamily="34" charset="0"/>
                <a:ea typeface="Malgun Gothic" pitchFamily="34" charset="-122"/>
                <a:cs typeface="Malgun Gothic" pitchFamily="34" charset="-120"/>
              </a:rPr>
              <a:t>형상(STEP)만 바뀌면 동일 절차를 코드가 재현</a:t>
            </a:r>
            <a:endParaRPr lang="en-US" sz="880" dirty="0"/>
          </a:p>
        </p:txBody>
      </p:sp>
      <p:sp>
        <p:nvSpPr>
          <p:cNvPr id="28" name="Text 26"/>
          <p:cNvSpPr txBox="1"/>
          <p:nvPr/>
        </p:nvSpPr>
        <p:spPr>
          <a:xfrm>
            <a:off x="813816" y="5029200"/>
            <a:ext cx="4846320" cy="219456"/>
          </a:xfrm>
          <a:prstGeom prst="rect">
            <a:avLst/>
          </a:prstGeom>
          <a:noFill/>
          <a:ln/>
        </p:spPr>
        <p:txBody>
          <a:bodyPr wrap="square" lIns="0" tIns="0" rIns="0" bIns="0" rtlCol="0" anchor="ctr"/>
          <a:lstStyle/>
          <a:p>
            <a:pPr indent="0" marL="0">
              <a:buNone/>
            </a:pPr>
            <a:r>
              <a:rPr lang="en-US" sz="900" i="1" dirty="0">
                <a:solidFill>
                  <a:srgbClr val="6B7A8F"/>
                </a:solidFill>
                <a:latin typeface="Malgun Gothic" pitchFamily="34" charset="0"/>
                <a:ea typeface="Malgun Gothic" pitchFamily="34" charset="-122"/>
                <a:cs typeface="Malgun Gothic" pitchFamily="34" charset="-120"/>
              </a:rPr>
              <a:t>※ 단계별 GUI 설정은 부록 A-1 참고</a:t>
            </a:r>
            <a:endParaRPr lang="en-US" sz="900" dirty="0"/>
          </a:p>
        </p:txBody>
      </p:sp>
      <p:sp>
        <p:nvSpPr>
          <p:cNvPr id="29" name="Shape 27"/>
          <p:cNvSpPr/>
          <p:nvPr/>
        </p:nvSpPr>
        <p:spPr>
          <a:xfrm>
            <a:off x="6336792" y="1188720"/>
            <a:ext cx="5440680" cy="2176272"/>
          </a:xfrm>
          <a:prstGeom prst="roundRect">
            <a:avLst>
              <a:gd name="adj" fmla="val 2521"/>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0" name="Shape 28"/>
          <p:cNvSpPr/>
          <p:nvPr/>
        </p:nvSpPr>
        <p:spPr>
          <a:xfrm>
            <a:off x="6592824" y="1463040"/>
            <a:ext cx="82296" cy="182880"/>
          </a:xfrm>
          <a:prstGeom prst="rect">
            <a:avLst/>
          </a:prstGeom>
          <a:solidFill>
            <a:srgbClr val="00A3C4"/>
          </a:solidFill>
          <a:ln w="12700">
            <a:solidFill>
              <a:srgbClr val="00A3C4"/>
            </a:solidFill>
            <a:prstDash val="solid"/>
          </a:ln>
        </p:spPr>
      </p:sp>
      <p:sp>
        <p:nvSpPr>
          <p:cNvPr id="31" name="Text 29"/>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GUI 수동 설정 vs 코드 자동 구성</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47688" y="1828800"/>
          <a:ext cx="4846320" cy="914400"/>
        </p:xfrm>
        <a:graphic>
          <a:graphicData uri="http://schemas.openxmlformats.org/drawingml/2006/table">
            <a:tbl>
              <a:tblPr/>
              <a:tblGrid>
                <a:gridCol w="1143000"/>
                <a:gridCol w="1783080"/>
                <a:gridCol w="1920240"/>
              </a:tblGrid>
              <a:tr h="292608">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GUI 수동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코드 자동</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모델 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7단계 매회 직접 설정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스크립트 1회 실행</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 변경 시</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처음부터 재설정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STEP 교체만으로 재구성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측정면 배치</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유로마다 수작업</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핀 개수 따라 자동 계산</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92608">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설정 일관성</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작업자·회차별 편차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전 회차 동일 조건</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3" name="Shape 30"/>
          <p:cNvSpPr/>
          <p:nvPr/>
        </p:nvSpPr>
        <p:spPr>
          <a:xfrm>
            <a:off x="6336792" y="3520440"/>
            <a:ext cx="5440680" cy="1828800"/>
          </a:xfrm>
          <a:prstGeom prst="roundRect">
            <a:avLst>
              <a:gd name="adj" fmla="val 300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4" name="Shape 31"/>
          <p:cNvSpPr/>
          <p:nvPr/>
        </p:nvSpPr>
        <p:spPr>
          <a:xfrm>
            <a:off x="6592824" y="3794760"/>
            <a:ext cx="82296" cy="182880"/>
          </a:xfrm>
          <a:prstGeom prst="rect">
            <a:avLst/>
          </a:prstGeom>
          <a:solidFill>
            <a:srgbClr val="00A3C4"/>
          </a:solidFill>
          <a:ln w="12700">
            <a:solidFill>
              <a:srgbClr val="00A3C4"/>
            </a:solidFill>
            <a:prstDash val="solid"/>
          </a:ln>
        </p:spPr>
      </p:sp>
      <p:sp>
        <p:nvSpPr>
          <p:cNvPr id="35" name="Text 32"/>
          <p:cNvSpPr txBox="1"/>
          <p:nvPr/>
        </p:nvSpPr>
        <p:spPr>
          <a:xfrm>
            <a:off x="6757416" y="370332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측정 항목 및 결과 출력</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647688" y="4123944"/>
          <a:ext cx="4846320" cy="914400"/>
        </p:xfrm>
        <a:graphic>
          <a:graphicData uri="http://schemas.openxmlformats.org/drawingml/2006/table">
            <a:tbl>
              <a:tblPr/>
              <a:tblGrid>
                <a:gridCol w="1737360"/>
                <a:gridCol w="1554480"/>
                <a:gridCol w="1554480"/>
              </a:tblGrid>
              <a:tr h="237744">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측정 대상</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항목</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00" b="1" dirty="0">
                          <a:solidFill>
                            <a:srgbClr val="16305B"/>
                          </a:solidFill>
                          <a:latin typeface="Malgun Gothic" pitchFamily="34" charset="0"/>
                          <a:ea typeface="Malgun Gothic" pitchFamily="34" charset="-122"/>
                          <a:cs typeface="Malgun Gothic" pitchFamily="34" charset="-120"/>
                        </a:rPr>
                        <a:t>개수</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발열원</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최고 · 평균 온도</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9</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팬 통과면</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차압</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1·2차 통과 유로</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유량</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각 핀 개수 + 1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237744">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전원모듈 분기 입구</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유량</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00" dirty="0">
                          <a:solidFill>
                            <a:srgbClr val="1C2733"/>
                          </a:solidFill>
                          <a:latin typeface="Malgun Gothic" pitchFamily="34" charset="0"/>
                          <a:ea typeface="Malgun Gothic" pitchFamily="34" charset="-122"/>
                          <a:cs typeface="Malgun Gothic" pitchFamily="34" charset="-120"/>
                        </a:rPr>
                        <a:t>1</a:t>
                      </a:r>
                      <a:endParaRPr lang="en-US" sz="9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7" name="Shape 33"/>
          <p:cNvSpPr/>
          <p:nvPr/>
        </p:nvSpPr>
        <p:spPr>
          <a:xfrm>
            <a:off x="502920" y="5541264"/>
            <a:ext cx="11183112" cy="841248"/>
          </a:xfrm>
          <a:prstGeom prst="roundRect">
            <a:avLst>
              <a:gd name="adj" fmla="val 6522"/>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8" name="Shape 34"/>
          <p:cNvSpPr/>
          <p:nvPr/>
        </p:nvSpPr>
        <p:spPr>
          <a:xfrm>
            <a:off x="832104" y="5724144"/>
            <a:ext cx="64008" cy="164592"/>
          </a:xfrm>
          <a:prstGeom prst="rect">
            <a:avLst/>
          </a:prstGeom>
          <a:solidFill>
            <a:srgbClr val="00A3C4"/>
          </a:solidFill>
          <a:ln w="12700">
            <a:solidFill>
              <a:srgbClr val="00A3C4"/>
            </a:solidFill>
            <a:prstDash val="solid"/>
          </a:ln>
        </p:spPr>
      </p:sp>
      <p:sp>
        <p:nvSpPr>
          <p:cNvPr id="39" name="Text 35"/>
          <p:cNvSpPr txBox="1"/>
          <p:nvPr/>
        </p:nvSpPr>
        <p:spPr>
          <a:xfrm>
            <a:off x="9784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회차별 새 프로젝트</a:t>
            </a:r>
            <a:endParaRPr lang="en-US" sz="1050" dirty="0"/>
          </a:p>
        </p:txBody>
      </p:sp>
      <p:sp>
        <p:nvSpPr>
          <p:cNvPr id="40" name="Text 36"/>
          <p:cNvSpPr txBox="1"/>
          <p:nvPr/>
        </p:nvSpPr>
        <p:spPr>
          <a:xfrm>
            <a:off x="9784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이전 회차 설정 간섭·잠금 파일로 인한 정지 방지</a:t>
            </a:r>
            <a:endParaRPr lang="en-US" sz="950" dirty="0"/>
          </a:p>
        </p:txBody>
      </p:sp>
      <p:sp>
        <p:nvSpPr>
          <p:cNvPr id="41" name="Shape 37"/>
          <p:cNvSpPr/>
          <p:nvPr/>
        </p:nvSpPr>
        <p:spPr>
          <a:xfrm>
            <a:off x="4489704" y="5724144"/>
            <a:ext cx="64008" cy="164592"/>
          </a:xfrm>
          <a:prstGeom prst="rect">
            <a:avLst/>
          </a:prstGeom>
          <a:solidFill>
            <a:srgbClr val="00A3C4"/>
          </a:solidFill>
          <a:ln w="12700">
            <a:solidFill>
              <a:srgbClr val="00A3C4"/>
            </a:solidFill>
            <a:prstDash val="solid"/>
          </a:ln>
        </p:spPr>
      </p:sp>
      <p:sp>
        <p:nvSpPr>
          <p:cNvPr id="42" name="Text 38"/>
          <p:cNvSpPr txBox="1"/>
          <p:nvPr/>
        </p:nvSpPr>
        <p:spPr>
          <a:xfrm>
            <a:off x="46360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경계면 자동 탐지</a:t>
            </a:r>
            <a:endParaRPr lang="en-US" sz="1050" dirty="0"/>
          </a:p>
        </p:txBody>
      </p:sp>
      <p:sp>
        <p:nvSpPr>
          <p:cNvPr id="43" name="Text 39"/>
          <p:cNvSpPr txBox="1"/>
          <p:nvPr/>
        </p:nvSpPr>
        <p:spPr>
          <a:xfrm>
            <a:off x="46360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형상이 바뀌어도 팬·개구부 면을 좌표로 식별</a:t>
            </a:r>
            <a:endParaRPr lang="en-US" sz="950" dirty="0"/>
          </a:p>
        </p:txBody>
      </p:sp>
      <p:sp>
        <p:nvSpPr>
          <p:cNvPr id="44" name="Shape 40"/>
          <p:cNvSpPr/>
          <p:nvPr/>
        </p:nvSpPr>
        <p:spPr>
          <a:xfrm>
            <a:off x="8147304" y="5724144"/>
            <a:ext cx="64008" cy="164592"/>
          </a:xfrm>
          <a:prstGeom prst="rect">
            <a:avLst/>
          </a:prstGeom>
          <a:solidFill>
            <a:srgbClr val="00A3C4"/>
          </a:solidFill>
          <a:ln w="12700">
            <a:solidFill>
              <a:srgbClr val="00A3C4"/>
            </a:solidFill>
            <a:prstDash val="solid"/>
          </a:ln>
        </p:spPr>
      </p:sp>
      <p:sp>
        <p:nvSpPr>
          <p:cNvPr id="45" name="Text 41"/>
          <p:cNvSpPr txBox="1"/>
          <p:nvPr/>
        </p:nvSpPr>
        <p:spPr>
          <a:xfrm>
            <a:off x="8293608" y="5669280"/>
            <a:ext cx="3291840" cy="256032"/>
          </a:xfrm>
          <a:prstGeom prst="rect">
            <a:avLst/>
          </a:prstGeom>
          <a:noFill/>
          <a:ln/>
        </p:spPr>
        <p:txBody>
          <a:bodyPr wrap="square" lIns="0" tIns="0" rIns="0" bIns="0" rtlCol="0" anchor="ctr"/>
          <a:lstStyle/>
          <a:p>
            <a:pPr indent="0" marL="0">
              <a:buNone/>
            </a:pPr>
            <a:r>
              <a:rPr lang="en-US" sz="1050" b="1" dirty="0">
                <a:solidFill>
                  <a:srgbClr val="16305B"/>
                </a:solidFill>
                <a:latin typeface="Malgun Gothic" pitchFamily="34" charset="0"/>
                <a:ea typeface="Malgun Gothic" pitchFamily="34" charset="-122"/>
                <a:cs typeface="Malgun Gothic" pitchFamily="34" charset="-120"/>
              </a:rPr>
              <a:t>측정면 동적 생성</a:t>
            </a:r>
            <a:endParaRPr lang="en-US" sz="1050" dirty="0"/>
          </a:p>
        </p:txBody>
      </p:sp>
      <p:sp>
        <p:nvSpPr>
          <p:cNvPr id="46" name="Text 42"/>
          <p:cNvSpPr txBox="1"/>
          <p:nvPr/>
        </p:nvSpPr>
        <p:spPr>
          <a:xfrm>
            <a:off x="8293608" y="5943600"/>
            <a:ext cx="3383280" cy="310896"/>
          </a:xfrm>
          <a:prstGeom prst="rect">
            <a:avLst/>
          </a:prstGeom>
          <a:noFill/>
          <a:ln/>
        </p:spPr>
        <p:txBody>
          <a:bodyPr wrap="square" lIns="0" tIns="0" rIns="0" bIns="0" rtlCol="0" anchor="ctr"/>
          <a:lstStyle/>
          <a:p>
            <a:pPr indent="0" marL="0">
              <a:buNone/>
            </a:pPr>
            <a:r>
              <a:rPr lang="en-US" sz="950" dirty="0">
                <a:solidFill>
                  <a:srgbClr val="6B7A8F"/>
                </a:solidFill>
                <a:latin typeface="Malgun Gothic" pitchFamily="34" charset="0"/>
                <a:ea typeface="Malgun Gothic" pitchFamily="34" charset="-122"/>
                <a:cs typeface="Malgun Gothic" pitchFamily="34" charset="-120"/>
              </a:rPr>
              <a:t>핀 개수 변화에 맞춰 유로 전체 측정면 자동 배치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DOE 기법 선정 및 무인 자동 해석 루프</a:t>
            </a:r>
            <a:endParaRPr lang="en-US" sz="2200" dirty="0"/>
          </a:p>
        </p:txBody>
      </p:sp>
      <p:sp>
        <p:nvSpPr>
          <p:cNvPr id="6" name="Shape 4"/>
          <p:cNvSpPr/>
          <p:nvPr/>
        </p:nvSpPr>
        <p:spPr>
          <a:xfrm>
            <a:off x="502920"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7" name="Shape 5"/>
          <p:cNvSpPr/>
          <p:nvPr/>
        </p:nvSpPr>
        <p:spPr>
          <a:xfrm>
            <a:off x="758952" y="1463040"/>
            <a:ext cx="82296" cy="182880"/>
          </a:xfrm>
          <a:prstGeom prst="rect">
            <a:avLst/>
          </a:prstGeom>
          <a:solidFill>
            <a:srgbClr val="00A3C4"/>
          </a:solidFill>
          <a:ln w="12700">
            <a:solidFill>
              <a:srgbClr val="00A3C4"/>
            </a:solidFill>
            <a:prstDash val="solid"/>
          </a:ln>
        </p:spPr>
      </p:sp>
      <p:sp>
        <p:nvSpPr>
          <p:cNvPr id="8" name="Text 6"/>
          <p:cNvSpPr txBox="1"/>
          <p:nvPr/>
        </p:nvSpPr>
        <p:spPr>
          <a:xfrm>
            <a:off x="923544"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DOE 기법 선정</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3816" y="1901952"/>
          <a:ext cx="4846320" cy="914400"/>
        </p:xfrm>
        <a:graphic>
          <a:graphicData uri="http://schemas.openxmlformats.org/drawingml/2006/table">
            <a:tbl>
              <a:tblPr/>
              <a:tblGrid>
                <a:gridCol w="2286000"/>
                <a:gridCol w="2560320"/>
              </a:tblGrid>
              <a:tr h="310896">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방식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판정</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격자 전수탐색</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   9차원 조합 수 폭증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무작위 샘플링</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   설계공간 편중 발생</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10896">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최적라틴방격법 (OLHD)</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   적은 점으로 균일 분포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10" name="Shape 7"/>
          <p:cNvSpPr/>
          <p:nvPr/>
        </p:nvSpPr>
        <p:spPr>
          <a:xfrm>
            <a:off x="813816" y="3182112"/>
            <a:ext cx="4846320" cy="411480"/>
          </a:xfrm>
          <a:prstGeom prst="roundRect">
            <a:avLst>
              <a:gd name="adj" fmla="val 13333"/>
            </a:avLst>
          </a:prstGeom>
          <a:solidFill>
            <a:srgbClr val="16305B"/>
          </a:solidFill>
          <a:ln/>
        </p:spPr>
      </p:sp>
      <p:sp>
        <p:nvSpPr>
          <p:cNvPr id="11" name="Text 8"/>
          <p:cNvSpPr txBox="1"/>
          <p:nvPr/>
        </p:nvSpPr>
        <p:spPr>
          <a:xfrm>
            <a:off x="813816" y="3182112"/>
            <a:ext cx="484632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초기 실험점 = 10 × 변수 수 = 90 점</a:t>
            </a:r>
            <a:endParaRPr lang="en-US" sz="1100" dirty="0"/>
          </a:p>
        </p:txBody>
      </p:sp>
      <p:sp>
        <p:nvSpPr>
          <p:cNvPr id="12" name="Shape 9"/>
          <p:cNvSpPr/>
          <p:nvPr/>
        </p:nvSpPr>
        <p:spPr>
          <a:xfrm>
            <a:off x="6336792" y="1188720"/>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Shape 10"/>
          <p:cNvSpPr/>
          <p:nvPr/>
        </p:nvSpPr>
        <p:spPr>
          <a:xfrm>
            <a:off x="6592824" y="1463040"/>
            <a:ext cx="82296" cy="182880"/>
          </a:xfrm>
          <a:prstGeom prst="rect">
            <a:avLst/>
          </a:prstGeom>
          <a:solidFill>
            <a:srgbClr val="00A3C4"/>
          </a:solidFill>
          <a:ln w="12700">
            <a:solidFill>
              <a:srgbClr val="00A3C4"/>
            </a:solidFill>
            <a:prstDash val="solid"/>
          </a:ln>
        </p:spPr>
      </p:sp>
      <p:sp>
        <p:nvSpPr>
          <p:cNvPr id="14" name="Text 11"/>
          <p:cNvSpPr txBox="1"/>
          <p:nvPr/>
        </p:nvSpPr>
        <p:spPr>
          <a:xfrm>
            <a:off x="6757416" y="1371600"/>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가공 제약 반영 방식</a:t>
            </a:r>
            <a:endParaRPr lang="en-US" sz="1300" dirty="0"/>
          </a:p>
        </p:txBody>
      </p:sp>
      <p:sp>
        <p:nvSpPr>
          <p:cNvPr id="15" name="Shape 12"/>
          <p:cNvSpPr/>
          <p:nvPr/>
        </p:nvSpPr>
        <p:spPr>
          <a:xfrm>
            <a:off x="6647688" y="1920240"/>
            <a:ext cx="4846320" cy="713232"/>
          </a:xfrm>
          <a:prstGeom prst="roundRect">
            <a:avLst>
              <a:gd name="adj" fmla="val 7692"/>
            </a:avLst>
          </a:prstGeom>
          <a:solidFill>
            <a:srgbClr val="F7F9FC"/>
          </a:solidFill>
          <a:ln w="9525">
            <a:solidFill>
              <a:srgbClr val="DDE3EB"/>
            </a:solidFill>
            <a:prstDash val="solid"/>
          </a:ln>
        </p:spPr>
      </p:sp>
      <p:sp>
        <p:nvSpPr>
          <p:cNvPr id="16" name="Text 13"/>
          <p:cNvSpPr txBox="1"/>
          <p:nvPr/>
        </p:nvSpPr>
        <p:spPr>
          <a:xfrm>
            <a:off x="6793992" y="1993392"/>
            <a:ext cx="4572000" cy="566928"/>
          </a:xfrm>
          <a:prstGeom prst="rect">
            <a:avLst/>
          </a:prstGeom>
          <a:noFill/>
          <a:ln/>
        </p:spPr>
        <p:txBody>
          <a:bodyPr wrap="square" lIns="0" tIns="0" rIns="0" bIns="0" rtlCol="0" anchor="ctr"/>
          <a:lstStyle/>
          <a:p>
            <a:pPr indent="0" marL="0">
              <a:lnSpc>
                <a:spcPct val="125000"/>
              </a:lnSpc>
              <a:buNone/>
            </a:pPr>
            <a:r>
              <a:rPr lang="en-US" sz="950" b="1" dirty="0">
                <a:solidFill>
                  <a:srgbClr val="6B7A8F"/>
                </a:solidFill>
                <a:latin typeface="Malgun Gothic" pitchFamily="34" charset="0"/>
                <a:ea typeface="Malgun Gothic" pitchFamily="34" charset="-122"/>
                <a:cs typeface="Malgun Gothic" pitchFamily="34" charset="-120"/>
              </a:rPr>
              <a:t>기각 방식</a:t>
            </a:r>
            <a:endParaRPr lang="en-US" sz="950" dirty="0"/>
          </a:p>
          <a:p>
            <a:pPr indent="0" marL="0">
              <a:lnSpc>
                <a:spcPct val="125000"/>
              </a:lnSpc>
              <a:buNone/>
            </a:pPr>
            <a:r>
              <a:rPr lang="en-US" sz="950" dirty="0">
                <a:solidFill>
                  <a:srgbClr val="6B7A8F"/>
                </a:solidFill>
                <a:latin typeface="Malgun Gothic" pitchFamily="34" charset="0"/>
                <a:ea typeface="Malgun Gothic" pitchFamily="34" charset="-122"/>
                <a:cs typeface="Malgun Gothic" pitchFamily="34" charset="-120"/>
              </a:rPr>
              <a:t>뽑은 뒤 제약 위반이면 폐기 → 후보 30% 낭비 · 층화 붕괴</a:t>
            </a:r>
            <a:endParaRPr lang="en-US" sz="950" dirty="0"/>
          </a:p>
        </p:txBody>
      </p:sp>
      <p:sp>
        <p:nvSpPr>
          <p:cNvPr id="17" name="Shape 14"/>
          <p:cNvSpPr/>
          <p:nvPr/>
        </p:nvSpPr>
        <p:spPr>
          <a:xfrm>
            <a:off x="6647688" y="2743200"/>
            <a:ext cx="4846320" cy="713232"/>
          </a:xfrm>
          <a:prstGeom prst="roundRect">
            <a:avLst>
              <a:gd name="adj" fmla="val 7692"/>
            </a:avLst>
          </a:prstGeom>
          <a:solidFill>
            <a:srgbClr val="E8F4F8"/>
          </a:solidFill>
          <a:ln w="9525">
            <a:solidFill>
              <a:srgbClr val="00A3C4"/>
            </a:solidFill>
            <a:prstDash val="solid"/>
          </a:ln>
        </p:spPr>
      </p:sp>
      <p:sp>
        <p:nvSpPr>
          <p:cNvPr id="18" name="Text 15"/>
          <p:cNvSpPr txBox="1"/>
          <p:nvPr/>
        </p:nvSpPr>
        <p:spPr>
          <a:xfrm>
            <a:off x="6793992" y="2816352"/>
            <a:ext cx="4572000" cy="566928"/>
          </a:xfrm>
          <a:prstGeom prst="rect">
            <a:avLst/>
          </a:prstGeom>
          <a:noFill/>
          <a:ln/>
        </p:spPr>
        <p:txBody>
          <a:bodyPr wrap="square" lIns="0" tIns="0" rIns="0" bIns="0" rtlCol="0" anchor="ctr"/>
          <a:lstStyle/>
          <a:p>
            <a:pPr indent="0" marL="0">
              <a:lnSpc>
                <a:spcPct val="125000"/>
              </a:lnSpc>
              <a:buNone/>
            </a:pPr>
            <a:r>
              <a:rPr lang="en-US" sz="950" b="1" dirty="0">
                <a:solidFill>
                  <a:srgbClr val="16305B"/>
                </a:solidFill>
                <a:latin typeface="Malgun Gothic" pitchFamily="34" charset="0"/>
                <a:ea typeface="Malgun Gothic" pitchFamily="34" charset="-122"/>
                <a:cs typeface="Malgun Gothic" pitchFamily="34" charset="-120"/>
              </a:rPr>
              <a:t>채택 방식</a:t>
            </a:r>
            <a:endParaRPr lang="en-US" sz="950" dirty="0"/>
          </a:p>
          <a:p>
            <a:pPr indent="0" marL="0">
              <a:lnSpc>
                <a:spcPct val="125000"/>
              </a:lnSpc>
              <a:buNone/>
            </a:pPr>
            <a:r>
              <a:rPr lang="en-US" sz="950" dirty="0">
                <a:solidFill>
                  <a:srgbClr val="1C2733"/>
                </a:solidFill>
                <a:latin typeface="Malgun Gothic" pitchFamily="34" charset="0"/>
                <a:ea typeface="Malgun Gothic" pitchFamily="34" charset="-122"/>
                <a:cs typeface="Malgun Gothic" pitchFamily="34" charset="-120"/>
              </a:rPr>
              <a:t>두께별 허용 개수 범위 안으로 접어 넣어 생성 → 낭비 0 · 층화 유지</a:t>
            </a:r>
            <a:endParaRPr lang="en-US" sz="950" dirty="0"/>
          </a:p>
        </p:txBody>
      </p:sp>
      <p:sp>
        <p:nvSpPr>
          <p:cNvPr id="19" name="Shape 16"/>
          <p:cNvSpPr/>
          <p:nvPr/>
        </p:nvSpPr>
        <p:spPr>
          <a:xfrm>
            <a:off x="502920"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20" name="Shape 17"/>
          <p:cNvSpPr/>
          <p:nvPr/>
        </p:nvSpPr>
        <p:spPr>
          <a:xfrm>
            <a:off x="758952" y="4096512"/>
            <a:ext cx="82296" cy="182880"/>
          </a:xfrm>
          <a:prstGeom prst="rect">
            <a:avLst/>
          </a:prstGeom>
          <a:solidFill>
            <a:srgbClr val="00A3C4"/>
          </a:solidFill>
          <a:ln w="12700">
            <a:solidFill>
              <a:srgbClr val="00A3C4"/>
            </a:solidFill>
            <a:prstDash val="solid"/>
          </a:ln>
        </p:spPr>
      </p:sp>
      <p:sp>
        <p:nvSpPr>
          <p:cNvPr id="21" name="Text 18"/>
          <p:cNvSpPr txBox="1"/>
          <p:nvPr/>
        </p:nvSpPr>
        <p:spPr>
          <a:xfrm>
            <a:off x="923544"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자동 해석 루프</a:t>
            </a:r>
            <a:endParaRPr lang="en-US" sz="1300" dirty="0"/>
          </a:p>
        </p:txBody>
      </p:sp>
      <p:sp>
        <p:nvSpPr>
          <p:cNvPr id="22" name="Shape 19"/>
          <p:cNvSpPr/>
          <p:nvPr/>
        </p:nvSpPr>
        <p:spPr>
          <a:xfrm>
            <a:off x="832104" y="4517136"/>
            <a:ext cx="274320" cy="274320"/>
          </a:xfrm>
          <a:prstGeom prst="ellipse">
            <a:avLst/>
          </a:prstGeom>
          <a:solidFill>
            <a:srgbClr val="16305B"/>
          </a:solidFill>
          <a:ln w="12700">
            <a:solidFill>
              <a:srgbClr val="16305B"/>
            </a:solidFill>
            <a:prstDash val="solid"/>
          </a:ln>
        </p:spPr>
      </p:sp>
      <p:sp>
        <p:nvSpPr>
          <p:cNvPr id="23" name="Text 20"/>
          <p:cNvSpPr txBox="1"/>
          <p:nvPr/>
        </p:nvSpPr>
        <p:spPr>
          <a:xfrm>
            <a:off x="832104" y="4517136"/>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24" name="Text 21"/>
          <p:cNvSpPr txBox="1"/>
          <p:nvPr/>
        </p:nvSpPr>
        <p:spPr>
          <a:xfrm>
            <a:off x="1216152" y="4517136"/>
            <a:ext cx="4389120" cy="274320"/>
          </a:xfrm>
          <a:prstGeom prst="rect">
            <a:avLst/>
          </a:prstGeom>
          <a:noFill/>
          <a:ln/>
        </p:spPr>
        <p:txBody>
          <a:bodyPr wrap="square" lIns="0" tIns="0" rIns="0" bIns="0" rtlCol="0" anchor="ctr"/>
          <a:lstStyle/>
          <a:p>
            <a:pPr indent="0" marL="0">
              <a:buNone/>
            </a:pPr>
            <a:r>
              <a:rPr lang="en-US" sz="1050" dirty="0">
                <a:solidFill>
                  <a:srgbClr val="1C2733"/>
                </a:solidFill>
                <a:latin typeface="Malgun Gothic" pitchFamily="34" charset="0"/>
                <a:ea typeface="Malgun Gothic" pitchFamily="34" charset="-122"/>
                <a:cs typeface="Malgun Gothic" pitchFamily="34" charset="-120"/>
              </a:rPr>
              <a:t>DOE 실험점 선정</a:t>
            </a:r>
            <a:endParaRPr lang="en-US" sz="1050" dirty="0"/>
          </a:p>
        </p:txBody>
      </p:sp>
      <p:sp>
        <p:nvSpPr>
          <p:cNvPr id="25" name="Shape 22"/>
          <p:cNvSpPr/>
          <p:nvPr/>
        </p:nvSpPr>
        <p:spPr>
          <a:xfrm>
            <a:off x="832104" y="4864608"/>
            <a:ext cx="274320" cy="274320"/>
          </a:xfrm>
          <a:prstGeom prst="ellipse">
            <a:avLst/>
          </a:prstGeom>
          <a:solidFill>
            <a:srgbClr val="16305B"/>
          </a:solidFill>
          <a:ln w="12700">
            <a:solidFill>
              <a:srgbClr val="16305B"/>
            </a:solidFill>
            <a:prstDash val="solid"/>
          </a:ln>
        </p:spPr>
      </p:sp>
      <p:sp>
        <p:nvSpPr>
          <p:cNvPr id="26" name="Text 23"/>
          <p:cNvSpPr txBox="1"/>
          <p:nvPr/>
        </p:nvSpPr>
        <p:spPr>
          <a:xfrm>
            <a:off x="832104" y="4864608"/>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27" name="Text 24"/>
          <p:cNvSpPr txBox="1"/>
          <p:nvPr/>
        </p:nvSpPr>
        <p:spPr>
          <a:xfrm>
            <a:off x="1216152" y="4864608"/>
            <a:ext cx="4389120" cy="274320"/>
          </a:xfrm>
          <a:prstGeom prst="rect">
            <a:avLst/>
          </a:prstGeom>
          <a:noFill/>
          <a:ln/>
        </p:spPr>
        <p:txBody>
          <a:bodyPr wrap="square" lIns="0" tIns="0" rIns="0" bIns="0" rtlCol="0" anchor="ctr"/>
          <a:lstStyle/>
          <a:p>
            <a:pPr indent="0" marL="0">
              <a:buNone/>
            </a:pPr>
            <a:r>
              <a:rPr lang="en-US" sz="1050" dirty="0">
                <a:solidFill>
                  <a:srgbClr val="1C2733"/>
                </a:solidFill>
                <a:latin typeface="Malgun Gothic" pitchFamily="34" charset="0"/>
                <a:ea typeface="Malgun Gothic" pitchFamily="34" charset="-122"/>
                <a:cs typeface="Malgun Gothic" pitchFamily="34" charset="-120"/>
              </a:rPr>
              <a:t>CAD 리빌드 · STEP 저장</a:t>
            </a:r>
            <a:endParaRPr lang="en-US" sz="1050" dirty="0"/>
          </a:p>
        </p:txBody>
      </p:sp>
      <p:sp>
        <p:nvSpPr>
          <p:cNvPr id="28" name="Shape 25"/>
          <p:cNvSpPr/>
          <p:nvPr/>
        </p:nvSpPr>
        <p:spPr>
          <a:xfrm>
            <a:off x="832104" y="5212080"/>
            <a:ext cx="274320" cy="274320"/>
          </a:xfrm>
          <a:prstGeom prst="ellipse">
            <a:avLst/>
          </a:prstGeom>
          <a:solidFill>
            <a:srgbClr val="16305B"/>
          </a:solidFill>
          <a:ln w="12700">
            <a:solidFill>
              <a:srgbClr val="16305B"/>
            </a:solidFill>
            <a:prstDash val="solid"/>
          </a:ln>
        </p:spPr>
      </p:sp>
      <p:sp>
        <p:nvSpPr>
          <p:cNvPr id="29" name="Text 26"/>
          <p:cNvSpPr txBox="1"/>
          <p:nvPr/>
        </p:nvSpPr>
        <p:spPr>
          <a:xfrm>
            <a:off x="832104" y="5212080"/>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30" name="Text 27"/>
          <p:cNvSpPr txBox="1"/>
          <p:nvPr/>
        </p:nvSpPr>
        <p:spPr>
          <a:xfrm>
            <a:off x="1216152" y="5212080"/>
            <a:ext cx="4389120" cy="274320"/>
          </a:xfrm>
          <a:prstGeom prst="rect">
            <a:avLst/>
          </a:prstGeom>
          <a:noFill/>
          <a:ln/>
        </p:spPr>
        <p:txBody>
          <a:bodyPr wrap="square" lIns="0" tIns="0" rIns="0" bIns="0" rtlCol="0" anchor="ctr"/>
          <a:lstStyle/>
          <a:p>
            <a:pPr indent="0" marL="0">
              <a:buNone/>
            </a:pPr>
            <a:r>
              <a:rPr lang="en-US" sz="1050" dirty="0">
                <a:solidFill>
                  <a:srgbClr val="1C2733"/>
                </a:solidFill>
                <a:latin typeface="Malgun Gothic" pitchFamily="34" charset="0"/>
                <a:ea typeface="Malgun Gothic" pitchFamily="34" charset="-122"/>
                <a:cs typeface="Malgun Gothic" pitchFamily="34" charset="-120"/>
              </a:rPr>
              <a:t>Icepak 해석 수행</a:t>
            </a:r>
            <a:endParaRPr lang="en-US" sz="1050" dirty="0"/>
          </a:p>
        </p:txBody>
      </p:sp>
      <p:sp>
        <p:nvSpPr>
          <p:cNvPr id="31" name="Shape 28"/>
          <p:cNvSpPr/>
          <p:nvPr/>
        </p:nvSpPr>
        <p:spPr>
          <a:xfrm>
            <a:off x="832104" y="5559552"/>
            <a:ext cx="274320" cy="274320"/>
          </a:xfrm>
          <a:prstGeom prst="ellipse">
            <a:avLst/>
          </a:prstGeom>
          <a:solidFill>
            <a:srgbClr val="16305B"/>
          </a:solidFill>
          <a:ln w="12700">
            <a:solidFill>
              <a:srgbClr val="16305B"/>
            </a:solidFill>
            <a:prstDash val="solid"/>
          </a:ln>
        </p:spPr>
      </p:sp>
      <p:sp>
        <p:nvSpPr>
          <p:cNvPr id="32" name="Text 29"/>
          <p:cNvSpPr txBox="1"/>
          <p:nvPr/>
        </p:nvSpPr>
        <p:spPr>
          <a:xfrm>
            <a:off x="832104" y="5559552"/>
            <a:ext cx="27432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a:t>
            </a:r>
            <a:endParaRPr lang="en-US" sz="900" dirty="0"/>
          </a:p>
        </p:txBody>
      </p:sp>
      <p:sp>
        <p:nvSpPr>
          <p:cNvPr id="33" name="Text 30"/>
          <p:cNvSpPr txBox="1"/>
          <p:nvPr/>
        </p:nvSpPr>
        <p:spPr>
          <a:xfrm>
            <a:off x="1216152" y="5559552"/>
            <a:ext cx="4389120" cy="274320"/>
          </a:xfrm>
          <a:prstGeom prst="rect">
            <a:avLst/>
          </a:prstGeom>
          <a:noFill/>
          <a:ln/>
        </p:spPr>
        <p:txBody>
          <a:bodyPr wrap="square" lIns="0" tIns="0" rIns="0" bIns="0" rtlCol="0" anchor="ctr"/>
          <a:lstStyle/>
          <a:p>
            <a:pPr indent="0" marL="0">
              <a:buNone/>
            </a:pPr>
            <a:r>
              <a:rPr lang="en-US" sz="1050" dirty="0">
                <a:solidFill>
                  <a:srgbClr val="1C2733"/>
                </a:solidFill>
                <a:latin typeface="Malgun Gothic" pitchFamily="34" charset="0"/>
                <a:ea typeface="Malgun Gothic" pitchFamily="34" charset="-122"/>
                <a:cs typeface="Malgun Gothic" pitchFamily="34" charset="-120"/>
              </a:rPr>
              <a:t>결과 파싱 · 데이터 누적</a:t>
            </a:r>
            <a:endParaRPr lang="en-US" sz="1050" dirty="0"/>
          </a:p>
        </p:txBody>
      </p:sp>
      <p:sp>
        <p:nvSpPr>
          <p:cNvPr id="34" name="Text 31"/>
          <p:cNvSpPr txBox="1"/>
          <p:nvPr/>
        </p:nvSpPr>
        <p:spPr>
          <a:xfrm>
            <a:off x="832104" y="5907024"/>
            <a:ext cx="4754880" cy="274320"/>
          </a:xfrm>
          <a:prstGeom prst="rect">
            <a:avLst/>
          </a:prstGeom>
          <a:noFill/>
          <a:ln/>
        </p:spPr>
        <p:txBody>
          <a:bodyPr wrap="square" lIns="0" tIns="0" rIns="0" bIns="0" rtlCol="0" anchor="ctr"/>
          <a:lstStyle/>
          <a:p>
            <a:pPr indent="0" marL="0">
              <a:buNone/>
            </a:pPr>
            <a:r>
              <a:rPr lang="en-US" sz="1000" b="1" dirty="0">
                <a:solidFill>
                  <a:srgbClr val="00A3C4"/>
                </a:solidFill>
                <a:latin typeface="Malgun Gothic" pitchFamily="34" charset="0"/>
                <a:ea typeface="Malgun Gothic" pitchFamily="34" charset="-122"/>
                <a:cs typeface="Malgun Gothic" pitchFamily="34" charset="-120"/>
              </a:rPr>
              <a:t>▶   종료 조건까지 자동 반복 — 1회차 약 17분</a:t>
            </a:r>
            <a:endParaRPr lang="en-US" sz="1000" dirty="0"/>
          </a:p>
        </p:txBody>
      </p:sp>
      <p:sp>
        <p:nvSpPr>
          <p:cNvPr id="35" name="Shape 32"/>
          <p:cNvSpPr/>
          <p:nvPr/>
        </p:nvSpPr>
        <p:spPr>
          <a:xfrm>
            <a:off x="6336792" y="3822192"/>
            <a:ext cx="5440680" cy="2487168"/>
          </a:xfrm>
          <a:prstGeom prst="roundRect">
            <a:avLst>
              <a:gd name="adj" fmla="val 2206"/>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36" name="Shape 33"/>
          <p:cNvSpPr/>
          <p:nvPr/>
        </p:nvSpPr>
        <p:spPr>
          <a:xfrm>
            <a:off x="6592824" y="4096512"/>
            <a:ext cx="82296" cy="182880"/>
          </a:xfrm>
          <a:prstGeom prst="rect">
            <a:avLst/>
          </a:prstGeom>
          <a:solidFill>
            <a:srgbClr val="00A3C4"/>
          </a:solidFill>
          <a:ln w="12700">
            <a:solidFill>
              <a:srgbClr val="00A3C4"/>
            </a:solidFill>
            <a:prstDash val="solid"/>
          </a:ln>
        </p:spPr>
      </p:sp>
      <p:sp>
        <p:nvSpPr>
          <p:cNvPr id="37" name="Text 34"/>
          <p:cNvSpPr txBox="1"/>
          <p:nvPr/>
        </p:nvSpPr>
        <p:spPr>
          <a:xfrm>
            <a:off x="6757416" y="4005072"/>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예외 처리 및 무인 운전</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647688" y="4535424"/>
          <a:ext cx="4846320" cy="914400"/>
        </p:xfrm>
        <a:graphic>
          <a:graphicData uri="http://schemas.openxmlformats.org/drawingml/2006/table">
            <a:tbl>
              <a:tblPr/>
              <a:tblGrid>
                <a:gridCol w="1417320"/>
                <a:gridCol w="3429000"/>
              </a:tblGrid>
              <a:tr h="329184">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상황</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950" b="1" dirty="0">
                          <a:solidFill>
                            <a:srgbClr val="16305B"/>
                          </a:solidFill>
                          <a:latin typeface="Malgun Gothic" pitchFamily="34" charset="0"/>
                          <a:ea typeface="Malgun Gothic" pitchFamily="34" charset="-122"/>
                          <a:cs typeface="Malgun Gothic" pitchFamily="34" charset="-120"/>
                        </a:rPr>
                        <a:t>처리</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형상 미성립</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이력 기록 후 다음 점 진행, 해당 영역 회피</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솔버 비정상 종료</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자동 재연결 후 동일 실험점 재시도</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29184">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연속 실패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950" dirty="0">
                          <a:solidFill>
                            <a:srgbClr val="1C2733"/>
                          </a:solidFill>
                          <a:latin typeface="Malgun Gothic" pitchFamily="34" charset="0"/>
                          <a:ea typeface="Malgun Gothic" pitchFamily="34" charset="-122"/>
                          <a:cs typeface="Malgun Gothic" pitchFamily="34" charset="-120"/>
                        </a:rPr>
                        <a:t>설정 오류로 판단하고 캠페인 중단</a:t>
                      </a:r>
                      <a:endParaRPr lang="en-US" sz="95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39" name="Text 35"/>
          <p:cNvSpPr txBox="1"/>
          <p:nvPr/>
        </p:nvSpPr>
        <p:spPr>
          <a:xfrm>
            <a:off x="6647688" y="5815584"/>
            <a:ext cx="4846320" cy="274320"/>
          </a:xfrm>
          <a:prstGeom prst="rect">
            <a:avLst/>
          </a:prstGeom>
          <a:noFill/>
          <a:ln/>
        </p:spPr>
        <p:txBody>
          <a:bodyPr wrap="square" lIns="0" tIns="0" rIns="0" bIns="0" rtlCol="0" anchor="ctr"/>
          <a:lstStyle/>
          <a:p>
            <a:pPr indent="0" marL="0">
              <a:buNone/>
            </a:pPr>
            <a:r>
              <a:rPr lang="en-US" sz="950" i="1" dirty="0">
                <a:solidFill>
                  <a:srgbClr val="6B7A8F"/>
                </a:solidFill>
                <a:latin typeface="Malgun Gothic" pitchFamily="34" charset="0"/>
                <a:ea typeface="Malgun Gothic" pitchFamily="34" charset="-122"/>
                <a:cs typeface="Malgun Gothic" pitchFamily="34" charset="-120"/>
              </a:rPr>
              <a:t>CAD · 해석 프로그램 GUI 비활성화로 장기 연속 구동 확보</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03</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실험계획법 기반 자동해석 수행 및 데이터 확보</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DOE 데이터 확보 현황 및 차월 계획</a:t>
            </a:r>
            <a:endParaRPr lang="en-US" sz="2200" dirty="0"/>
          </a:p>
        </p:txBody>
      </p:sp>
      <p:sp>
        <p:nvSpPr>
          <p:cNvPr id="6" name="Shape 4"/>
          <p:cNvSpPr/>
          <p:nvPr/>
        </p:nvSpPr>
        <p:spPr>
          <a:xfrm>
            <a:off x="502920" y="1207008"/>
            <a:ext cx="2606040" cy="1298448"/>
          </a:xfrm>
          <a:prstGeom prst="roundRect">
            <a:avLst>
              <a:gd name="adj" fmla="val 4225"/>
            </a:avLst>
          </a:prstGeom>
          <a:solidFill>
            <a:srgbClr val="16305B"/>
          </a:solidFill>
          <a:ln w="9525">
            <a:solidFill>
              <a:srgbClr val="16305B"/>
            </a:solidFill>
            <a:prstDash val="solid"/>
          </a:ln>
          <a:effectLst>
            <a:outerShdw sx="100000" sy="100000" kx="0" ky="0" algn="bl" rotWithShape="0" blurRad="101600" dist="12700" dir="5400000">
              <a:srgbClr val="9AA8BC">
                <a:alpha val="18000"/>
              </a:srgbClr>
            </a:outerShdw>
          </a:effectLst>
        </p:spPr>
      </p:sp>
      <p:sp>
        <p:nvSpPr>
          <p:cNvPr id="7" name="Text 5"/>
          <p:cNvSpPr txBox="1"/>
          <p:nvPr/>
        </p:nvSpPr>
        <p:spPr>
          <a:xfrm>
            <a:off x="685800" y="1389888"/>
            <a:ext cx="2240280" cy="658368"/>
          </a:xfrm>
          <a:prstGeom prst="rect">
            <a:avLst/>
          </a:prstGeom>
          <a:noFill/>
          <a:ln/>
        </p:spPr>
        <p:txBody>
          <a:bodyPr wrap="square" lIns="0" tIns="0" rIns="0" bIns="0" rtlCol="0" anchor="ctr"/>
          <a:lstStyle/>
          <a:p>
            <a:pPr algn="ctr" indent="0" marL="0">
              <a:buNone/>
            </a:pPr>
            <a:r>
              <a:rPr lang="en-US" sz="3400" b="1" dirty="0">
                <a:solidFill>
                  <a:srgbClr val="FFFFFF"/>
                </a:solidFill>
                <a:latin typeface="Malgun Gothic" pitchFamily="34" charset="0"/>
                <a:ea typeface="Malgun Gothic" pitchFamily="34" charset="-122"/>
                <a:cs typeface="Malgun Gothic" pitchFamily="34" charset="-120"/>
              </a:rPr>
              <a:t>90</a:t>
            </a:r>
            <a:pPr algn="ctr" indent="0" marL="0">
              <a:buNone/>
            </a:pPr>
            <a:r>
              <a:rPr lang="en-US" sz="1100" dirty="0">
                <a:solidFill>
                  <a:srgbClr val="CFE0F2"/>
                </a:solidFill>
                <a:latin typeface="Malgun Gothic" pitchFamily="34" charset="0"/>
                <a:ea typeface="Malgun Gothic" pitchFamily="34" charset="-122"/>
                <a:cs typeface="Malgun Gothic" pitchFamily="34" charset="-120"/>
              </a:rPr>
              <a:t>  점</a:t>
            </a:r>
            <a:endParaRPr lang="en-US" sz="3400" dirty="0"/>
          </a:p>
        </p:txBody>
      </p:sp>
      <p:sp>
        <p:nvSpPr>
          <p:cNvPr id="8" name="Text 6"/>
          <p:cNvSpPr txBox="1"/>
          <p:nvPr/>
        </p:nvSpPr>
        <p:spPr>
          <a:xfrm>
            <a:off x="685800" y="2048256"/>
            <a:ext cx="2240280" cy="274320"/>
          </a:xfrm>
          <a:prstGeom prst="rect">
            <a:avLst/>
          </a:prstGeom>
          <a:noFill/>
          <a:ln/>
        </p:spPr>
        <p:txBody>
          <a:bodyPr wrap="square" lIns="0" tIns="0" rIns="0" bIns="0" rtlCol="0" anchor="ctr"/>
          <a:lstStyle/>
          <a:p>
            <a:pPr algn="ctr" indent="0" marL="0">
              <a:buNone/>
            </a:pPr>
            <a:r>
              <a:rPr lang="en-US" sz="1000" dirty="0">
                <a:solidFill>
                  <a:srgbClr val="CFE0F2"/>
                </a:solidFill>
                <a:latin typeface="Malgun Gothic" pitchFamily="34" charset="0"/>
                <a:ea typeface="Malgun Gothic" pitchFamily="34" charset="-122"/>
                <a:cs typeface="Malgun Gothic" pitchFamily="34" charset="-120"/>
              </a:rPr>
              <a:t>DOE 실험점</a:t>
            </a:r>
            <a:endParaRPr lang="en-US" sz="1000" dirty="0"/>
          </a:p>
        </p:txBody>
      </p:sp>
      <p:sp>
        <p:nvSpPr>
          <p:cNvPr id="9" name="Shape 7"/>
          <p:cNvSpPr/>
          <p:nvPr/>
        </p:nvSpPr>
        <p:spPr>
          <a:xfrm>
            <a:off x="3383280" y="1207008"/>
            <a:ext cx="2606040" cy="1298448"/>
          </a:xfrm>
          <a:prstGeom prst="roundRect">
            <a:avLst>
              <a:gd name="adj" fmla="val 422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0" name="Text 8"/>
          <p:cNvSpPr txBox="1"/>
          <p:nvPr/>
        </p:nvSpPr>
        <p:spPr>
          <a:xfrm>
            <a:off x="3566160" y="1389888"/>
            <a:ext cx="2240280" cy="658368"/>
          </a:xfrm>
          <a:prstGeom prst="rect">
            <a:avLst/>
          </a:prstGeom>
          <a:noFill/>
          <a:ln/>
        </p:spPr>
        <p:txBody>
          <a:bodyPr wrap="square" lIns="0" tIns="0" rIns="0" bIns="0" rtlCol="0" anchor="ctr"/>
          <a:lstStyle/>
          <a:p>
            <a:pPr algn="ctr" indent="0" marL="0">
              <a:buNone/>
            </a:pPr>
            <a:r>
              <a:rPr lang="en-US" sz="2100" b="1" dirty="0">
                <a:solidFill>
                  <a:srgbClr val="16305B"/>
                </a:solidFill>
                <a:latin typeface="Malgun Gothic" pitchFamily="34" charset="0"/>
                <a:ea typeface="Malgun Gothic" pitchFamily="34" charset="-122"/>
                <a:cs typeface="Malgun Gothic" pitchFamily="34" charset="-120"/>
              </a:rPr>
              <a:t>2.50 ~ 6.41</a:t>
            </a:r>
            <a:pPr algn="ctr" indent="0" marL="0">
              <a:buNone/>
            </a:pPr>
            <a:r>
              <a:rPr lang="en-US" sz="1100" dirty="0">
                <a:solidFill>
                  <a:srgbClr val="6B7A8F"/>
                </a:solidFill>
                <a:latin typeface="Malgun Gothic" pitchFamily="34" charset="0"/>
                <a:ea typeface="Malgun Gothic" pitchFamily="34" charset="-122"/>
                <a:cs typeface="Malgun Gothic" pitchFamily="34" charset="-120"/>
              </a:rPr>
              <a:t>  mm</a:t>
            </a:r>
            <a:endParaRPr lang="en-US" sz="2100" dirty="0"/>
          </a:p>
        </p:txBody>
      </p:sp>
      <p:sp>
        <p:nvSpPr>
          <p:cNvPr id="11" name="Text 9"/>
          <p:cNvSpPr txBox="1"/>
          <p:nvPr/>
        </p:nvSpPr>
        <p:spPr>
          <a:xfrm>
            <a:off x="3566160" y="2048256"/>
            <a:ext cx="2240280" cy="274320"/>
          </a:xfrm>
          <a:prstGeom prst="rect">
            <a:avLst/>
          </a:prstGeom>
          <a:noFill/>
          <a:ln/>
        </p:spPr>
        <p:txBody>
          <a:bodyPr wrap="square" lIns="0" tIns="0" rIns="0" bIns="0" rtlCol="0" anchor="ctr"/>
          <a:lstStyle/>
          <a:p>
            <a:pPr algn="ctr" indent="0" marL="0">
              <a:buNone/>
            </a:pPr>
            <a:r>
              <a:rPr lang="en-US" sz="1000" dirty="0">
                <a:solidFill>
                  <a:srgbClr val="6B7A8F"/>
                </a:solidFill>
                <a:latin typeface="Malgun Gothic" pitchFamily="34" charset="0"/>
                <a:ea typeface="Malgun Gothic" pitchFamily="34" charset="-122"/>
                <a:cs typeface="Malgun Gothic" pitchFamily="34" charset="-120"/>
              </a:rPr>
              <a:t>유로 갭 범위</a:t>
            </a:r>
            <a:endParaRPr lang="en-US" sz="1000" dirty="0"/>
          </a:p>
        </p:txBody>
      </p:sp>
      <p:sp>
        <p:nvSpPr>
          <p:cNvPr id="12" name="Shape 10"/>
          <p:cNvSpPr/>
          <p:nvPr/>
        </p:nvSpPr>
        <p:spPr>
          <a:xfrm>
            <a:off x="6263640" y="1207008"/>
            <a:ext cx="2606040" cy="1298448"/>
          </a:xfrm>
          <a:prstGeom prst="roundRect">
            <a:avLst>
              <a:gd name="adj" fmla="val 422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3" name="Text 11"/>
          <p:cNvSpPr txBox="1"/>
          <p:nvPr/>
        </p:nvSpPr>
        <p:spPr>
          <a:xfrm>
            <a:off x="6446520" y="1389888"/>
            <a:ext cx="2240280" cy="658368"/>
          </a:xfrm>
          <a:prstGeom prst="rect">
            <a:avLst/>
          </a:prstGeom>
          <a:noFill/>
          <a:ln/>
        </p:spPr>
        <p:txBody>
          <a:bodyPr wrap="square" lIns="0" tIns="0" rIns="0" bIns="0" rtlCol="0" anchor="ctr"/>
          <a:lstStyle/>
          <a:p>
            <a:pPr algn="ctr" indent="0" marL="0">
              <a:buNone/>
            </a:pPr>
            <a:r>
              <a:rPr lang="en-US" sz="2100" b="1" dirty="0">
                <a:solidFill>
                  <a:srgbClr val="16305B"/>
                </a:solidFill>
                <a:latin typeface="Malgun Gothic" pitchFamily="34" charset="0"/>
                <a:ea typeface="Malgun Gothic" pitchFamily="34" charset="-122"/>
                <a:cs typeface="Malgun Gothic" pitchFamily="34" charset="-120"/>
              </a:rPr>
              <a:t>1,701 ~ 4,661</a:t>
            </a:r>
            <a:pPr algn="ctr" indent="0" marL="0">
              <a:buNone/>
            </a:pPr>
            <a:r>
              <a:rPr lang="en-US" sz="1100" dirty="0">
                <a:solidFill>
                  <a:srgbClr val="6B7A8F"/>
                </a:solidFill>
                <a:latin typeface="Malgun Gothic" pitchFamily="34" charset="0"/>
                <a:ea typeface="Malgun Gothic" pitchFamily="34" charset="-122"/>
                <a:cs typeface="Malgun Gothic" pitchFamily="34" charset="-120"/>
              </a:rPr>
              <a:t>  Pa</a:t>
            </a:r>
            <a:endParaRPr lang="en-US" sz="2100" dirty="0"/>
          </a:p>
        </p:txBody>
      </p:sp>
      <p:sp>
        <p:nvSpPr>
          <p:cNvPr id="14" name="Text 12"/>
          <p:cNvSpPr txBox="1"/>
          <p:nvPr/>
        </p:nvSpPr>
        <p:spPr>
          <a:xfrm>
            <a:off x="6446520" y="2048256"/>
            <a:ext cx="2240280" cy="274320"/>
          </a:xfrm>
          <a:prstGeom prst="rect">
            <a:avLst/>
          </a:prstGeom>
          <a:noFill/>
          <a:ln/>
        </p:spPr>
        <p:txBody>
          <a:bodyPr wrap="square" lIns="0" tIns="0" rIns="0" bIns="0" rtlCol="0" anchor="ctr"/>
          <a:lstStyle/>
          <a:p>
            <a:pPr algn="ctr" indent="0" marL="0">
              <a:buNone/>
            </a:pPr>
            <a:r>
              <a:rPr lang="en-US" sz="1000" dirty="0">
                <a:solidFill>
                  <a:srgbClr val="6B7A8F"/>
                </a:solidFill>
                <a:latin typeface="Malgun Gothic" pitchFamily="34" charset="0"/>
                <a:ea typeface="Malgun Gothic" pitchFamily="34" charset="-122"/>
                <a:cs typeface="Malgun Gothic" pitchFamily="34" charset="-120"/>
              </a:rPr>
              <a:t>차압 분포</a:t>
            </a:r>
            <a:endParaRPr lang="en-US" sz="1000" dirty="0"/>
          </a:p>
        </p:txBody>
      </p:sp>
      <p:sp>
        <p:nvSpPr>
          <p:cNvPr id="15" name="Shape 13"/>
          <p:cNvSpPr/>
          <p:nvPr/>
        </p:nvSpPr>
        <p:spPr>
          <a:xfrm>
            <a:off x="9144000" y="1207008"/>
            <a:ext cx="2606040" cy="1298448"/>
          </a:xfrm>
          <a:prstGeom prst="roundRect">
            <a:avLst>
              <a:gd name="adj" fmla="val 4225"/>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6" name="Text 14"/>
          <p:cNvSpPr txBox="1"/>
          <p:nvPr/>
        </p:nvSpPr>
        <p:spPr>
          <a:xfrm>
            <a:off x="9326880" y="1389888"/>
            <a:ext cx="2240280" cy="658368"/>
          </a:xfrm>
          <a:prstGeom prst="rect">
            <a:avLst/>
          </a:prstGeom>
          <a:noFill/>
          <a:ln/>
        </p:spPr>
        <p:txBody>
          <a:bodyPr wrap="square" lIns="0" tIns="0" rIns="0" bIns="0" rtlCol="0" anchor="ctr"/>
          <a:lstStyle/>
          <a:p>
            <a:pPr algn="ctr" indent="0" marL="0">
              <a:buNone/>
            </a:pPr>
            <a:r>
              <a:rPr lang="en-US" sz="2100" b="1" dirty="0">
                <a:solidFill>
                  <a:srgbClr val="16305B"/>
                </a:solidFill>
                <a:latin typeface="Malgun Gothic" pitchFamily="34" charset="0"/>
                <a:ea typeface="Malgun Gothic" pitchFamily="34" charset="-122"/>
                <a:cs typeface="Malgun Gothic" pitchFamily="34" charset="-120"/>
              </a:rPr>
              <a:t>4.90 ~ 5.24</a:t>
            </a:r>
            <a:pPr algn="ctr" indent="0" marL="0">
              <a:buNone/>
            </a:pPr>
            <a:r>
              <a:rPr lang="en-US" sz="1100" dirty="0">
                <a:solidFill>
                  <a:srgbClr val="6B7A8F"/>
                </a:solidFill>
                <a:latin typeface="Malgun Gothic" pitchFamily="34" charset="0"/>
                <a:ea typeface="Malgun Gothic" pitchFamily="34" charset="-122"/>
                <a:cs typeface="Malgun Gothic" pitchFamily="34" charset="-120"/>
              </a:rPr>
              <a:t>  kg</a:t>
            </a:r>
            <a:endParaRPr lang="en-US" sz="2100" dirty="0"/>
          </a:p>
        </p:txBody>
      </p:sp>
      <p:sp>
        <p:nvSpPr>
          <p:cNvPr id="17" name="Text 15"/>
          <p:cNvSpPr txBox="1"/>
          <p:nvPr/>
        </p:nvSpPr>
        <p:spPr>
          <a:xfrm>
            <a:off x="9326880" y="2048256"/>
            <a:ext cx="2240280" cy="274320"/>
          </a:xfrm>
          <a:prstGeom prst="rect">
            <a:avLst/>
          </a:prstGeom>
          <a:noFill/>
          <a:ln/>
        </p:spPr>
        <p:txBody>
          <a:bodyPr wrap="square" lIns="0" tIns="0" rIns="0" bIns="0" rtlCol="0" anchor="ctr"/>
          <a:lstStyle/>
          <a:p>
            <a:pPr algn="ctr" indent="0" marL="0">
              <a:buNone/>
            </a:pPr>
            <a:r>
              <a:rPr lang="en-US" sz="1000" dirty="0">
                <a:solidFill>
                  <a:srgbClr val="6B7A8F"/>
                </a:solidFill>
                <a:latin typeface="Malgun Gothic" pitchFamily="34" charset="0"/>
                <a:ea typeface="Malgun Gothic" pitchFamily="34" charset="-122"/>
                <a:cs typeface="Malgun Gothic" pitchFamily="34" charset="-120"/>
              </a:rPr>
              <a:t>중량 분포</a:t>
            </a:r>
            <a:endParaRPr lang="en-US" sz="1000" dirty="0"/>
          </a:p>
        </p:txBody>
      </p:sp>
      <p:sp>
        <p:nvSpPr>
          <p:cNvPr id="18" name="Shape 16"/>
          <p:cNvSpPr/>
          <p:nvPr/>
        </p:nvSpPr>
        <p:spPr>
          <a:xfrm>
            <a:off x="502920" y="2706624"/>
            <a:ext cx="11183112" cy="1810512"/>
          </a:xfrm>
          <a:prstGeom prst="roundRect">
            <a:avLst>
              <a:gd name="adj" fmla="val 3030"/>
            </a:avLst>
          </a:prstGeom>
          <a:solidFill>
            <a:srgbClr val="FFFFFF"/>
          </a:solidFill>
          <a:ln w="9525">
            <a:solidFill>
              <a:srgbClr val="DDE3EB"/>
            </a:solidFill>
            <a:prstDash val="solid"/>
          </a:ln>
          <a:effectLst>
            <a:outerShdw sx="100000" sy="100000" kx="0" ky="0" algn="bl" rotWithShape="0" blurRad="101600" dist="12700" dir="5400000">
              <a:srgbClr val="9AA8BC">
                <a:alpha val="18000"/>
              </a:srgbClr>
            </a:outerShdw>
          </a:effectLst>
        </p:spPr>
      </p:sp>
      <p:sp>
        <p:nvSpPr>
          <p:cNvPr id="19" name="Shape 17"/>
          <p:cNvSpPr/>
          <p:nvPr/>
        </p:nvSpPr>
        <p:spPr>
          <a:xfrm>
            <a:off x="758952" y="2980944"/>
            <a:ext cx="82296" cy="182880"/>
          </a:xfrm>
          <a:prstGeom prst="rect">
            <a:avLst/>
          </a:prstGeom>
          <a:solidFill>
            <a:srgbClr val="00A3C4"/>
          </a:solidFill>
          <a:ln w="12700">
            <a:solidFill>
              <a:srgbClr val="00A3C4"/>
            </a:solidFill>
            <a:prstDash val="solid"/>
          </a:ln>
        </p:spPr>
      </p:sp>
      <p:sp>
        <p:nvSpPr>
          <p:cNvPr id="20" name="Text 18"/>
          <p:cNvSpPr txBox="1"/>
          <p:nvPr/>
        </p:nvSpPr>
        <p:spPr>
          <a:xfrm>
            <a:off x="923544" y="2889504"/>
            <a:ext cx="4480560" cy="365760"/>
          </a:xfrm>
          <a:prstGeom prst="rect">
            <a:avLst/>
          </a:prstGeom>
          <a:noFill/>
          <a:ln/>
        </p:spPr>
        <p:txBody>
          <a:bodyPr wrap="square" lIns="0" tIns="0" rIns="0" bIns="0" rtlCol="0" anchor="ctr"/>
          <a:lstStyle/>
          <a:p>
            <a:pPr indent="0" marL="0">
              <a:buNone/>
            </a:pPr>
            <a:r>
              <a:rPr lang="en-US" sz="1300" b="1" dirty="0">
                <a:solidFill>
                  <a:srgbClr val="16305B"/>
                </a:solidFill>
                <a:latin typeface="Malgun Gothic" pitchFamily="34" charset="0"/>
                <a:ea typeface="Malgun Gothic" pitchFamily="34" charset="-122"/>
                <a:cs typeface="Malgun Gothic" pitchFamily="34" charset="-120"/>
              </a:rPr>
              <a:t>확보 범위 및 데이터 구조</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86968" y="3255264"/>
          <a:ext cx="10515600" cy="914400"/>
        </p:xfrm>
        <a:graphic>
          <a:graphicData uri="http://schemas.openxmlformats.org/drawingml/2006/table">
            <a:tbl>
              <a:tblPr/>
              <a:tblGrid>
                <a:gridCol w="1828800"/>
                <a:gridCol w="3749040"/>
                <a:gridCol w="1554480"/>
                <a:gridCol w="3383280"/>
              </a:tblGrid>
              <a:tr h="347472">
                <a:tc>
                  <a:txBody>
                    <a:bodyP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핀 두께 / 개수</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1.5 ~ 3.0 mm / 10 ~ 21 개</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최고온도</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116.8 ~ 122.9 ℃</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r h="347472">
                <a:tc>
                  <a:txBody>
                    <a:bodyP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유로 갭</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2.500 ~ 6.409 mm  (가공 제약 하한까지 도달)</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c>
                  <a:txBody>
                    <a:bodyPr/>
                    <a:lstStyle/>
                    <a:p>
                      <a:pPr indent="0" marL="0">
                        <a:buNone/>
                      </a:pPr>
                      <a:r>
                        <a:rPr lang="en-US" sz="1000" b="1" dirty="0">
                          <a:solidFill>
                            <a:srgbClr val="16305B"/>
                          </a:solidFill>
                          <a:latin typeface="Malgun Gothic" pitchFamily="34" charset="0"/>
                          <a:ea typeface="Malgun Gothic" pitchFamily="34" charset="-122"/>
                          <a:cs typeface="Malgun Gothic" pitchFamily="34" charset="-120"/>
                        </a:rPr>
                        <a:t>데이터 구조</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solidFill>
                      <a:srgbClr val="EEF2F7"/>
                    </a:solidFill>
                  </a:tcPr>
                </a:tc>
                <a:tc>
                  <a:txBody>
                    <a:bodyPr/>
                    <a:lstStyle/>
                    <a:p>
                      <a:pPr indent="0" marL="0">
                        <a:buNone/>
                      </a:pPr>
                      <a:r>
                        <a:rPr lang="en-US" sz="1000" dirty="0">
                          <a:solidFill>
                            <a:srgbClr val="1C2733"/>
                          </a:solidFill>
                          <a:latin typeface="Malgun Gothic" pitchFamily="34" charset="0"/>
                          <a:ea typeface="Malgun Gothic" pitchFamily="34" charset="-122"/>
                          <a:cs typeface="Malgun Gothic" pitchFamily="34" charset="-120"/>
                        </a:rPr>
                        <a:t>설계변수 9종 | 갭 | 목적함수 | 제약조건</a:t>
                      </a:r>
                      <a:endParaRPr lang="en-US" sz="1000" dirty="0">
                        <a:latin typeface="Malgun Gothic" charset="0"/>
                        <a:ea typeface="Malgun Gothic" charset="0"/>
                        <a:cs typeface="Malgun Gothic" charset="0"/>
                      </a:endParaRPr>
                    </a:p>
                  </a:txBody>
                  <a:tcPr marL="50800" marR="50800" marT="25400" marB="25400" anchor="ctr">
                    <a:lnL w="0" cap="flat" cmpd="sng" algn="ctr">
                      <a:noFill/>
                    </a:lnL>
                    <a:lnR w="0" cap="flat" cmpd="sng" algn="ctr">
                      <a:noFill/>
                    </a:lnR>
                    <a:lnT w="0" cap="flat" cmpd="sng" algn="ctr">
                      <a:noFill/>
                    </a:lnT>
                    <a:lnB w="6350" cap="flat" cmpd="sng" algn="ctr">
                      <a:solidFill>
                        <a:srgbClr val="DDE3EB"/>
                      </a:solidFill>
                      <a:prstDash val="solid"/>
                      <a:round/>
                      <a:headEnd type="none" w="med" len="med"/>
                      <a:tailEnd type="none" w="med" len="med"/>
                    </a:lnB>
                  </a:tcPr>
                </a:tc>
              </a:tr>
            </a:tbl>
          </a:graphicData>
        </a:graphic>
      </p:graphicFrame>
      <p:sp>
        <p:nvSpPr>
          <p:cNvPr id="22" name="Text 19"/>
          <p:cNvSpPr txBox="1"/>
          <p:nvPr/>
        </p:nvSpPr>
        <p:spPr>
          <a:xfrm>
            <a:off x="886968" y="4041648"/>
            <a:ext cx="10424160" cy="274320"/>
          </a:xfrm>
          <a:prstGeom prst="rect">
            <a:avLst/>
          </a:prstGeom>
          <a:noFill/>
          <a:ln/>
        </p:spPr>
        <p:txBody>
          <a:bodyPr wrap="square" lIns="0" tIns="0" rIns="0" bIns="0" rtlCol="0" anchor="ctr"/>
          <a:lstStyle/>
          <a:p>
            <a:pPr indent="0" marL="0">
              <a:buNone/>
            </a:pPr>
            <a:r>
              <a:rPr lang="en-US" sz="950" i="1" dirty="0">
                <a:solidFill>
                  <a:srgbClr val="6B7A8F"/>
                </a:solidFill>
                <a:latin typeface="Malgun Gothic" pitchFamily="34" charset="0"/>
                <a:ea typeface="Malgun Gothic" pitchFamily="34" charset="-122"/>
                <a:cs typeface="Malgun Gothic" pitchFamily="34" charset="-120"/>
              </a:rPr>
              <a:t>설계공간 전 영역에 고르게 분포 — 대리모델 학습 입력으로 사용</a:t>
            </a:r>
            <a:endParaRPr lang="en-US" sz="950" dirty="0"/>
          </a:p>
        </p:txBody>
      </p:sp>
      <p:sp>
        <p:nvSpPr>
          <p:cNvPr id="23" name="Shape 20"/>
          <p:cNvSpPr/>
          <p:nvPr/>
        </p:nvSpPr>
        <p:spPr>
          <a:xfrm>
            <a:off x="502920" y="4709160"/>
            <a:ext cx="11183112" cy="1600200"/>
          </a:xfrm>
          <a:prstGeom prst="roundRect">
            <a:avLst>
              <a:gd name="adj" fmla="val 3429"/>
            </a:avLst>
          </a:prstGeom>
          <a:solidFill>
            <a:srgbClr val="16305B"/>
          </a:solidFill>
          <a:ln w="12700">
            <a:solidFill>
              <a:srgbClr val="16305B"/>
            </a:solidFill>
            <a:prstDash val="solid"/>
          </a:ln>
        </p:spPr>
      </p:sp>
      <p:sp>
        <p:nvSpPr>
          <p:cNvPr id="24" name="Text 21"/>
          <p:cNvSpPr txBox="1"/>
          <p:nvPr/>
        </p:nvSpPr>
        <p:spPr>
          <a:xfrm>
            <a:off x="886968" y="4892040"/>
            <a:ext cx="2926080" cy="292608"/>
          </a:xfrm>
          <a:prstGeom prst="rect">
            <a:avLst/>
          </a:prstGeom>
          <a:noFill/>
          <a:ln/>
        </p:spPr>
        <p:txBody>
          <a:bodyPr wrap="square" lIns="0" tIns="0" rIns="0" bIns="0" rtlCol="0" anchor="ctr"/>
          <a:lstStyle/>
          <a:p>
            <a:pPr indent="0" marL="0">
              <a:buNone/>
            </a:pPr>
            <a:r>
              <a:rPr lang="en-US" sz="1200" b="1" spc="100" kern="0" dirty="0">
                <a:solidFill>
                  <a:srgbClr val="00A3C4"/>
                </a:solidFill>
                <a:latin typeface="Malgun Gothic" pitchFamily="34" charset="0"/>
                <a:ea typeface="Malgun Gothic" pitchFamily="34" charset="-122"/>
                <a:cs typeface="Malgun Gothic" pitchFamily="34" charset="-120"/>
              </a:rPr>
              <a:t>차 월 계 획</a:t>
            </a:r>
            <a:endParaRPr lang="en-US" sz="1200" dirty="0"/>
          </a:p>
        </p:txBody>
      </p:sp>
      <p:sp>
        <p:nvSpPr>
          <p:cNvPr id="25" name="Text 22"/>
          <p:cNvSpPr txBox="1"/>
          <p:nvPr/>
        </p:nvSpPr>
        <p:spPr>
          <a:xfrm>
            <a:off x="886968" y="5285232"/>
            <a:ext cx="457200" cy="274320"/>
          </a:xfrm>
          <a:prstGeom prst="rect">
            <a:avLst/>
          </a:prstGeom>
          <a:noFill/>
          <a:ln/>
        </p:spPr>
        <p:txBody>
          <a:bodyPr wrap="square" lIns="0" tIns="0" rIns="0" bIns="0" rtlCol="0" anchor="ctr"/>
          <a:lstStyle/>
          <a:p>
            <a:pPr indent="0" marL="0">
              <a:buNone/>
            </a:pPr>
            <a:r>
              <a:rPr lang="en-US" sz="1100" b="1" dirty="0">
                <a:solidFill>
                  <a:srgbClr val="00A3C4"/>
                </a:solidFill>
                <a:latin typeface="Malgun Gothic" pitchFamily="34" charset="0"/>
                <a:ea typeface="Malgun Gothic" pitchFamily="34" charset="-122"/>
                <a:cs typeface="Malgun Gothic" pitchFamily="34" charset="-120"/>
              </a:rPr>
              <a:t>01</a:t>
            </a:r>
            <a:endParaRPr lang="en-US" sz="1100" dirty="0"/>
          </a:p>
        </p:txBody>
      </p:sp>
      <p:sp>
        <p:nvSpPr>
          <p:cNvPr id="26" name="Text 23"/>
          <p:cNvSpPr txBox="1"/>
          <p:nvPr/>
        </p:nvSpPr>
        <p:spPr>
          <a:xfrm>
            <a:off x="886968" y="5559552"/>
            <a:ext cx="3291840" cy="566928"/>
          </a:xfrm>
          <a:prstGeom prst="rect">
            <a:avLst/>
          </a:prstGeom>
          <a:noFill/>
          <a:ln/>
        </p:spPr>
        <p:txBody>
          <a:bodyPr wrap="square" lIns="0" tIns="0" rIns="0" bIns="0" rtlCol="0" anchor="ctr"/>
          <a:lstStyle/>
          <a:p>
            <a:pPr indent="0" marL="0">
              <a:lnSpc>
                <a:spcPct val="120000"/>
              </a:lnSpc>
              <a:buNone/>
            </a:pPr>
            <a:r>
              <a:rPr lang="en-US" sz="1050" dirty="0">
                <a:solidFill>
                  <a:srgbClr val="FFFFFF"/>
                </a:solidFill>
                <a:latin typeface="Malgun Gothic" pitchFamily="34" charset="0"/>
                <a:ea typeface="Malgun Gothic" pitchFamily="34" charset="-122"/>
                <a:cs typeface="Malgun Gothic" pitchFamily="34" charset="-120"/>
              </a:rPr>
              <a:t>확보 데이터 기반 머신러닝 대리모델(GPR) 학습</a:t>
            </a:r>
            <a:endParaRPr lang="en-US" sz="1050" dirty="0"/>
          </a:p>
        </p:txBody>
      </p:sp>
      <p:sp>
        <p:nvSpPr>
          <p:cNvPr id="27" name="Text 24"/>
          <p:cNvSpPr txBox="1"/>
          <p:nvPr/>
        </p:nvSpPr>
        <p:spPr>
          <a:xfrm>
            <a:off x="4471416" y="5285232"/>
            <a:ext cx="457200" cy="274320"/>
          </a:xfrm>
          <a:prstGeom prst="rect">
            <a:avLst/>
          </a:prstGeom>
          <a:noFill/>
          <a:ln/>
        </p:spPr>
        <p:txBody>
          <a:bodyPr wrap="square" lIns="0" tIns="0" rIns="0" bIns="0" rtlCol="0" anchor="ctr"/>
          <a:lstStyle/>
          <a:p>
            <a:pPr indent="0" marL="0">
              <a:buNone/>
            </a:pPr>
            <a:r>
              <a:rPr lang="en-US" sz="1100" b="1" dirty="0">
                <a:solidFill>
                  <a:srgbClr val="00A3C4"/>
                </a:solidFill>
                <a:latin typeface="Malgun Gothic" pitchFamily="34" charset="0"/>
                <a:ea typeface="Malgun Gothic" pitchFamily="34" charset="-122"/>
                <a:cs typeface="Malgun Gothic" pitchFamily="34" charset="-120"/>
              </a:rPr>
              <a:t>02</a:t>
            </a:r>
            <a:endParaRPr lang="en-US" sz="1100" dirty="0"/>
          </a:p>
        </p:txBody>
      </p:sp>
      <p:sp>
        <p:nvSpPr>
          <p:cNvPr id="28" name="Text 25"/>
          <p:cNvSpPr txBox="1"/>
          <p:nvPr/>
        </p:nvSpPr>
        <p:spPr>
          <a:xfrm>
            <a:off x="4471416" y="5559552"/>
            <a:ext cx="3291840" cy="566928"/>
          </a:xfrm>
          <a:prstGeom prst="rect">
            <a:avLst/>
          </a:prstGeom>
          <a:noFill/>
          <a:ln/>
        </p:spPr>
        <p:txBody>
          <a:bodyPr wrap="square" lIns="0" tIns="0" rIns="0" bIns="0" rtlCol="0" anchor="ctr"/>
          <a:lstStyle/>
          <a:p>
            <a:pPr indent="0" marL="0">
              <a:lnSpc>
                <a:spcPct val="120000"/>
              </a:lnSpc>
              <a:buNone/>
            </a:pPr>
            <a:r>
              <a:rPr lang="en-US" sz="1050" dirty="0">
                <a:solidFill>
                  <a:srgbClr val="FFFFFF"/>
                </a:solidFill>
                <a:latin typeface="Malgun Gothic" pitchFamily="34" charset="0"/>
                <a:ea typeface="Malgun Gothic" pitchFamily="34" charset="-122"/>
                <a:cs typeface="Malgun Gothic" pitchFamily="34" charset="-120"/>
              </a:rPr>
              <a:t>예측값 · 실측값 비교를 통한 정확도 검증</a:t>
            </a:r>
            <a:endParaRPr lang="en-US" sz="1050" dirty="0"/>
          </a:p>
        </p:txBody>
      </p:sp>
      <p:sp>
        <p:nvSpPr>
          <p:cNvPr id="29" name="Text 26"/>
          <p:cNvSpPr txBox="1"/>
          <p:nvPr/>
        </p:nvSpPr>
        <p:spPr>
          <a:xfrm>
            <a:off x="8055864" y="5285232"/>
            <a:ext cx="457200" cy="274320"/>
          </a:xfrm>
          <a:prstGeom prst="rect">
            <a:avLst/>
          </a:prstGeom>
          <a:noFill/>
          <a:ln/>
        </p:spPr>
        <p:txBody>
          <a:bodyPr wrap="square" lIns="0" tIns="0" rIns="0" bIns="0" rtlCol="0" anchor="ctr"/>
          <a:lstStyle/>
          <a:p>
            <a:pPr indent="0" marL="0">
              <a:buNone/>
            </a:pPr>
            <a:r>
              <a:rPr lang="en-US" sz="1100" b="1" dirty="0">
                <a:solidFill>
                  <a:srgbClr val="00A3C4"/>
                </a:solidFill>
                <a:latin typeface="Malgun Gothic" pitchFamily="34" charset="0"/>
                <a:ea typeface="Malgun Gothic" pitchFamily="34" charset="-122"/>
                <a:cs typeface="Malgun Gothic" pitchFamily="34" charset="-120"/>
              </a:rPr>
              <a:t>03</a:t>
            </a:r>
            <a:endParaRPr lang="en-US" sz="1100" dirty="0"/>
          </a:p>
        </p:txBody>
      </p:sp>
      <p:sp>
        <p:nvSpPr>
          <p:cNvPr id="30" name="Text 27"/>
          <p:cNvSpPr txBox="1"/>
          <p:nvPr/>
        </p:nvSpPr>
        <p:spPr>
          <a:xfrm>
            <a:off x="8055864" y="5559552"/>
            <a:ext cx="3291840" cy="566928"/>
          </a:xfrm>
          <a:prstGeom prst="rect">
            <a:avLst/>
          </a:prstGeom>
          <a:noFill/>
          <a:ln/>
        </p:spPr>
        <p:txBody>
          <a:bodyPr wrap="square" lIns="0" tIns="0" rIns="0" bIns="0" rtlCol="0" anchor="ctr"/>
          <a:lstStyle/>
          <a:p>
            <a:pPr indent="0" marL="0">
              <a:lnSpc>
                <a:spcPct val="120000"/>
              </a:lnSpc>
              <a:buNone/>
            </a:pPr>
            <a:r>
              <a:rPr lang="en-US" sz="1050" dirty="0">
                <a:solidFill>
                  <a:srgbClr val="FFFFFF"/>
                </a:solidFill>
                <a:latin typeface="Malgun Gothic" pitchFamily="34" charset="0"/>
                <a:ea typeface="Malgun Gothic" pitchFamily="34" charset="-122"/>
                <a:cs typeface="Malgun Gothic" pitchFamily="34" charset="-120"/>
              </a:rPr>
              <a:t>설계변수별 민감도 산출 및 지배 변수 식별</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Shape 0"/>
          <p:cNvSpPr/>
          <p:nvPr/>
        </p:nvSpPr>
        <p:spPr>
          <a:xfrm>
            <a:off x="502920" y="384048"/>
            <a:ext cx="475488" cy="475488"/>
          </a:xfrm>
          <a:prstGeom prst="rect">
            <a:avLst/>
          </a:prstGeom>
          <a:solidFill>
            <a:srgbClr val="16305B"/>
          </a:solidFill>
          <a:ln w="12700">
            <a:solidFill>
              <a:srgbClr val="16305B"/>
            </a:solidFill>
            <a:prstDash val="solid"/>
          </a:ln>
        </p:spPr>
      </p:sp>
      <p:sp>
        <p:nvSpPr>
          <p:cNvPr id="3" name="Text 1"/>
          <p:cNvSpPr txBox="1"/>
          <p:nvPr/>
        </p:nvSpPr>
        <p:spPr>
          <a:xfrm>
            <a:off x="502920" y="38404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A-1</a:t>
            </a:r>
            <a:endParaRPr lang="en-US" sz="1600" dirty="0"/>
          </a:p>
        </p:txBody>
      </p:sp>
      <p:sp>
        <p:nvSpPr>
          <p:cNvPr id="4" name="Text 2"/>
          <p:cNvSpPr txBox="1"/>
          <p:nvPr/>
        </p:nvSpPr>
        <p:spPr>
          <a:xfrm>
            <a:off x="1124712" y="365760"/>
            <a:ext cx="7315200" cy="237744"/>
          </a:xfrm>
          <a:prstGeom prst="rect">
            <a:avLst/>
          </a:prstGeom>
          <a:noFill/>
          <a:ln/>
        </p:spPr>
        <p:txBody>
          <a:bodyPr wrap="square" lIns="0" tIns="0" rIns="0" bIns="0" rtlCol="0" anchor="ctr"/>
          <a:lstStyle/>
          <a:p>
            <a:pPr indent="0" marL="0">
              <a:buNone/>
            </a:pPr>
            <a:r>
              <a:rPr lang="en-US" sz="1050" b="1" spc="100" kern="0" dirty="0">
                <a:solidFill>
                  <a:srgbClr val="00A3C4"/>
                </a:solidFill>
                <a:latin typeface="Malgun Gothic" pitchFamily="34" charset="0"/>
                <a:ea typeface="Malgun Gothic" pitchFamily="34" charset="-122"/>
                <a:cs typeface="Malgun Gothic" pitchFamily="34" charset="-120"/>
              </a:rPr>
              <a:t>부록</a:t>
            </a:r>
            <a:endParaRPr lang="en-US" sz="1050" dirty="0"/>
          </a:p>
        </p:txBody>
      </p:sp>
      <p:sp>
        <p:nvSpPr>
          <p:cNvPr id="5" name="Text 3"/>
          <p:cNvSpPr txBox="1"/>
          <p:nvPr/>
        </p:nvSpPr>
        <p:spPr>
          <a:xfrm>
            <a:off x="1124712" y="548640"/>
            <a:ext cx="10607040" cy="384048"/>
          </a:xfrm>
          <a:prstGeom prst="rect">
            <a:avLst/>
          </a:prstGeom>
          <a:noFill/>
          <a:ln/>
        </p:spPr>
        <p:txBody>
          <a:bodyPr wrap="square" lIns="0" tIns="0" rIns="0" bIns="0" rtlCol="0" anchor="ctr"/>
          <a:lstStyle/>
          <a:p>
            <a:pPr indent="0" marL="0">
              <a:buNone/>
            </a:pPr>
            <a:r>
              <a:rPr lang="en-US" sz="2200" b="1" dirty="0">
                <a:solidFill>
                  <a:srgbClr val="16305B"/>
                </a:solidFill>
                <a:latin typeface="Malgun Gothic" pitchFamily="34" charset="0"/>
                <a:ea typeface="Malgun Gothic" pitchFamily="34" charset="-122"/>
                <a:cs typeface="Malgun Gothic" pitchFamily="34" charset="-120"/>
              </a:rPr>
              <a:t>Icepak 해석 모델 GUI 설정 절차</a:t>
            </a:r>
            <a:endParaRPr lang="en-US" sz="2200" dirty="0"/>
          </a:p>
        </p:txBody>
      </p:sp>
      <p:sp>
        <p:nvSpPr>
          <p:cNvPr id="6" name="Shape 4"/>
          <p:cNvSpPr/>
          <p:nvPr/>
        </p:nvSpPr>
        <p:spPr>
          <a:xfrm>
            <a:off x="502920" y="1170432"/>
            <a:ext cx="256032" cy="256032"/>
          </a:xfrm>
          <a:prstGeom prst="ellipse">
            <a:avLst/>
          </a:prstGeom>
          <a:solidFill>
            <a:srgbClr val="16305B"/>
          </a:solidFill>
          <a:ln w="12700">
            <a:solidFill>
              <a:srgbClr val="16305B"/>
            </a:solidFill>
            <a:prstDash val="solid"/>
          </a:ln>
        </p:spPr>
      </p:sp>
      <p:sp>
        <p:nvSpPr>
          <p:cNvPr id="7" name="Text 5"/>
          <p:cNvSpPr txBox="1"/>
          <p:nvPr/>
        </p:nvSpPr>
        <p:spPr>
          <a:xfrm>
            <a:off x="502920"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1</a:t>
            </a:r>
            <a:endParaRPr lang="en-US" sz="900" dirty="0"/>
          </a:p>
        </p:txBody>
      </p:sp>
      <p:sp>
        <p:nvSpPr>
          <p:cNvPr id="8" name="Text 6"/>
          <p:cNvSpPr txBox="1"/>
          <p:nvPr/>
        </p:nvSpPr>
        <p:spPr>
          <a:xfrm>
            <a:off x="850392"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프로젝트 생성</a:t>
            </a:r>
            <a:endParaRPr lang="en-US" sz="1100" dirty="0"/>
          </a:p>
        </p:txBody>
      </p:sp>
      <p:sp>
        <p:nvSpPr>
          <p:cNvPr id="9" name="Shape 7"/>
          <p:cNvSpPr/>
          <p:nvPr/>
        </p:nvSpPr>
        <p:spPr>
          <a:xfrm>
            <a:off x="502920" y="1536192"/>
            <a:ext cx="2615184" cy="1874520"/>
          </a:xfrm>
          <a:prstGeom prst="roundRect">
            <a:avLst>
              <a:gd name="adj" fmla="val 2439"/>
            </a:avLst>
          </a:prstGeom>
          <a:solidFill>
            <a:srgbClr val="FFFFFF"/>
          </a:solidFill>
          <a:ln w="12700">
            <a:solidFill>
              <a:srgbClr val="C3CDDA"/>
            </a:solidFill>
            <a:prstDash val="dash"/>
          </a:ln>
        </p:spPr>
      </p:sp>
      <p:sp>
        <p:nvSpPr>
          <p:cNvPr id="10" name="Text 8"/>
          <p:cNvSpPr txBox="1"/>
          <p:nvPr/>
        </p:nvSpPr>
        <p:spPr>
          <a:xfrm>
            <a:off x="502920"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11" name="Text 9"/>
          <p:cNvSpPr txBox="1"/>
          <p:nvPr/>
        </p:nvSpPr>
        <p:spPr>
          <a:xfrm>
            <a:off x="502920"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새 프로젝트 · 디자인 생성</a:t>
            </a:r>
            <a:endParaRPr lang="en-US" sz="900" dirty="0"/>
          </a:p>
        </p:txBody>
      </p:sp>
      <p:sp>
        <p:nvSpPr>
          <p:cNvPr id="12" name="Shape 10"/>
          <p:cNvSpPr/>
          <p:nvPr/>
        </p:nvSpPr>
        <p:spPr>
          <a:xfrm>
            <a:off x="3358591" y="1170432"/>
            <a:ext cx="256032" cy="256032"/>
          </a:xfrm>
          <a:prstGeom prst="ellipse">
            <a:avLst/>
          </a:prstGeom>
          <a:solidFill>
            <a:srgbClr val="16305B"/>
          </a:solidFill>
          <a:ln w="12700">
            <a:solidFill>
              <a:srgbClr val="16305B"/>
            </a:solidFill>
            <a:prstDash val="solid"/>
          </a:ln>
        </p:spPr>
      </p:sp>
      <p:sp>
        <p:nvSpPr>
          <p:cNvPr id="13" name="Text 11"/>
          <p:cNvSpPr txBox="1"/>
          <p:nvPr/>
        </p:nvSpPr>
        <p:spPr>
          <a:xfrm>
            <a:off x="3358591"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2</a:t>
            </a:r>
            <a:endParaRPr lang="en-US" sz="900" dirty="0"/>
          </a:p>
        </p:txBody>
      </p:sp>
      <p:sp>
        <p:nvSpPr>
          <p:cNvPr id="14" name="Text 12"/>
          <p:cNvSpPr txBox="1"/>
          <p:nvPr/>
        </p:nvSpPr>
        <p:spPr>
          <a:xfrm>
            <a:off x="3706063"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형상 불러오기</a:t>
            </a:r>
            <a:endParaRPr lang="en-US" sz="1100" dirty="0"/>
          </a:p>
        </p:txBody>
      </p:sp>
      <p:sp>
        <p:nvSpPr>
          <p:cNvPr id="15" name="Shape 13"/>
          <p:cNvSpPr/>
          <p:nvPr/>
        </p:nvSpPr>
        <p:spPr>
          <a:xfrm>
            <a:off x="3358591" y="1536192"/>
            <a:ext cx="2615184" cy="1874520"/>
          </a:xfrm>
          <a:prstGeom prst="roundRect">
            <a:avLst>
              <a:gd name="adj" fmla="val 2439"/>
            </a:avLst>
          </a:prstGeom>
          <a:solidFill>
            <a:srgbClr val="FFFFFF"/>
          </a:solidFill>
          <a:ln w="12700">
            <a:solidFill>
              <a:srgbClr val="C3CDDA"/>
            </a:solidFill>
            <a:prstDash val="dash"/>
          </a:ln>
        </p:spPr>
      </p:sp>
      <p:sp>
        <p:nvSpPr>
          <p:cNvPr id="16" name="Text 14"/>
          <p:cNvSpPr txBox="1"/>
          <p:nvPr/>
        </p:nvSpPr>
        <p:spPr>
          <a:xfrm>
            <a:off x="3358591"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17" name="Text 15"/>
          <p:cNvSpPr txBox="1"/>
          <p:nvPr/>
        </p:nvSpPr>
        <p:spPr>
          <a:xfrm>
            <a:off x="3358591"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STEP 불러오기 · 부품 이름·재질 지정</a:t>
            </a:r>
            <a:endParaRPr lang="en-US" sz="900" dirty="0"/>
          </a:p>
        </p:txBody>
      </p:sp>
      <p:sp>
        <p:nvSpPr>
          <p:cNvPr id="18" name="Shape 16"/>
          <p:cNvSpPr/>
          <p:nvPr/>
        </p:nvSpPr>
        <p:spPr>
          <a:xfrm>
            <a:off x="6214262" y="1170432"/>
            <a:ext cx="256032" cy="256032"/>
          </a:xfrm>
          <a:prstGeom prst="ellipse">
            <a:avLst/>
          </a:prstGeom>
          <a:solidFill>
            <a:srgbClr val="16305B"/>
          </a:solidFill>
          <a:ln w="12700">
            <a:solidFill>
              <a:srgbClr val="16305B"/>
            </a:solidFill>
            <a:prstDash val="solid"/>
          </a:ln>
        </p:spPr>
      </p:sp>
      <p:sp>
        <p:nvSpPr>
          <p:cNvPr id="19" name="Text 17"/>
          <p:cNvSpPr txBox="1"/>
          <p:nvPr/>
        </p:nvSpPr>
        <p:spPr>
          <a:xfrm>
            <a:off x="6214262"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3</a:t>
            </a:r>
            <a:endParaRPr lang="en-US" sz="900" dirty="0"/>
          </a:p>
        </p:txBody>
      </p:sp>
      <p:sp>
        <p:nvSpPr>
          <p:cNvPr id="20" name="Text 18"/>
          <p:cNvSpPr txBox="1"/>
          <p:nvPr/>
        </p:nvSpPr>
        <p:spPr>
          <a:xfrm>
            <a:off x="6561734"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유체 영역</a:t>
            </a:r>
            <a:endParaRPr lang="en-US" sz="1100" dirty="0"/>
          </a:p>
        </p:txBody>
      </p:sp>
      <p:sp>
        <p:nvSpPr>
          <p:cNvPr id="21" name="Shape 19"/>
          <p:cNvSpPr/>
          <p:nvPr/>
        </p:nvSpPr>
        <p:spPr>
          <a:xfrm>
            <a:off x="6214262" y="1536192"/>
            <a:ext cx="2615184" cy="1874520"/>
          </a:xfrm>
          <a:prstGeom prst="roundRect">
            <a:avLst>
              <a:gd name="adj" fmla="val 2439"/>
            </a:avLst>
          </a:prstGeom>
          <a:solidFill>
            <a:srgbClr val="FFFFFF"/>
          </a:solidFill>
          <a:ln w="12700">
            <a:solidFill>
              <a:srgbClr val="C3CDDA"/>
            </a:solidFill>
            <a:prstDash val="dash"/>
          </a:ln>
        </p:spPr>
      </p:sp>
      <p:sp>
        <p:nvSpPr>
          <p:cNvPr id="22" name="Text 20"/>
          <p:cNvSpPr txBox="1"/>
          <p:nvPr/>
        </p:nvSpPr>
        <p:spPr>
          <a:xfrm>
            <a:off x="6214262"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23" name="Text 21"/>
          <p:cNvSpPr txBox="1"/>
          <p:nvPr/>
        </p:nvSpPr>
        <p:spPr>
          <a:xfrm>
            <a:off x="6214262"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박스 생성 → 형상 Subtract → 분리</a:t>
            </a:r>
            <a:endParaRPr lang="en-US" sz="900" dirty="0"/>
          </a:p>
        </p:txBody>
      </p:sp>
      <p:sp>
        <p:nvSpPr>
          <p:cNvPr id="24" name="Shape 22"/>
          <p:cNvSpPr/>
          <p:nvPr/>
        </p:nvSpPr>
        <p:spPr>
          <a:xfrm>
            <a:off x="9069934" y="1170432"/>
            <a:ext cx="256032" cy="256032"/>
          </a:xfrm>
          <a:prstGeom prst="ellipse">
            <a:avLst/>
          </a:prstGeom>
          <a:solidFill>
            <a:srgbClr val="16305B"/>
          </a:solidFill>
          <a:ln w="12700">
            <a:solidFill>
              <a:srgbClr val="16305B"/>
            </a:solidFill>
            <a:prstDash val="solid"/>
          </a:ln>
        </p:spPr>
      </p:sp>
      <p:sp>
        <p:nvSpPr>
          <p:cNvPr id="25" name="Text 23"/>
          <p:cNvSpPr txBox="1"/>
          <p:nvPr/>
        </p:nvSpPr>
        <p:spPr>
          <a:xfrm>
            <a:off x="9069934" y="117043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4</a:t>
            </a:r>
            <a:endParaRPr lang="en-US" sz="900" dirty="0"/>
          </a:p>
        </p:txBody>
      </p:sp>
      <p:sp>
        <p:nvSpPr>
          <p:cNvPr id="26" name="Text 24"/>
          <p:cNvSpPr txBox="1"/>
          <p:nvPr/>
        </p:nvSpPr>
        <p:spPr>
          <a:xfrm>
            <a:off x="9417406" y="115214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경계조건</a:t>
            </a:r>
            <a:endParaRPr lang="en-US" sz="1100" dirty="0"/>
          </a:p>
        </p:txBody>
      </p:sp>
      <p:sp>
        <p:nvSpPr>
          <p:cNvPr id="27" name="Shape 25"/>
          <p:cNvSpPr/>
          <p:nvPr/>
        </p:nvSpPr>
        <p:spPr>
          <a:xfrm>
            <a:off x="9069934" y="1536192"/>
            <a:ext cx="2615184" cy="1874520"/>
          </a:xfrm>
          <a:prstGeom prst="roundRect">
            <a:avLst>
              <a:gd name="adj" fmla="val 2439"/>
            </a:avLst>
          </a:prstGeom>
          <a:solidFill>
            <a:srgbClr val="FFFFFF"/>
          </a:solidFill>
          <a:ln w="12700">
            <a:solidFill>
              <a:srgbClr val="C3CDDA"/>
            </a:solidFill>
            <a:prstDash val="dash"/>
          </a:ln>
        </p:spPr>
      </p:sp>
      <p:sp>
        <p:nvSpPr>
          <p:cNvPr id="28" name="Text 26"/>
          <p:cNvSpPr txBox="1"/>
          <p:nvPr/>
        </p:nvSpPr>
        <p:spPr>
          <a:xfrm>
            <a:off x="9069934" y="153619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29" name="Text 27"/>
          <p:cNvSpPr txBox="1"/>
          <p:nvPr/>
        </p:nvSpPr>
        <p:spPr>
          <a:xfrm>
            <a:off x="9069934" y="345643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발열원 · 팬(입구) · 개구부(출구)</a:t>
            </a:r>
            <a:endParaRPr lang="en-US" sz="900" dirty="0"/>
          </a:p>
        </p:txBody>
      </p:sp>
      <p:sp>
        <p:nvSpPr>
          <p:cNvPr id="30" name="Shape 28"/>
          <p:cNvSpPr/>
          <p:nvPr/>
        </p:nvSpPr>
        <p:spPr>
          <a:xfrm>
            <a:off x="502920" y="3822192"/>
            <a:ext cx="256032" cy="256032"/>
          </a:xfrm>
          <a:prstGeom prst="ellipse">
            <a:avLst/>
          </a:prstGeom>
          <a:solidFill>
            <a:srgbClr val="16305B"/>
          </a:solidFill>
          <a:ln w="12700">
            <a:solidFill>
              <a:srgbClr val="16305B"/>
            </a:solidFill>
            <a:prstDash val="solid"/>
          </a:ln>
        </p:spPr>
      </p:sp>
      <p:sp>
        <p:nvSpPr>
          <p:cNvPr id="31" name="Text 29"/>
          <p:cNvSpPr txBox="1"/>
          <p:nvPr/>
        </p:nvSpPr>
        <p:spPr>
          <a:xfrm>
            <a:off x="502920"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5</a:t>
            </a:r>
            <a:endParaRPr lang="en-US" sz="900" dirty="0"/>
          </a:p>
        </p:txBody>
      </p:sp>
      <p:sp>
        <p:nvSpPr>
          <p:cNvPr id="32" name="Text 30"/>
          <p:cNvSpPr txBox="1"/>
          <p:nvPr/>
        </p:nvSpPr>
        <p:spPr>
          <a:xfrm>
            <a:off x="850392"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메시</a:t>
            </a:r>
            <a:endParaRPr lang="en-US" sz="1100" dirty="0"/>
          </a:p>
        </p:txBody>
      </p:sp>
      <p:sp>
        <p:nvSpPr>
          <p:cNvPr id="33" name="Shape 31"/>
          <p:cNvSpPr/>
          <p:nvPr/>
        </p:nvSpPr>
        <p:spPr>
          <a:xfrm>
            <a:off x="502920" y="4187952"/>
            <a:ext cx="2615184" cy="1874520"/>
          </a:xfrm>
          <a:prstGeom prst="roundRect">
            <a:avLst>
              <a:gd name="adj" fmla="val 2439"/>
            </a:avLst>
          </a:prstGeom>
          <a:solidFill>
            <a:srgbClr val="FFFFFF"/>
          </a:solidFill>
          <a:ln w="12700">
            <a:solidFill>
              <a:srgbClr val="C3CDDA"/>
            </a:solidFill>
            <a:prstDash val="dash"/>
          </a:ln>
        </p:spPr>
      </p:sp>
      <p:sp>
        <p:nvSpPr>
          <p:cNvPr id="34" name="Text 32"/>
          <p:cNvSpPr txBox="1"/>
          <p:nvPr/>
        </p:nvSpPr>
        <p:spPr>
          <a:xfrm>
            <a:off x="502920"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35" name="Text 33"/>
          <p:cNvSpPr txBox="1"/>
          <p:nvPr/>
        </p:nvSpPr>
        <p:spPr>
          <a:xfrm>
            <a:off x="502920"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유체 영역 로컬 메시 · 글로벌 메시</a:t>
            </a:r>
            <a:endParaRPr lang="en-US" sz="900" dirty="0"/>
          </a:p>
        </p:txBody>
      </p:sp>
      <p:sp>
        <p:nvSpPr>
          <p:cNvPr id="36" name="Shape 34"/>
          <p:cNvSpPr/>
          <p:nvPr/>
        </p:nvSpPr>
        <p:spPr>
          <a:xfrm>
            <a:off x="3358591" y="3822192"/>
            <a:ext cx="256032" cy="256032"/>
          </a:xfrm>
          <a:prstGeom prst="ellipse">
            <a:avLst/>
          </a:prstGeom>
          <a:solidFill>
            <a:srgbClr val="16305B"/>
          </a:solidFill>
          <a:ln w="12700">
            <a:solidFill>
              <a:srgbClr val="16305B"/>
            </a:solidFill>
            <a:prstDash val="solid"/>
          </a:ln>
        </p:spPr>
      </p:sp>
      <p:sp>
        <p:nvSpPr>
          <p:cNvPr id="37" name="Text 35"/>
          <p:cNvSpPr txBox="1"/>
          <p:nvPr/>
        </p:nvSpPr>
        <p:spPr>
          <a:xfrm>
            <a:off x="3358591"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6</a:t>
            </a:r>
            <a:endParaRPr lang="en-US" sz="900" dirty="0"/>
          </a:p>
        </p:txBody>
      </p:sp>
      <p:sp>
        <p:nvSpPr>
          <p:cNvPr id="38" name="Text 36"/>
          <p:cNvSpPr txBox="1"/>
          <p:nvPr/>
        </p:nvSpPr>
        <p:spPr>
          <a:xfrm>
            <a:off x="3706063"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측정면</a:t>
            </a:r>
            <a:endParaRPr lang="en-US" sz="1100" dirty="0"/>
          </a:p>
        </p:txBody>
      </p:sp>
      <p:sp>
        <p:nvSpPr>
          <p:cNvPr id="39" name="Shape 37"/>
          <p:cNvSpPr/>
          <p:nvPr/>
        </p:nvSpPr>
        <p:spPr>
          <a:xfrm>
            <a:off x="3358591" y="4187952"/>
            <a:ext cx="2615184" cy="1874520"/>
          </a:xfrm>
          <a:prstGeom prst="roundRect">
            <a:avLst>
              <a:gd name="adj" fmla="val 2439"/>
            </a:avLst>
          </a:prstGeom>
          <a:solidFill>
            <a:srgbClr val="FFFFFF"/>
          </a:solidFill>
          <a:ln w="12700">
            <a:solidFill>
              <a:srgbClr val="C3CDDA"/>
            </a:solidFill>
            <a:prstDash val="dash"/>
          </a:ln>
        </p:spPr>
      </p:sp>
      <p:sp>
        <p:nvSpPr>
          <p:cNvPr id="40" name="Text 38"/>
          <p:cNvSpPr txBox="1"/>
          <p:nvPr/>
        </p:nvSpPr>
        <p:spPr>
          <a:xfrm>
            <a:off x="3358591"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41" name="Text 39"/>
          <p:cNvSpPr txBox="1"/>
          <p:nvPr/>
        </p:nvSpPr>
        <p:spPr>
          <a:xfrm>
            <a:off x="3358591"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유로 단면 · 분기 입구 측정면 생성</a:t>
            </a:r>
            <a:endParaRPr lang="en-US" sz="900" dirty="0"/>
          </a:p>
        </p:txBody>
      </p:sp>
      <p:sp>
        <p:nvSpPr>
          <p:cNvPr id="42" name="Shape 40"/>
          <p:cNvSpPr/>
          <p:nvPr/>
        </p:nvSpPr>
        <p:spPr>
          <a:xfrm>
            <a:off x="6214262" y="3822192"/>
            <a:ext cx="256032" cy="256032"/>
          </a:xfrm>
          <a:prstGeom prst="ellipse">
            <a:avLst/>
          </a:prstGeom>
          <a:solidFill>
            <a:srgbClr val="16305B"/>
          </a:solidFill>
          <a:ln w="12700">
            <a:solidFill>
              <a:srgbClr val="16305B"/>
            </a:solidFill>
            <a:prstDash val="solid"/>
          </a:ln>
        </p:spPr>
      </p:sp>
      <p:sp>
        <p:nvSpPr>
          <p:cNvPr id="43" name="Text 41"/>
          <p:cNvSpPr txBox="1"/>
          <p:nvPr/>
        </p:nvSpPr>
        <p:spPr>
          <a:xfrm>
            <a:off x="6214262" y="38221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7</a:t>
            </a:r>
            <a:endParaRPr lang="en-US" sz="900" dirty="0"/>
          </a:p>
        </p:txBody>
      </p:sp>
      <p:sp>
        <p:nvSpPr>
          <p:cNvPr id="44" name="Text 42"/>
          <p:cNvSpPr txBox="1"/>
          <p:nvPr/>
        </p:nvSpPr>
        <p:spPr>
          <a:xfrm>
            <a:off x="6561734" y="3803904"/>
            <a:ext cx="2267712" cy="292608"/>
          </a:xfrm>
          <a:prstGeom prst="rect">
            <a:avLst/>
          </a:prstGeom>
          <a:noFill/>
          <a:ln/>
        </p:spPr>
        <p:txBody>
          <a:bodyPr wrap="square" lIns="0" tIns="0" rIns="0" bIns="0" rtlCol="0" anchor="ctr"/>
          <a:lstStyle/>
          <a:p>
            <a:pPr indent="0" marL="0">
              <a:buNone/>
            </a:pPr>
            <a:r>
              <a:rPr lang="en-US" sz="1100" b="1" dirty="0">
                <a:solidFill>
                  <a:srgbClr val="16305B"/>
                </a:solidFill>
                <a:latin typeface="Malgun Gothic" pitchFamily="34" charset="0"/>
                <a:ea typeface="Malgun Gothic" pitchFamily="34" charset="-122"/>
                <a:cs typeface="Malgun Gothic" pitchFamily="34" charset="-120"/>
              </a:rPr>
              <a:t>해석 · 추출</a:t>
            </a:r>
            <a:endParaRPr lang="en-US" sz="1100" dirty="0"/>
          </a:p>
        </p:txBody>
      </p:sp>
      <p:sp>
        <p:nvSpPr>
          <p:cNvPr id="45" name="Shape 43"/>
          <p:cNvSpPr/>
          <p:nvPr/>
        </p:nvSpPr>
        <p:spPr>
          <a:xfrm>
            <a:off x="6214262" y="4187952"/>
            <a:ext cx="2615184" cy="1874520"/>
          </a:xfrm>
          <a:prstGeom prst="roundRect">
            <a:avLst>
              <a:gd name="adj" fmla="val 2439"/>
            </a:avLst>
          </a:prstGeom>
          <a:solidFill>
            <a:srgbClr val="FFFFFF"/>
          </a:solidFill>
          <a:ln w="12700">
            <a:solidFill>
              <a:srgbClr val="C3CDDA"/>
            </a:solidFill>
            <a:prstDash val="dash"/>
          </a:ln>
        </p:spPr>
      </p:sp>
      <p:sp>
        <p:nvSpPr>
          <p:cNvPr id="46" name="Text 44"/>
          <p:cNvSpPr txBox="1"/>
          <p:nvPr/>
        </p:nvSpPr>
        <p:spPr>
          <a:xfrm>
            <a:off x="6214262" y="4187952"/>
            <a:ext cx="2615184" cy="1874520"/>
          </a:xfrm>
          <a:prstGeom prst="rect">
            <a:avLst/>
          </a:prstGeom>
          <a:noFill/>
          <a:ln/>
        </p:spPr>
        <p:txBody>
          <a:bodyPr wrap="square" lIns="0" tIns="0" rIns="0" bIns="0" rtlCol="0" anchor="ctr"/>
          <a:lstStyle/>
          <a:p>
            <a:pPr algn="ctr" indent="0" marL="0">
              <a:buNone/>
            </a:pPr>
            <a:r>
              <a:rPr lang="en-US" sz="1000" b="1" dirty="0">
                <a:solidFill>
                  <a:srgbClr val="B5C0CF"/>
                </a:solidFill>
                <a:latin typeface="Malgun Gothic" pitchFamily="34" charset="0"/>
                <a:ea typeface="Malgun Gothic" pitchFamily="34" charset="-122"/>
                <a:cs typeface="Malgun Gothic" pitchFamily="34" charset="-120"/>
              </a:rPr>
              <a:t>GUI 캡처</a:t>
            </a:r>
            <a:endParaRPr lang="en-US" sz="1000" dirty="0"/>
          </a:p>
        </p:txBody>
      </p:sp>
      <p:sp>
        <p:nvSpPr>
          <p:cNvPr id="47" name="Text 45"/>
          <p:cNvSpPr txBox="1"/>
          <p:nvPr/>
        </p:nvSpPr>
        <p:spPr>
          <a:xfrm>
            <a:off x="6214262" y="6108192"/>
            <a:ext cx="2615184" cy="274320"/>
          </a:xfrm>
          <a:prstGeom prst="rect">
            <a:avLst/>
          </a:prstGeom>
          <a:noFill/>
          <a:ln/>
        </p:spPr>
        <p:txBody>
          <a:bodyPr wrap="square" lIns="0" tIns="0" rIns="0" bIns="0" rtlCol="0" anchor="ctr"/>
          <a:lstStyle/>
          <a:p>
            <a:pPr indent="0" marL="0">
              <a:buNone/>
            </a:pPr>
            <a:r>
              <a:rPr lang="en-US" sz="900" dirty="0">
                <a:solidFill>
                  <a:srgbClr val="6B7A8F"/>
                </a:solidFill>
                <a:latin typeface="Malgun Gothic" pitchFamily="34" charset="0"/>
                <a:ea typeface="Malgun Gothic" pitchFamily="34" charset="-122"/>
                <a:cs typeface="Malgun Gothic" pitchFamily="34" charset="-120"/>
              </a:rPr>
              <a:t>정상상태 해석 → Fields Summary 추출</a:t>
            </a:r>
            <a:endParaRPr lang="en-US" sz="900" dirty="0"/>
          </a:p>
        </p:txBody>
      </p:sp>
      <p:sp>
        <p:nvSpPr>
          <p:cNvPr id="48" name="Shape 46"/>
          <p:cNvSpPr/>
          <p:nvPr/>
        </p:nvSpPr>
        <p:spPr>
          <a:xfrm>
            <a:off x="9069934" y="4187952"/>
            <a:ext cx="2615184" cy="1874520"/>
          </a:xfrm>
          <a:prstGeom prst="roundRect">
            <a:avLst>
              <a:gd name="adj" fmla="val 2927"/>
            </a:avLst>
          </a:prstGeom>
          <a:solidFill>
            <a:srgbClr val="16305B"/>
          </a:solidFill>
          <a:ln w="12700">
            <a:solidFill>
              <a:srgbClr val="16305B"/>
            </a:solidFill>
            <a:prstDash val="solid"/>
          </a:ln>
        </p:spPr>
      </p:sp>
      <p:sp>
        <p:nvSpPr>
          <p:cNvPr id="49" name="Text 47"/>
          <p:cNvSpPr txBox="1"/>
          <p:nvPr/>
        </p:nvSpPr>
        <p:spPr>
          <a:xfrm>
            <a:off x="9252814" y="4187952"/>
            <a:ext cx="2249424" cy="1874520"/>
          </a:xfrm>
          <a:prstGeom prst="rect">
            <a:avLst/>
          </a:prstGeom>
          <a:noFill/>
          <a:ln/>
        </p:spPr>
        <p:txBody>
          <a:bodyPr wrap="square" lIns="0" tIns="0" rIns="0" bIns="0" rtlCol="0" anchor="ctr"/>
          <a:lstStyle/>
          <a:p>
            <a:pPr algn="ctr" indent="0" marL="0">
              <a:lnSpc>
                <a:spcPct val="130000"/>
              </a:lnSpc>
              <a:buNone/>
            </a:pPr>
            <a:r>
              <a:rPr lang="en-US" sz="1100" dirty="0">
                <a:solidFill>
                  <a:srgbClr val="FFFFFF"/>
                </a:solidFill>
                <a:latin typeface="Malgun Gothic" pitchFamily="34" charset="0"/>
                <a:ea typeface="Malgun Gothic" pitchFamily="34" charset="-122"/>
                <a:cs typeface="Malgun Gothic" pitchFamily="34" charset="-120"/>
              </a:rPr>
              <a:t>위 7단계를</a:t>
            </a:r>
            <a:endParaRPr lang="en-US" sz="1100" dirty="0"/>
          </a:p>
          <a:p>
            <a:pPr algn="ctr" indent="0" marL="0">
              <a:lnSpc>
                <a:spcPct val="130000"/>
              </a:lnSpc>
              <a:buNone/>
            </a:pPr>
            <a:r>
              <a:rPr lang="en-US" sz="1100" b="1" dirty="0">
                <a:solidFill>
                  <a:srgbClr val="FFFFFF"/>
                </a:solidFill>
                <a:latin typeface="Malgun Gothic" pitchFamily="34" charset="0"/>
                <a:ea typeface="Malgun Gothic" pitchFamily="34" charset="-122"/>
                <a:cs typeface="Malgun Gothic" pitchFamily="34" charset="-120"/>
              </a:rPr>
              <a:t>스크립트 리코더로 기록</a:t>
            </a:r>
            <a:endParaRPr lang="en-US" sz="1100" dirty="0"/>
          </a:p>
          <a:p>
            <a:pPr algn="ctr" indent="0" marL="0">
              <a:lnSpc>
                <a:spcPct val="130000"/>
              </a:lnSpc>
              <a:buNone/>
            </a:pPr>
            <a:r>
              <a:rPr lang="en-US" sz="1100" dirty="0">
                <a:solidFill>
                  <a:srgbClr val="FFFFFF"/>
                </a:solidFill>
                <a:latin typeface="Malgun Gothic" pitchFamily="34" charset="0"/>
                <a:ea typeface="Malgun Gothic" pitchFamily="34" charset="-122"/>
                <a:cs typeface="Malgun Gothic" pitchFamily="34" charset="-120"/>
              </a:rPr>
              <a:t>→ 코드화하여</a:t>
            </a:r>
            <a:endParaRPr lang="en-US" sz="1100" dirty="0"/>
          </a:p>
          <a:p>
            <a:pPr algn="ctr" indent="0" marL="0">
              <a:lnSpc>
                <a:spcPct val="130000"/>
              </a:lnSpc>
              <a:buNone/>
            </a:pPr>
            <a:r>
              <a:rPr lang="en-US" sz="1100" b="1" dirty="0">
                <a:solidFill>
                  <a:srgbClr val="7FD6E8"/>
                </a:solidFill>
                <a:latin typeface="Malgun Gothic" pitchFamily="34" charset="0"/>
                <a:ea typeface="Malgun Gothic" pitchFamily="34" charset="-122"/>
                <a:cs typeface="Malgun Gothic" pitchFamily="34" charset="-120"/>
              </a:rPr>
              <a:t>매 회차 자동 수행</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형상 생성부터 설계최적화까지</dc:title>
  <dc:subject>PptxGenJS Presentation</dc:subject>
  <dc:creator>학습조직</dc:creator>
  <cp:lastModifiedBy>학습조직</cp:lastModifiedBy>
  <cp:revision>1</cp:revision>
  <dcterms:created xsi:type="dcterms:W3CDTF">2026-09-29T05:46:59Z</dcterms:created>
  <dcterms:modified xsi:type="dcterms:W3CDTF">2026-09-29T05:46:59Z</dcterms:modified>
</cp:coreProperties>
</file>