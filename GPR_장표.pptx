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가우시안 프로세스 회귀는 해석 결과를 매끄러운 함수와 작은 수치 오차의 합으로 봅니다. 두 설계가 얼마나 비슷한지는 Matern 커널로 계산하는데, 변수마다 길이척도를 따로 두어 민감한 변수는 짧게, 둔감한 변수는 길게 학습합니다. 이 하이퍼파라미터들은 확보한 해석 데이터가 나올 가능성, 즉 우도가 최대가 되도록 자동으로 정합니다. 예측값은 해석한 80점 결과의 가중평균이고 가까운 점일수록 가중치가 크며, 불확실성은 해석점에서 멀어질수록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대리모델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대리모델  —  가우시안 프로세스 회귀 (GPR)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 —  예측값과 불확실성을 함께 제공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1792224"/>
            <a:ext cx="4480560" cy="1600200"/>
          </a:xfrm>
          <a:prstGeom prst="rect">
            <a:avLst/>
          </a:prstGeom>
          <a:solidFill>
            <a:srgbClr val="FAFBFD"/>
          </a:solidFill>
          <a:ln w="9525">
            <a:solidFill>
              <a:srgbClr val="DD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792224"/>
            <a:ext cx="4480560" cy="1600200"/>
          </a:xfrm>
          <a:custGeom>
            <a:avLst/>
            <a:gdLst/>
            <a:ahLst/>
            <a:cxnLst/>
            <a:rect l="l" t="t" r="r" b="b"/>
            <a:pathLst>
              <a:path w="4480560" h="1600200">
                <a:moveTo>
                  <a:pt x="0" y="703229"/>
                </a:moveTo>
                <a:lnTo>
                  <a:pt x="56007" y="772036"/>
                </a:lnTo>
                <a:lnTo>
                  <a:pt x="112014" y="840588"/>
                </a:lnTo>
                <a:lnTo>
                  <a:pt x="168021" y="906635"/>
                </a:lnTo>
                <a:lnTo>
                  <a:pt x="224028" y="967382"/>
                </a:lnTo>
                <a:lnTo>
                  <a:pt x="280035" y="882630"/>
                </a:lnTo>
                <a:lnTo>
                  <a:pt x="336042" y="800242"/>
                </a:lnTo>
                <a:lnTo>
                  <a:pt x="392049" y="723363"/>
                </a:lnTo>
                <a:lnTo>
                  <a:pt x="448056" y="654666"/>
                </a:lnTo>
                <a:lnTo>
                  <a:pt x="504063" y="596373"/>
                </a:lnTo>
                <a:lnTo>
                  <a:pt x="560070" y="550276"/>
                </a:lnTo>
                <a:lnTo>
                  <a:pt x="616077" y="517758"/>
                </a:lnTo>
                <a:lnTo>
                  <a:pt x="672084" y="499792"/>
                </a:lnTo>
                <a:lnTo>
                  <a:pt x="728091" y="496924"/>
                </a:lnTo>
                <a:lnTo>
                  <a:pt x="784098" y="509216"/>
                </a:lnTo>
                <a:lnTo>
                  <a:pt x="840105" y="536165"/>
                </a:lnTo>
                <a:lnTo>
                  <a:pt x="896112" y="576569"/>
                </a:lnTo>
                <a:lnTo>
                  <a:pt x="952119" y="628359"/>
                </a:lnTo>
                <a:lnTo>
                  <a:pt x="1008126" y="639696"/>
                </a:lnTo>
                <a:lnTo>
                  <a:pt x="1064133" y="587388"/>
                </a:lnTo>
                <a:lnTo>
                  <a:pt x="1120140" y="548594"/>
                </a:lnTo>
                <a:lnTo>
                  <a:pt x="1176147" y="525723"/>
                </a:lnTo>
                <a:lnTo>
                  <a:pt x="1232154" y="520189"/>
                </a:lnTo>
                <a:lnTo>
                  <a:pt x="1288161" y="532566"/>
                </a:lnTo>
                <a:lnTo>
                  <a:pt x="1344168" y="562700"/>
                </a:lnTo>
                <a:lnTo>
                  <a:pt x="1400175" y="609757"/>
                </a:lnTo>
                <a:lnTo>
                  <a:pt x="1456182" y="672227"/>
                </a:lnTo>
                <a:lnTo>
                  <a:pt x="1512189" y="747887"/>
                </a:lnTo>
                <a:lnTo>
                  <a:pt x="1568196" y="833726"/>
                </a:lnTo>
                <a:lnTo>
                  <a:pt x="1624203" y="925847"/>
                </a:lnTo>
                <a:lnTo>
                  <a:pt x="1680210" y="1019361"/>
                </a:lnTo>
                <a:lnTo>
                  <a:pt x="1736217" y="1053296"/>
                </a:lnTo>
                <a:lnTo>
                  <a:pt x="1792224" y="1054654"/>
                </a:lnTo>
                <a:lnTo>
                  <a:pt x="1848231" y="1065723"/>
                </a:lnTo>
                <a:lnTo>
                  <a:pt x="1904238" y="1088174"/>
                </a:lnTo>
                <a:lnTo>
                  <a:pt x="1960245" y="1122169"/>
                </a:lnTo>
                <a:lnTo>
                  <a:pt x="2016252" y="1166463"/>
                </a:lnTo>
                <a:lnTo>
                  <a:pt x="2072259" y="1218503"/>
                </a:lnTo>
                <a:lnTo>
                  <a:pt x="2128266" y="1231033"/>
                </a:lnTo>
                <a:lnTo>
                  <a:pt x="2184273" y="1168292"/>
                </a:lnTo>
                <a:lnTo>
                  <a:pt x="2240280" y="1094132"/>
                </a:lnTo>
                <a:lnTo>
                  <a:pt x="2296287" y="1012538"/>
                </a:lnTo>
                <a:lnTo>
                  <a:pt x="2352294" y="926888"/>
                </a:lnTo>
                <a:lnTo>
                  <a:pt x="2408301" y="839935"/>
                </a:lnTo>
                <a:lnTo>
                  <a:pt x="2464308" y="753849"/>
                </a:lnTo>
                <a:lnTo>
                  <a:pt x="2520315" y="670280"/>
                </a:lnTo>
                <a:lnTo>
                  <a:pt x="2576322" y="590440"/>
                </a:lnTo>
                <a:lnTo>
                  <a:pt x="2632329" y="515185"/>
                </a:lnTo>
                <a:lnTo>
                  <a:pt x="2688336" y="445094"/>
                </a:lnTo>
                <a:lnTo>
                  <a:pt x="2744343" y="380541"/>
                </a:lnTo>
                <a:lnTo>
                  <a:pt x="2800350" y="321761"/>
                </a:lnTo>
                <a:lnTo>
                  <a:pt x="2856357" y="268900"/>
                </a:lnTo>
                <a:lnTo>
                  <a:pt x="2912364" y="222062"/>
                </a:lnTo>
                <a:lnTo>
                  <a:pt x="2968371" y="181342"/>
                </a:lnTo>
                <a:lnTo>
                  <a:pt x="3024378" y="146857"/>
                </a:lnTo>
                <a:lnTo>
                  <a:pt x="3080385" y="118754"/>
                </a:lnTo>
                <a:lnTo>
                  <a:pt x="3136392" y="97223"/>
                </a:lnTo>
                <a:lnTo>
                  <a:pt x="3192399" y="82492"/>
                </a:lnTo>
                <a:lnTo>
                  <a:pt x="3248406" y="74807"/>
                </a:lnTo>
                <a:lnTo>
                  <a:pt x="3304413" y="74411"/>
                </a:lnTo>
                <a:lnTo>
                  <a:pt x="3360420" y="81492"/>
                </a:lnTo>
                <a:lnTo>
                  <a:pt x="3416427" y="96132"/>
                </a:lnTo>
                <a:lnTo>
                  <a:pt x="3472434" y="118218"/>
                </a:lnTo>
                <a:lnTo>
                  <a:pt x="3528441" y="147344"/>
                </a:lnTo>
                <a:lnTo>
                  <a:pt x="3584448" y="182678"/>
                </a:lnTo>
                <a:lnTo>
                  <a:pt x="3640455" y="222813"/>
                </a:lnTo>
                <a:lnTo>
                  <a:pt x="3696462" y="265578"/>
                </a:lnTo>
                <a:lnTo>
                  <a:pt x="3752469" y="235574"/>
                </a:lnTo>
                <a:lnTo>
                  <a:pt x="3808476" y="167818"/>
                </a:lnTo>
                <a:lnTo>
                  <a:pt x="3864483" y="116214"/>
                </a:lnTo>
                <a:lnTo>
                  <a:pt x="3920490" y="82778"/>
                </a:lnTo>
                <a:lnTo>
                  <a:pt x="3976497" y="68647"/>
                </a:lnTo>
                <a:lnTo>
                  <a:pt x="4032504" y="74188"/>
                </a:lnTo>
                <a:lnTo>
                  <a:pt x="4088511" y="99043"/>
                </a:lnTo>
                <a:lnTo>
                  <a:pt x="4144518" y="142120"/>
                </a:lnTo>
                <a:lnTo>
                  <a:pt x="4200525" y="201523"/>
                </a:lnTo>
                <a:lnTo>
                  <a:pt x="4256532" y="274418"/>
                </a:lnTo>
                <a:lnTo>
                  <a:pt x="4312539" y="226379"/>
                </a:lnTo>
                <a:lnTo>
                  <a:pt x="4368546" y="178158"/>
                </a:lnTo>
                <a:lnTo>
                  <a:pt x="4424553" y="132162"/>
                </a:lnTo>
                <a:lnTo>
                  <a:pt x="4480560" y="89971"/>
                </a:lnTo>
                <a:lnTo>
                  <a:pt x="4480560" y="624616"/>
                </a:lnTo>
                <a:lnTo>
                  <a:pt x="4424553" y="535146"/>
                </a:lnTo>
                <a:lnTo>
                  <a:pt x="4368546" y="445020"/>
                </a:lnTo>
                <a:lnTo>
                  <a:pt x="4312539" y="356963"/>
                </a:lnTo>
                <a:lnTo>
                  <a:pt x="4256532" y="274433"/>
                </a:lnTo>
                <a:lnTo>
                  <a:pt x="4200525" y="318960"/>
                </a:lnTo>
                <a:lnTo>
                  <a:pt x="4144518" y="356512"/>
                </a:lnTo>
                <a:lnTo>
                  <a:pt x="4088511" y="384401"/>
                </a:lnTo>
                <a:lnTo>
                  <a:pt x="4032504" y="400816"/>
                </a:lnTo>
                <a:lnTo>
                  <a:pt x="3976497" y="404816"/>
                </a:lnTo>
                <a:lnTo>
                  <a:pt x="3920490" y="396319"/>
                </a:lnTo>
                <a:lnTo>
                  <a:pt x="3864483" y="376099"/>
                </a:lnTo>
                <a:lnTo>
                  <a:pt x="3808476" y="345779"/>
                </a:lnTo>
                <a:lnTo>
                  <a:pt x="3752469" y="307836"/>
                </a:lnTo>
                <a:lnTo>
                  <a:pt x="3696462" y="316413"/>
                </a:lnTo>
                <a:lnTo>
                  <a:pt x="3640455" y="406307"/>
                </a:lnTo>
                <a:lnTo>
                  <a:pt x="3584448" y="501389"/>
                </a:lnTo>
                <a:lnTo>
                  <a:pt x="3528441" y="598471"/>
                </a:lnTo>
                <a:lnTo>
                  <a:pt x="3472434" y="695031"/>
                </a:lnTo>
                <a:lnTo>
                  <a:pt x="3416427" y="789152"/>
                </a:lnTo>
                <a:lnTo>
                  <a:pt x="3360420" y="879438"/>
                </a:lnTo>
                <a:lnTo>
                  <a:pt x="3304413" y="964927"/>
                </a:lnTo>
                <a:lnTo>
                  <a:pt x="3248406" y="1045001"/>
                </a:lnTo>
                <a:lnTo>
                  <a:pt x="3192399" y="1119298"/>
                </a:lnTo>
                <a:lnTo>
                  <a:pt x="3136392" y="1187641"/>
                </a:lnTo>
                <a:lnTo>
                  <a:pt x="3080385" y="1249968"/>
                </a:lnTo>
                <a:lnTo>
                  <a:pt x="3024378" y="1306278"/>
                </a:lnTo>
                <a:lnTo>
                  <a:pt x="2968371" y="1356585"/>
                </a:lnTo>
                <a:lnTo>
                  <a:pt x="2912364" y="1400878"/>
                </a:lnTo>
                <a:lnTo>
                  <a:pt x="2856357" y="1439094"/>
                </a:lnTo>
                <a:lnTo>
                  <a:pt x="2800350" y="1471101"/>
                </a:lnTo>
                <a:lnTo>
                  <a:pt x="2744343" y="1496684"/>
                </a:lnTo>
                <a:lnTo>
                  <a:pt x="2688336" y="1515543"/>
                </a:lnTo>
                <a:lnTo>
                  <a:pt x="2632329" y="1527307"/>
                </a:lnTo>
                <a:lnTo>
                  <a:pt x="2576322" y="1531553"/>
                </a:lnTo>
                <a:lnTo>
                  <a:pt x="2520315" y="1527843"/>
                </a:lnTo>
                <a:lnTo>
                  <a:pt x="2464308" y="1515775"/>
                </a:lnTo>
                <a:lnTo>
                  <a:pt x="2408301" y="1495063"/>
                </a:lnTo>
                <a:lnTo>
                  <a:pt x="2352294" y="1465629"/>
                </a:lnTo>
                <a:lnTo>
                  <a:pt x="2296287" y="1427736"/>
                </a:lnTo>
                <a:lnTo>
                  <a:pt x="2240280" y="1382141"/>
                </a:lnTo>
                <a:lnTo>
                  <a:pt x="2184273" y="1330295"/>
                </a:lnTo>
                <a:lnTo>
                  <a:pt x="2128266" y="1274567"/>
                </a:lnTo>
                <a:lnTo>
                  <a:pt x="2072259" y="1277880"/>
                </a:lnTo>
                <a:lnTo>
                  <a:pt x="2016252" y="1304638"/>
                </a:lnTo>
                <a:lnTo>
                  <a:pt x="1960245" y="1308795"/>
                </a:lnTo>
                <a:lnTo>
                  <a:pt x="1904238" y="1289628"/>
                </a:lnTo>
                <a:lnTo>
                  <a:pt x="1848231" y="1248006"/>
                </a:lnTo>
                <a:lnTo>
                  <a:pt x="1792224" y="1186294"/>
                </a:lnTo>
                <a:lnTo>
                  <a:pt x="1736217" y="1108314"/>
                </a:lnTo>
                <a:lnTo>
                  <a:pt x="1680210" y="1058397"/>
                </a:lnTo>
                <a:lnTo>
                  <a:pt x="1624203" y="1065459"/>
                </a:lnTo>
                <a:lnTo>
                  <a:pt x="1568196" y="1070311"/>
                </a:lnTo>
                <a:lnTo>
                  <a:pt x="1512189" y="1069737"/>
                </a:lnTo>
                <a:lnTo>
                  <a:pt x="1456182" y="1061423"/>
                </a:lnTo>
                <a:lnTo>
                  <a:pt x="1400175" y="1043882"/>
                </a:lnTo>
                <a:lnTo>
                  <a:pt x="1344168" y="1016390"/>
                </a:lnTo>
                <a:lnTo>
                  <a:pt x="1288161" y="978927"/>
                </a:lnTo>
                <a:lnTo>
                  <a:pt x="1232154" y="932147"/>
                </a:lnTo>
                <a:lnTo>
                  <a:pt x="1176147" y="877371"/>
                </a:lnTo>
                <a:lnTo>
                  <a:pt x="1120140" y="816587"/>
                </a:lnTo>
                <a:lnTo>
                  <a:pt x="1064133" y="752468"/>
                </a:lnTo>
                <a:lnTo>
                  <a:pt x="1008126" y="688380"/>
                </a:lnTo>
                <a:lnTo>
                  <a:pt x="952119" y="701901"/>
                </a:lnTo>
                <a:lnTo>
                  <a:pt x="896112" y="769446"/>
                </a:lnTo>
                <a:lnTo>
                  <a:pt x="840105" y="838016"/>
                </a:lnTo>
                <a:lnTo>
                  <a:pt x="784098" y="903881"/>
                </a:lnTo>
                <a:lnTo>
                  <a:pt x="728091" y="963888"/>
                </a:lnTo>
                <a:lnTo>
                  <a:pt x="672084" y="1015429"/>
                </a:lnTo>
                <a:lnTo>
                  <a:pt x="616077" y="1056391"/>
                </a:lnTo>
                <a:lnTo>
                  <a:pt x="560070" y="1085121"/>
                </a:lnTo>
                <a:lnTo>
                  <a:pt x="504063" y="1100408"/>
                </a:lnTo>
                <a:lnTo>
                  <a:pt x="448056" y="1101484"/>
                </a:lnTo>
                <a:lnTo>
                  <a:pt x="392049" y="1088072"/>
                </a:lnTo>
                <a:lnTo>
                  <a:pt x="336042" y="1060458"/>
                </a:lnTo>
                <a:lnTo>
                  <a:pt x="280035" y="1019617"/>
                </a:lnTo>
                <a:lnTo>
                  <a:pt x="224028" y="967397"/>
                </a:lnTo>
                <a:lnTo>
                  <a:pt x="168021" y="1050997"/>
                </a:lnTo>
                <a:lnTo>
                  <a:pt x="112014" y="1130355"/>
                </a:lnTo>
                <a:lnTo>
                  <a:pt x="56007" y="1203420"/>
                </a:lnTo>
                <a:lnTo>
                  <a:pt x="0" y="1269018"/>
                </a:lnTo>
                <a:close/>
              </a:path>
            </a:pathLst>
          </a:custGeom>
          <a:solidFill>
            <a:srgbClr val="00A3C4">
              <a:alpha val="28000"/>
            </a:srgbClr>
          </a:solidFill>
          <a:ln w="12700">
            <a:solidFill>
              <a:srgbClr val="00A3C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792224"/>
            <a:ext cx="4480560" cy="1600200"/>
          </a:xfrm>
          <a:custGeom>
            <a:avLst/>
            <a:gdLst/>
            <a:ahLst/>
            <a:cxnLst/>
            <a:rect l="l" t="t" r="r" b="b"/>
            <a:pathLst>
              <a:path w="4480560" h="1600200">
                <a:moveTo>
                  <a:pt x="0" y="986123"/>
                </a:moveTo>
                <a:lnTo>
                  <a:pt x="56007" y="987728"/>
                </a:lnTo>
                <a:lnTo>
                  <a:pt x="112014" y="985472"/>
                </a:lnTo>
                <a:lnTo>
                  <a:pt x="168021" y="978816"/>
                </a:lnTo>
                <a:lnTo>
                  <a:pt x="224028" y="967389"/>
                </a:lnTo>
                <a:lnTo>
                  <a:pt x="280035" y="951124"/>
                </a:lnTo>
                <a:lnTo>
                  <a:pt x="336042" y="930350"/>
                </a:lnTo>
                <a:lnTo>
                  <a:pt x="392049" y="905718"/>
                </a:lnTo>
                <a:lnTo>
                  <a:pt x="448056" y="878075"/>
                </a:lnTo>
                <a:lnTo>
                  <a:pt x="504063" y="848390"/>
                </a:lnTo>
                <a:lnTo>
                  <a:pt x="560070" y="817699"/>
                </a:lnTo>
                <a:lnTo>
                  <a:pt x="616077" y="787075"/>
                </a:lnTo>
                <a:lnTo>
                  <a:pt x="672084" y="757611"/>
                </a:lnTo>
                <a:lnTo>
                  <a:pt x="728091" y="730406"/>
                </a:lnTo>
                <a:lnTo>
                  <a:pt x="784098" y="706548"/>
                </a:lnTo>
                <a:lnTo>
                  <a:pt x="840105" y="687091"/>
                </a:lnTo>
                <a:lnTo>
                  <a:pt x="896112" y="673008"/>
                </a:lnTo>
                <a:lnTo>
                  <a:pt x="952119" y="665130"/>
                </a:lnTo>
                <a:lnTo>
                  <a:pt x="1008126" y="664038"/>
                </a:lnTo>
                <a:lnTo>
                  <a:pt x="1064133" y="669928"/>
                </a:lnTo>
                <a:lnTo>
                  <a:pt x="1120140" y="682590"/>
                </a:lnTo>
                <a:lnTo>
                  <a:pt x="1176147" y="701547"/>
                </a:lnTo>
                <a:lnTo>
                  <a:pt x="1232154" y="726168"/>
                </a:lnTo>
                <a:lnTo>
                  <a:pt x="1288161" y="755746"/>
                </a:lnTo>
                <a:lnTo>
                  <a:pt x="1344168" y="789545"/>
                </a:lnTo>
                <a:lnTo>
                  <a:pt x="1400175" y="826819"/>
                </a:lnTo>
                <a:lnTo>
                  <a:pt x="1456182" y="866825"/>
                </a:lnTo>
                <a:lnTo>
                  <a:pt x="1512189" y="908812"/>
                </a:lnTo>
                <a:lnTo>
                  <a:pt x="1568196" y="952019"/>
                </a:lnTo>
                <a:lnTo>
                  <a:pt x="1624203" y="995653"/>
                </a:lnTo>
                <a:lnTo>
                  <a:pt x="1680210" y="1038879"/>
                </a:lnTo>
                <a:lnTo>
                  <a:pt x="1736217" y="1080805"/>
                </a:lnTo>
                <a:lnTo>
                  <a:pt x="1792224" y="1120474"/>
                </a:lnTo>
                <a:lnTo>
                  <a:pt x="1848231" y="1156865"/>
                </a:lnTo>
                <a:lnTo>
                  <a:pt x="1904238" y="1188901"/>
                </a:lnTo>
                <a:lnTo>
                  <a:pt x="1960245" y="1215482"/>
                </a:lnTo>
                <a:lnTo>
                  <a:pt x="2016252" y="1235550"/>
                </a:lnTo>
                <a:lnTo>
                  <a:pt x="2072259" y="1248191"/>
                </a:lnTo>
                <a:lnTo>
                  <a:pt x="2128266" y="1252800"/>
                </a:lnTo>
                <a:lnTo>
                  <a:pt x="2184273" y="1249293"/>
                </a:lnTo>
                <a:lnTo>
                  <a:pt x="2240280" y="1238137"/>
                </a:lnTo>
                <a:lnTo>
                  <a:pt x="2296287" y="1220137"/>
                </a:lnTo>
                <a:lnTo>
                  <a:pt x="2352294" y="1196259"/>
                </a:lnTo>
                <a:lnTo>
                  <a:pt x="2408301" y="1167499"/>
                </a:lnTo>
                <a:lnTo>
                  <a:pt x="2464308" y="1134812"/>
                </a:lnTo>
                <a:lnTo>
                  <a:pt x="2520315" y="1099061"/>
                </a:lnTo>
                <a:lnTo>
                  <a:pt x="2576322" y="1060996"/>
                </a:lnTo>
                <a:lnTo>
                  <a:pt x="2632329" y="1021246"/>
                </a:lnTo>
                <a:lnTo>
                  <a:pt x="2688336" y="980318"/>
                </a:lnTo>
                <a:lnTo>
                  <a:pt x="2744343" y="938612"/>
                </a:lnTo>
                <a:lnTo>
                  <a:pt x="2800350" y="896431"/>
                </a:lnTo>
                <a:lnTo>
                  <a:pt x="2856357" y="853997"/>
                </a:lnTo>
                <a:lnTo>
                  <a:pt x="2912364" y="811470"/>
                </a:lnTo>
                <a:lnTo>
                  <a:pt x="2968371" y="768964"/>
                </a:lnTo>
                <a:lnTo>
                  <a:pt x="3024378" y="726567"/>
                </a:lnTo>
                <a:lnTo>
                  <a:pt x="3080385" y="684361"/>
                </a:lnTo>
                <a:lnTo>
                  <a:pt x="3136392" y="642432"/>
                </a:lnTo>
                <a:lnTo>
                  <a:pt x="3192399" y="600895"/>
                </a:lnTo>
                <a:lnTo>
                  <a:pt x="3248406" y="559904"/>
                </a:lnTo>
                <a:lnTo>
                  <a:pt x="3304413" y="519669"/>
                </a:lnTo>
                <a:lnTo>
                  <a:pt x="3360420" y="480465"/>
                </a:lnTo>
                <a:lnTo>
                  <a:pt x="3416427" y="442642"/>
                </a:lnTo>
                <a:lnTo>
                  <a:pt x="3472434" y="406625"/>
                </a:lnTo>
                <a:lnTo>
                  <a:pt x="3528441" y="372907"/>
                </a:lnTo>
                <a:lnTo>
                  <a:pt x="3584448" y="342034"/>
                </a:lnTo>
                <a:lnTo>
                  <a:pt x="3640455" y="314560"/>
                </a:lnTo>
                <a:lnTo>
                  <a:pt x="3696462" y="290996"/>
                </a:lnTo>
                <a:lnTo>
                  <a:pt x="3752469" y="271705"/>
                </a:lnTo>
                <a:lnTo>
                  <a:pt x="3808476" y="256799"/>
                </a:lnTo>
                <a:lnTo>
                  <a:pt x="3864483" y="246156"/>
                </a:lnTo>
                <a:lnTo>
                  <a:pt x="3920490" y="239549"/>
                </a:lnTo>
                <a:lnTo>
                  <a:pt x="3976497" y="236732"/>
                </a:lnTo>
                <a:lnTo>
                  <a:pt x="4032504" y="237502"/>
                </a:lnTo>
                <a:lnTo>
                  <a:pt x="4088511" y="241722"/>
                </a:lnTo>
                <a:lnTo>
                  <a:pt x="4144518" y="249316"/>
                </a:lnTo>
                <a:lnTo>
                  <a:pt x="4200525" y="260242"/>
                </a:lnTo>
                <a:lnTo>
                  <a:pt x="4256532" y="274425"/>
                </a:lnTo>
                <a:lnTo>
                  <a:pt x="4312539" y="291671"/>
                </a:lnTo>
                <a:lnTo>
                  <a:pt x="4368546" y="311589"/>
                </a:lnTo>
                <a:lnTo>
                  <a:pt x="4424553" y="333654"/>
                </a:lnTo>
                <a:lnTo>
                  <a:pt x="4480560" y="357294"/>
                </a:lnTo>
              </a:path>
            </a:pathLst>
          </a:custGeom>
          <a:noFill/>
          <a:ln w="25400">
            <a:solidFill>
              <a:srgbClr val="1630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5004" y="2704749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6699" y="2400998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3589" y="2793218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56839" y="298930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9841" y="202011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07508" y="2011785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3493008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30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70432" y="3447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결과 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40280" y="3547872"/>
            <a:ext cx="274320" cy="0"/>
          </a:xfrm>
          <a:prstGeom prst="line">
            <a:avLst/>
          </a:prstGeom>
          <a:noFill/>
          <a:ln w="25400">
            <a:solidFill>
              <a:srgbClr val="1630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3447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평균 μ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3474720"/>
            <a:ext cx="274320" cy="146304"/>
          </a:xfrm>
          <a:prstGeom prst="rect">
            <a:avLst/>
          </a:prstGeom>
          <a:solidFill>
            <a:srgbClr val="00A3C4">
              <a:alpha val="28000"/>
            </a:srgbClr>
          </a:solidFill>
          <a:ln w="12700">
            <a:solidFill>
              <a:srgbClr val="00A3C4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86200" y="3447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 ±2σ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37673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평균</a:t>
            </a:r>
            <a:endParaRPr lang="en-US" sz="1050" dirty="0"/>
          </a:p>
        </p:txBody>
      </p:sp>
      <p:pic>
        <p:nvPicPr>
          <p:cNvPr id="25" name="Image 0" descr="/home/user/dddd/식/eq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4023360"/>
            <a:ext cx="1778264" cy="25700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13816" y="4307799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설계 x*의 예측 = 해석 결과 y의 가중합. 가중치는 x*가 각 해석점과 얼마나 비슷한지(k*)로 정해짐</a:t>
            </a:r>
            <a:endParaRPr lang="en-US" sz="880" dirty="0"/>
          </a:p>
        </p:txBody>
      </p:sp>
      <p:sp>
        <p:nvSpPr>
          <p:cNvPr id="27" name="Text 24"/>
          <p:cNvSpPr txBox="1"/>
          <p:nvPr/>
        </p:nvSpPr>
        <p:spPr>
          <a:xfrm>
            <a:off x="813816" y="48463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분산 (불확실성)</a:t>
            </a:r>
            <a:endParaRPr lang="en-US" sz="1050" dirty="0"/>
          </a:p>
        </p:txBody>
      </p:sp>
      <p:pic>
        <p:nvPicPr>
          <p:cNvPr id="28" name="Image 1" descr="/home/user/dddd/식/eq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102352"/>
            <a:ext cx="2828971" cy="257007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13816" y="538679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불확실성 k(x*,x*)에서 근처 해석점이 알려준 만큼 빼줌 → 해석점이 가까울수록 작아짐</a:t>
            </a:r>
            <a:endParaRPr lang="en-US" sz="880" dirty="0"/>
          </a:p>
        </p:txBody>
      </p:sp>
      <p:sp>
        <p:nvSpPr>
          <p:cNvPr id="30" name="Text 26"/>
          <p:cNvSpPr txBox="1"/>
          <p:nvPr/>
        </p:nvSpPr>
        <p:spPr>
          <a:xfrm>
            <a:off x="813816" y="58704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: 해석점 80개끼리의 유사도 표 (80 × 80)   ·   k* : 새 설계와 해석점 80개 사이 유사도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6336792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592824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757416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GPR인가  —  본 과제에 적합한 이유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6647688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비용이 큼</a:t>
            </a:r>
            <a:pPr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1회 약 17분 → 대리모델이 해석 대신 수 초 만에 예측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6647688" y="20665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데이터로 학습</a:t>
            </a:r>
            <a:pPr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80점만으로 응답 7개 모델 (교차검증 R² 0.89 ~ 1.00)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6647688" y="2377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 제공</a:t>
            </a:r>
            <a:pPr indent="0" marL="0">
              <a:buNone/>
            </a:pPr>
            <a:r>
              <a:rPr lang="en-US" sz="90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예측 신뢰도를 함께 제공 → 추가 해석 위치 선정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647688" y="2743200"/>
            <a:ext cx="4846320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647688" y="28163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가정</a:t>
            </a:r>
            <a:endParaRPr lang="en-US" sz="1050" dirty="0"/>
          </a:p>
        </p:txBody>
      </p:sp>
      <p:pic>
        <p:nvPicPr>
          <p:cNvPr id="39" name="Image 2" descr="/home/user/dddd/식/eq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072384"/>
            <a:ext cx="3441253" cy="226771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647688" y="3326587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y: 해석 결과  ·  f: 설계에 따라 매끄럽게 변하는 성능  ·  ε: 작은 수치 오차 (크기 σ_n²)</a:t>
            </a:r>
            <a:endParaRPr lang="en-US" sz="880" dirty="0"/>
          </a:p>
        </p:txBody>
      </p:sp>
      <p:sp>
        <p:nvSpPr>
          <p:cNvPr id="41" name="Text 36"/>
          <p:cNvSpPr txBox="1"/>
          <p:nvPr/>
        </p:nvSpPr>
        <p:spPr>
          <a:xfrm>
            <a:off x="6647688" y="36576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 —  Matern 5/2 + ARD</a:t>
            </a:r>
            <a:endParaRPr lang="en-US" sz="1050" dirty="0"/>
          </a:p>
        </p:txBody>
      </p:sp>
      <p:pic>
        <p:nvPicPr>
          <p:cNvPr id="42" name="Image 3" descr="/home/user/dddd/식/eq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3913632"/>
            <a:ext cx="3966606" cy="53858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6647688" y="447964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k: 두 설계가 얼마나 비슷한지 (가까우면 큼)  ·  r: 변수별 눈금 ℓ_d로 잰 거리  ·  ℓ_d가 작으면 그 변수에 민감</a:t>
            </a:r>
            <a:endParaRPr lang="en-US" sz="880" dirty="0"/>
          </a:p>
        </p:txBody>
      </p:sp>
      <p:sp>
        <p:nvSpPr>
          <p:cNvPr id="44" name="Text 38"/>
          <p:cNvSpPr txBox="1"/>
          <p:nvPr/>
        </p:nvSpPr>
        <p:spPr>
          <a:xfrm>
            <a:off x="6647688" y="49377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 —  하이퍼파라미터 결정</a:t>
            </a:r>
            <a:endParaRPr lang="en-US" sz="1050" dirty="0"/>
          </a:p>
        </p:txBody>
      </p:sp>
      <p:pic>
        <p:nvPicPr>
          <p:cNvPr id="45" name="Image 4" descr="/home/user/dddd/식/eq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5193792"/>
            <a:ext cx="3877056" cy="22860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6647688" y="5449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항: 데이터에 잘 맞는지  ·  가운데 항: 너무 복잡하지 않은지 → σ_f, ℓ₁~ℓ₈, σ_n을 이 값이 최대가 되도록 결정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형상 생성부터 설계최적화까지</dc:title>
  <dc:subject>PptxGenJS Presentation</dc:subject>
  <dc:creator>학습조직</dc:creator>
  <cp:lastModifiedBy>학습조직</cp:lastModifiedBy>
  <cp:revision>1</cp:revision>
  <dcterms:created xsi:type="dcterms:W3CDTF">2026-10-26T07:02:43Z</dcterms:created>
  <dcterms:modified xsi:type="dcterms:W3CDTF">2026-10-26T07:02:43Z</dcterms:modified>
</cp:coreProperties>
</file>