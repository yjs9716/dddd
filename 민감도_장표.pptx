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변수별 민감도는 GPR 대리모델로 설계 약 16만 개의 성능을 예측하고, 변수를 하나씩 바꿨을 때 결과가 얼마나 변하는지 비교해서 계산했습니다. 응답 변동을 변수별 기여율로 나눴는데, 변수 하나만으로 생기는 단독 기여율과 다른 변수와의 교호작용 기여율을 합친 것이 총 기여율입니다. 왼쪽 표가 총 기여율로, 1차 핀 개수는 차압과 1차 균일도를, 2차 핀 개수는 2차 균일도를 좌우합니다. 오른쪽은 응답별 교호작용 기여율로, 온도나 분기비는 작지만 균일도는 13~19%로 큽니다. 온도편차는 3%라 거의 변수 하나씩의 효과로 설명되지만, 2차 균일도는 19%라 변동의 약 5분의 1이 변수 조합에서 생깁니다.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대리모델로 설계 약 16만 개 예측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대신 GPR로 계산 — 수십 초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4256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0560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하나씩만 바꿔 결과 비교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변수 때문에 결과가 얼마나 변하는지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54696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65592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1389888"/>
            <a:ext cx="292608" cy="292608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1896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714232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변동을 변수별 기여율(%)로 분해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기여율 + 교호작용 기여율 = 총 기여율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084832"/>
            <a:ext cx="64008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 —  총 기여율 (%)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88336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77240" y="523951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기여율 = 단독 기여율 + 교호작용 기여율 · 색 칸 = 2% 이상 (선별 기준과 동일) · 분산 기반 민감도 분석 (Sobol 지수)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32320" y="2084832"/>
            <a:ext cx="4553712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883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529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응답별 변동 구성 (%)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7406640" y="2688336"/>
            <a:ext cx="201168" cy="128016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662672" y="26334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단독 효과</a:t>
            </a:r>
            <a:endParaRPr lang="en-US" sz="860" dirty="0"/>
          </a:p>
        </p:txBody>
      </p:sp>
      <p:sp>
        <p:nvSpPr>
          <p:cNvPr id="30" name="Shape 27"/>
          <p:cNvSpPr/>
          <p:nvPr/>
        </p:nvSpPr>
        <p:spPr>
          <a:xfrm>
            <a:off x="8641080" y="2688336"/>
            <a:ext cx="201168" cy="128016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897112" y="26334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</a:t>
            </a:r>
            <a:endParaRPr lang="en-US" sz="86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263347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100%</a:t>
            </a:r>
            <a:endParaRPr lang="en-US" sz="86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29260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275320" y="2953512"/>
            <a:ext cx="2437542" cy="182880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2953512"/>
            <a:ext cx="238267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10712862" y="2953512"/>
            <a:ext cx="195930" cy="182880"/>
          </a:xfrm>
          <a:prstGeom prst="rect">
            <a:avLst/>
          </a:prstGeom>
          <a:solidFill>
            <a:srgbClr val="7FD6E8"/>
          </a:solidFill>
          <a:ln w="12700">
            <a:solidFill>
              <a:srgbClr val="7FD6E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63656" y="2926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7406640" y="32004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275320" y="3227832"/>
            <a:ext cx="2566055" cy="182880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275320" y="3227832"/>
            <a:ext cx="251119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97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10841375" y="3227832"/>
            <a:ext cx="67417" cy="182880"/>
          </a:xfrm>
          <a:prstGeom prst="rect">
            <a:avLst/>
          </a:prstGeom>
          <a:solidFill>
            <a:srgbClr val="7FD6E8"/>
          </a:solidFill>
          <a:ln w="12700">
            <a:solidFill>
              <a:srgbClr val="7FD6E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963656" y="32004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7406640" y="34747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8275320" y="3502152"/>
            <a:ext cx="2539984" cy="182880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275320" y="3502152"/>
            <a:ext cx="2485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10815304" y="3502152"/>
            <a:ext cx="93488" cy="182880"/>
          </a:xfrm>
          <a:prstGeom prst="rect">
            <a:avLst/>
          </a:prstGeom>
          <a:solidFill>
            <a:srgbClr val="7FD6E8"/>
          </a:solidFill>
          <a:ln w="12700">
            <a:solidFill>
              <a:srgbClr val="7FD6E8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0963656" y="34747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7406640" y="37490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8275320" y="3776472"/>
            <a:ext cx="2300601" cy="182880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75320" y="3776472"/>
            <a:ext cx="22457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87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575921" y="3776472"/>
            <a:ext cx="332871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963656" y="374904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7406640" y="402336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275320" y="4050792"/>
            <a:ext cx="2142066" cy="182880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275320" y="4050792"/>
            <a:ext cx="208720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417386" y="4050792"/>
            <a:ext cx="49140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963656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7406640" y="42976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8275320" y="4325112"/>
            <a:ext cx="2530767" cy="182880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8275320" y="4325112"/>
            <a:ext cx="24759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</a:t>
            </a:r>
            <a:endParaRPr lang="en-US" sz="800" dirty="0"/>
          </a:p>
        </p:txBody>
      </p:sp>
      <p:sp>
        <p:nvSpPr>
          <p:cNvPr id="61" name="Shape 58"/>
          <p:cNvSpPr/>
          <p:nvPr/>
        </p:nvSpPr>
        <p:spPr>
          <a:xfrm>
            <a:off x="10806087" y="4325112"/>
            <a:ext cx="102705" cy="182880"/>
          </a:xfrm>
          <a:prstGeom prst="rect">
            <a:avLst/>
          </a:prstGeom>
          <a:solidFill>
            <a:srgbClr val="7FD6E8"/>
          </a:solidFill>
          <a:ln w="12700">
            <a:solidFill>
              <a:srgbClr val="7FD6E8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963656" y="42976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63" name="Text 60"/>
          <p:cNvSpPr txBox="1"/>
          <p:nvPr/>
        </p:nvSpPr>
        <p:spPr>
          <a:xfrm>
            <a:off x="7406640" y="45720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8275320" y="4599432"/>
            <a:ext cx="2449129" cy="182880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75320" y="4599432"/>
            <a:ext cx="239426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</a:t>
            </a:r>
            <a:endParaRPr lang="en-US" sz="800" dirty="0"/>
          </a:p>
        </p:txBody>
      </p:sp>
      <p:sp>
        <p:nvSpPr>
          <p:cNvPr id="66" name="Shape 63"/>
          <p:cNvSpPr/>
          <p:nvPr/>
        </p:nvSpPr>
        <p:spPr>
          <a:xfrm>
            <a:off x="10724449" y="4599432"/>
            <a:ext cx="184343" cy="182880"/>
          </a:xfrm>
          <a:prstGeom prst="rect">
            <a:avLst/>
          </a:prstGeom>
          <a:solidFill>
            <a:srgbClr val="7FD6E8"/>
          </a:solidFill>
          <a:ln w="12700">
            <a:solidFill>
              <a:srgbClr val="7FD6E8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10963656" y="45720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7406640" y="4901184"/>
            <a:ext cx="4005072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7534656" y="49011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 → 변동의 97%가 변수 하나씩의 효과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 → 변동의 19%(약 1/5)가 변수 조합에서 생김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균일도는 변수를 하나씩 조정해서는 최적점을 찾기 어려움</a:t>
            </a:r>
            <a:endParaRPr lang="en-US" sz="900" dirty="0"/>
          </a:p>
        </p:txBody>
      </p:sp>
      <p:sp>
        <p:nvSpPr>
          <p:cNvPr id="70" name="Shape 67"/>
          <p:cNvSpPr/>
          <p:nvPr/>
        </p:nvSpPr>
        <p:spPr>
          <a:xfrm>
            <a:off x="502920" y="587044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77240" y="587044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핀 → 차압 · 1차 균일도  /  2차 핀 → 2차 균일도          </a:t>
            </a:r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13% · 2차 19% → 변수 조합까지 함께 봐야 함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2026-10-27T02:24:09Z</dcterms:created>
  <dcterms:modified xsi:type="dcterms:W3CDTF">2026-10-27T02:24:09Z</dcterms:modified>
</cp:coreProperties>
</file>