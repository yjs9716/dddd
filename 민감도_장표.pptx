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GPR 대리모델로 설계 약 16만 개를 예측해서 Sobol 지수를 계산했습니다. 왼쪽 표는 총효과 지수로, 변수가 혼자 내는 효과와 다른 변수와 얽혀서 내는 효과를 합친 전체 영향입니다. 1차 핀 개수는 차압·최고온도·1차 균일도를, 2차 핀 개수는 온도편차·2차 균일도를 좌우합니다. 오른쪽은 교호작용 비율로, 온도나 분기비는 대부분 변수 하나씩의 효과로 설명되지만 균일도는 13~19%가 변수끼리 얽혀서 생깁니다. 이런 복잡한 영역은 80점으로는 아직 데이터가 부족해서, 차월에는 불확실성이 큰 영역에 해석을 추가하는 적응 샘플링을 진행합니다.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머신러닝 대리모델 구축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변수별 민감도 및 교호작용  —  Sobol 지수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6400800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변수별 민감도  —  총효과 지수 ST (%)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792224"/>
          <a:ext cx="585216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646611"/>
                <a:gridCol w="646611"/>
                <a:gridCol w="646611"/>
                <a:gridCol w="646611"/>
                <a:gridCol w="646611"/>
                <a:gridCol w="646611"/>
                <a:gridCol w="646611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설계변수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차압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온도편차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최고온도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균일도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균일도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분기비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중량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입구 유로 두께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D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분기 입구 두께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D0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D6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19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B4C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18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4B9C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4A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 유로 두께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E1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E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0E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 입구 두께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0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E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E2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23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AB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DB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두께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19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0B5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ACF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29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49BB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개수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64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F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37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85A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7B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28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99FB6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핀 두께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6CB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A8BD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핀 개수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49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78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39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829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87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97B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23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5ABC0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777240" y="461772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 = 그 변수가 응답 변동에 미치는 전체 영향 (혼자 내는 효과 + 다른 변수와 얽힌 효과) · 색 칸 = 2% 이상 (선별 기준과 동일) · GPR로 설계 약 16만 개를 예측해 계산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7132320" y="1188720"/>
            <a:ext cx="4553712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388352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552944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교호작용 비율  —  1 − ΣS1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7406640" y="1737360"/>
            <a:ext cx="4005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변동 중 변수끼리 얽혀서 생기는 부분</a:t>
            </a:r>
            <a:endParaRPr lang="en-US" sz="860" dirty="0"/>
          </a:p>
        </p:txBody>
      </p:sp>
      <p:sp>
        <p:nvSpPr>
          <p:cNvPr id="15" name="Text 12"/>
          <p:cNvSpPr txBox="1"/>
          <p:nvPr/>
        </p:nvSpPr>
        <p:spPr>
          <a:xfrm>
            <a:off x="7406640" y="2066544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차압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8275320" y="2112264"/>
            <a:ext cx="2587752" cy="146304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275320" y="2112264"/>
            <a:ext cx="962644" cy="146304"/>
          </a:xfrm>
          <a:prstGeom prst="rect">
            <a:avLst/>
          </a:prstGeom>
          <a:solidFill>
            <a:srgbClr val="9FB0C6"/>
          </a:solidFill>
          <a:ln w="12700">
            <a:solidFill>
              <a:srgbClr val="9FB0C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908792" y="206654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7%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7406640" y="2368296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온도편차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8275320" y="2414016"/>
            <a:ext cx="2587752" cy="146304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275320" y="2414016"/>
            <a:ext cx="331232" cy="146304"/>
          </a:xfrm>
          <a:prstGeom prst="rect">
            <a:avLst/>
          </a:prstGeom>
          <a:solidFill>
            <a:srgbClr val="9FB0C6"/>
          </a:solidFill>
          <a:ln w="12700">
            <a:solidFill>
              <a:srgbClr val="9FB0C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08792" y="2368296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3%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7406640" y="2670048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최고온도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8275320" y="2715768"/>
            <a:ext cx="2587752" cy="146304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275320" y="2715768"/>
            <a:ext cx="459326" cy="146304"/>
          </a:xfrm>
          <a:prstGeom prst="rect">
            <a:avLst/>
          </a:prstGeom>
          <a:solidFill>
            <a:srgbClr val="9FB0C6"/>
          </a:solidFill>
          <a:ln w="12700">
            <a:solidFill>
              <a:srgbClr val="9FB0C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0908792" y="267004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4%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7406640" y="2971800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균일도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8275320" y="3017520"/>
            <a:ext cx="2587752" cy="146304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275320" y="3017520"/>
            <a:ext cx="1635459" cy="146304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10908792" y="2971800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13%</a:t>
            </a:r>
            <a:endParaRPr lang="en-US" sz="900" dirty="0"/>
          </a:p>
        </p:txBody>
      </p:sp>
      <p:sp>
        <p:nvSpPr>
          <p:cNvPr id="31" name="Text 28"/>
          <p:cNvSpPr txBox="1"/>
          <p:nvPr/>
        </p:nvSpPr>
        <p:spPr>
          <a:xfrm>
            <a:off x="7406640" y="3273552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 균일도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8275320" y="3319272"/>
            <a:ext cx="2587752" cy="146304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275320" y="3319272"/>
            <a:ext cx="2414373" cy="146304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10908792" y="327355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19%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7406640" y="3575304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분기비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8275320" y="3621024"/>
            <a:ext cx="2587752" cy="146304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8275320" y="3621024"/>
            <a:ext cx="504612" cy="146304"/>
          </a:xfrm>
          <a:prstGeom prst="rect">
            <a:avLst/>
          </a:prstGeom>
          <a:solidFill>
            <a:srgbClr val="9FB0C6"/>
          </a:solidFill>
          <a:ln w="12700">
            <a:solidFill>
              <a:srgbClr val="9FB0C6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10908792" y="357530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4%</a:t>
            </a:r>
            <a:endParaRPr lang="en-US" sz="900" dirty="0"/>
          </a:p>
        </p:txBody>
      </p:sp>
      <p:sp>
        <p:nvSpPr>
          <p:cNvPr id="39" name="Text 36"/>
          <p:cNvSpPr txBox="1"/>
          <p:nvPr/>
        </p:nvSpPr>
        <p:spPr>
          <a:xfrm>
            <a:off x="7406640" y="3877056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중량</a:t>
            </a:r>
            <a:endParaRPr lang="en-US" sz="900" dirty="0"/>
          </a:p>
        </p:txBody>
      </p:sp>
      <p:sp>
        <p:nvSpPr>
          <p:cNvPr id="40" name="Shape 37"/>
          <p:cNvSpPr/>
          <p:nvPr/>
        </p:nvSpPr>
        <p:spPr>
          <a:xfrm>
            <a:off x="8275320" y="3922776"/>
            <a:ext cx="2587752" cy="146304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8275320" y="3922776"/>
            <a:ext cx="905713" cy="146304"/>
          </a:xfrm>
          <a:prstGeom prst="rect">
            <a:avLst/>
          </a:prstGeom>
          <a:solidFill>
            <a:srgbClr val="9FB0C6"/>
          </a:solidFill>
          <a:ln w="12700">
            <a:solidFill>
              <a:srgbClr val="9FB0C6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10908792" y="3877056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7%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7406640" y="4279392"/>
            <a:ext cx="4005072" cy="914400"/>
          </a:xfrm>
          <a:prstGeom prst="roundRect">
            <a:avLst>
              <a:gd name="adj" fmla="val 6000"/>
            </a:avLst>
          </a:prstGeom>
          <a:solidFill>
            <a:srgbClr val="E8F6FA"/>
          </a:solidFill>
          <a:ln w="9525">
            <a:solidFill>
              <a:srgbClr val="00A3C4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7534656" y="4279392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예) 2차 균일도 — 분기 입구 두께</a:t>
            </a:r>
            <a:endParaRPr lang="en-US" sz="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0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혼자 7% → 얽힌 효과 포함 18%</a:t>
            </a:r>
            <a:endParaRPr lang="en-US" sz="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변수를 하나씩 조정해서는 최적점을 찾기 어려움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502920" y="5541264"/>
            <a:ext cx="11183112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8321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9784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핀 개수가 성능을 좌우</a:t>
            </a:r>
            <a:endParaRPr lang="en-US" sz="1050" dirty="0"/>
          </a:p>
        </p:txBody>
      </p:sp>
      <p:sp>
        <p:nvSpPr>
          <p:cNvPr id="48" name="Text 45"/>
          <p:cNvSpPr txBox="1"/>
          <p:nvPr/>
        </p:nvSpPr>
        <p:spPr>
          <a:xfrm>
            <a:off x="9784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핀 → 차압 · 1차 균일도  /  2차 핀 → 2차 균일도</a:t>
            </a:r>
            <a:endParaRPr lang="en-US" sz="950" dirty="0"/>
          </a:p>
        </p:txBody>
      </p:sp>
      <p:sp>
        <p:nvSpPr>
          <p:cNvPr id="49" name="Shape 46"/>
          <p:cNvSpPr/>
          <p:nvPr/>
        </p:nvSpPr>
        <p:spPr>
          <a:xfrm>
            <a:off x="44897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46360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균일도는 교호작용이 큼</a:t>
            </a:r>
            <a:endParaRPr lang="en-US" sz="1050" dirty="0"/>
          </a:p>
        </p:txBody>
      </p:sp>
      <p:sp>
        <p:nvSpPr>
          <p:cNvPr id="51" name="Text 48"/>
          <p:cNvSpPr txBox="1"/>
          <p:nvPr/>
        </p:nvSpPr>
        <p:spPr>
          <a:xfrm>
            <a:off x="46360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13% · 2차 19% → 변수 조합까지 함께 봐야 함</a:t>
            </a:r>
            <a:endParaRPr lang="en-US" sz="950" dirty="0"/>
          </a:p>
        </p:txBody>
      </p:sp>
      <p:sp>
        <p:nvSpPr>
          <p:cNvPr id="52" name="Shape 49"/>
          <p:cNvSpPr/>
          <p:nvPr/>
        </p:nvSpPr>
        <p:spPr>
          <a:xfrm>
            <a:off x="81473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82936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차월 — 적응 샘플링</a:t>
            </a:r>
            <a:endParaRPr lang="en-US" sz="1050" dirty="0"/>
          </a:p>
        </p:txBody>
      </p:sp>
      <p:sp>
        <p:nvSpPr>
          <p:cNvPr id="54" name="Text 51"/>
          <p:cNvSpPr txBox="1"/>
          <p:nvPr/>
        </p:nvSpPr>
        <p:spPr>
          <a:xfrm>
            <a:off x="82936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80점으로는 데이터 부족 → 불확실성 큰 영역에 해석 추가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형상 생성부터 설계최적화까지</dc:title>
  <dc:subject>PptxGenJS Presentation</dc:subject>
  <dc:creator>학습조직</dc:creator>
  <cp:lastModifiedBy>학습조직</cp:lastModifiedBy>
  <cp:revision>1</cp:revision>
  <dcterms:created xsi:type="dcterms:W3CDTF">2026-10-26T08:04:53Z</dcterms:created>
  <dcterms:modified xsi:type="dcterms:W3CDTF">2026-10-26T08:04:53Z</dcterms:modified>
</cp:coreProperties>
</file>