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GPR 대리모델로 설계 약 16만 개의 성능을 예측하고, 변수를 하나씩 바꿨을 때 결과가 얼마나 변하는지 비교해서 계산했습니다. 응답 변동을 변수별 기여율로 나눴는데, 변수 하나만으로 생기는 단독 기여율과 다른 변수와의 교호작용 기여율을 합친 것이 총 기여율입니다. 왼쪽 표가 총 기여율로, 1차 핀 개수는 차압과 1차 균일도를, 2차 핀 개수는 2차 균일도를 좌우합니다. 오른쪽은 응답별 교호작용 기여율로, 온도나 분기비는 작지만 균일도는 13~19%로 큽니다. 온도편차는 3%라 거의 변수 하나씩의 효과로 설명되지만, 2차 균일도는 19%라 변동의 약 5분의 1이 변수 조합에서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기여율(%)로 분해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+ 교호작용 기여율 = 총 기여율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 기여율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기여율 = 단독 기여율 + 교호작용 기여율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변동 구성 (%)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7406640" y="2679192"/>
            <a:ext cx="182880" cy="118872"/>
          </a:xfrm>
          <a:prstGeom prst="rect">
            <a:avLst/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35240" y="263347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개수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8741664" y="2679192"/>
            <a:ext cx="182880" cy="118872"/>
          </a:xfrm>
          <a:prstGeom prst="rect">
            <a:avLst/>
          </a:prstGeom>
          <a:solidFill>
            <a:srgbClr val="3D6FB0"/>
          </a:solidFill>
          <a:ln w="9525">
            <a:solidFill>
              <a:srgbClr val="3D6FB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970264" y="263347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개수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10076688" y="2679192"/>
            <a:ext cx="182880" cy="118872"/>
          </a:xfrm>
          <a:prstGeom prst="rect">
            <a:avLst/>
          </a:prstGeom>
          <a:solidFill>
            <a:srgbClr val="7FA6D9"/>
          </a:solidFill>
          <a:ln w="9525">
            <a:solidFill>
              <a:srgbClr val="7FA6D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305288" y="263347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핀 두께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7406640" y="2898648"/>
            <a:ext cx="182880" cy="118872"/>
          </a:xfrm>
          <a:prstGeom prst="rect">
            <a:avLst/>
          </a:prstGeom>
          <a:solidFill>
            <a:srgbClr val="B7CDEB"/>
          </a:solidFill>
          <a:ln w="9525">
            <a:solidFill>
              <a:srgbClr val="B7CDE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635240" y="2852928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핀 두께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8741664" y="2898648"/>
            <a:ext cx="182880" cy="118872"/>
          </a:xfrm>
          <a:prstGeom prst="rect">
            <a:avLst/>
          </a:prstGeom>
          <a:solidFill>
            <a:srgbClr val="E08A2E"/>
          </a:solidFill>
          <a:ln w="9525">
            <a:solidFill>
              <a:srgbClr val="E08A2E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970264" y="2852928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 입구 두께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10076688" y="2898648"/>
            <a:ext cx="182880" cy="118872"/>
          </a:xfrm>
          <a:prstGeom prst="rect">
            <a:avLst/>
          </a:prstGeom>
          <a:solidFill>
            <a:srgbClr val="F2C14E"/>
          </a:solidFill>
          <a:ln w="9525">
            <a:solidFill>
              <a:srgbClr val="F2C14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05288" y="2852928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입구 두께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7406640" y="3118104"/>
            <a:ext cx="182880" cy="118872"/>
          </a:xfrm>
          <a:prstGeom prst="rect">
            <a:avLst/>
          </a:prstGeom>
          <a:solidFill>
            <a:srgbClr val="8E99A6"/>
          </a:solidFill>
          <a:ln w="9525">
            <a:solidFill>
              <a:srgbClr val="8E99A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635240" y="3072384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 유로 두께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8741664" y="3118104"/>
            <a:ext cx="182880" cy="118872"/>
          </a:xfrm>
          <a:prstGeom prst="rect">
            <a:avLst/>
          </a:prstGeom>
          <a:solidFill>
            <a:srgbClr val="C9D0D8"/>
          </a:solidFill>
          <a:ln w="9525">
            <a:solidFill>
              <a:srgbClr val="C9D0D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8970264" y="3072384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 유로 두께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10076688" y="3118104"/>
            <a:ext cx="182880" cy="118872"/>
          </a:xfrm>
          <a:prstGeom prst="rect">
            <a:avLst/>
          </a:prstGeom>
          <a:solidFill>
            <a:srgbClr val="00A3C4"/>
          </a:solidFill>
          <a:ln w="9525">
            <a:solidFill>
              <a:srgbClr val="0088A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305288" y="3072384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7406640" y="329184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8275320" y="3319272"/>
            <a:ext cx="1574025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75320" y="3319272"/>
            <a:ext cx="157402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9849345" y="3319272"/>
            <a:ext cx="104756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9954102" y="3319272"/>
            <a:ext cx="354993" cy="201168"/>
          </a:xfrm>
          <a:prstGeom prst="rect">
            <a:avLst/>
          </a:prstGeom>
          <a:solidFill>
            <a:srgbClr val="7FA6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954102" y="3319272"/>
            <a:ext cx="35499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750" dirty="0"/>
          </a:p>
        </p:txBody>
      </p:sp>
      <p:sp>
        <p:nvSpPr>
          <p:cNvPr id="52" name="Shape 49"/>
          <p:cNvSpPr/>
          <p:nvPr/>
        </p:nvSpPr>
        <p:spPr>
          <a:xfrm>
            <a:off x="10309095" y="3319272"/>
            <a:ext cx="14736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323830" y="3319272"/>
            <a:ext cx="204958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528788" y="3319272"/>
            <a:ext cx="73678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02466" y="3319272"/>
            <a:ext cx="134228" cy="201168"/>
          </a:xfrm>
          <a:prstGeom prst="rect">
            <a:avLst/>
          </a:prstGeom>
          <a:solidFill>
            <a:srgbClr val="8E99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36694" y="3319272"/>
            <a:ext cx="18486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755180" y="3319272"/>
            <a:ext cx="199332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1009376" y="329184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7406640" y="359359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8275320" y="3621024"/>
            <a:ext cx="988890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75320" y="3621024"/>
            <a:ext cx="98889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750" dirty="0"/>
          </a:p>
        </p:txBody>
      </p:sp>
      <p:sp>
        <p:nvSpPr>
          <p:cNvPr id="62" name="Shape 59"/>
          <p:cNvSpPr/>
          <p:nvPr/>
        </p:nvSpPr>
        <p:spPr>
          <a:xfrm>
            <a:off x="9264210" y="3621024"/>
            <a:ext cx="1268865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9264210" y="3621024"/>
            <a:ext cx="126886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750" dirty="0"/>
          </a:p>
        </p:txBody>
      </p:sp>
      <p:sp>
        <p:nvSpPr>
          <p:cNvPr id="64" name="Shape 61"/>
          <p:cNvSpPr/>
          <p:nvPr/>
        </p:nvSpPr>
        <p:spPr>
          <a:xfrm>
            <a:off x="10533075" y="3621024"/>
            <a:ext cx="33490" cy="201168"/>
          </a:xfrm>
          <a:prstGeom prst="rect">
            <a:avLst/>
          </a:prstGeom>
          <a:solidFill>
            <a:srgbClr val="7FA6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566565" y="3621024"/>
            <a:ext cx="15539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0582104" y="3621024"/>
            <a:ext cx="143069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0725173" y="3621024"/>
            <a:ext cx="78500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10803673" y="3621024"/>
            <a:ext cx="20362" cy="201168"/>
          </a:xfrm>
          <a:prstGeom prst="rect">
            <a:avLst/>
          </a:prstGeom>
          <a:solidFill>
            <a:srgbClr val="8E99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10824035" y="3621024"/>
            <a:ext cx="61889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885925" y="3621024"/>
            <a:ext cx="68587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11009376" y="359359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72" name="Text 69"/>
          <p:cNvSpPr txBox="1"/>
          <p:nvPr/>
        </p:nvSpPr>
        <p:spPr>
          <a:xfrm>
            <a:off x="7406640" y="3895344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73" name="Shape 70"/>
          <p:cNvSpPr/>
          <p:nvPr/>
        </p:nvSpPr>
        <p:spPr>
          <a:xfrm>
            <a:off x="8275320" y="3922776"/>
            <a:ext cx="1064175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275320" y="3922776"/>
            <a:ext cx="10641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750" dirty="0"/>
          </a:p>
        </p:txBody>
      </p:sp>
      <p:sp>
        <p:nvSpPr>
          <p:cNvPr id="75" name="Shape 72"/>
          <p:cNvSpPr/>
          <p:nvPr/>
        </p:nvSpPr>
        <p:spPr>
          <a:xfrm>
            <a:off x="9339495" y="3922776"/>
            <a:ext cx="986746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339495" y="3922776"/>
            <a:ext cx="9867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750" dirty="0"/>
          </a:p>
        </p:txBody>
      </p:sp>
      <p:sp>
        <p:nvSpPr>
          <p:cNvPr id="77" name="Shape 74"/>
          <p:cNvSpPr/>
          <p:nvPr/>
        </p:nvSpPr>
        <p:spPr>
          <a:xfrm>
            <a:off x="10326241" y="3922776"/>
            <a:ext cx="22237" cy="201168"/>
          </a:xfrm>
          <a:prstGeom prst="rect">
            <a:avLst/>
          </a:prstGeom>
          <a:solidFill>
            <a:srgbClr val="7FA6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10348479" y="3922776"/>
            <a:ext cx="4019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10352498" y="3922776"/>
            <a:ext cx="453319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10352498" y="3922776"/>
            <a:ext cx="4533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750" dirty="0"/>
          </a:p>
        </p:txBody>
      </p:sp>
      <p:sp>
        <p:nvSpPr>
          <p:cNvPr id="81" name="Shape 78"/>
          <p:cNvSpPr/>
          <p:nvPr/>
        </p:nvSpPr>
        <p:spPr>
          <a:xfrm>
            <a:off x="10805817" y="3922776"/>
            <a:ext cx="30007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79"/>
          <p:cNvSpPr/>
          <p:nvPr/>
        </p:nvSpPr>
        <p:spPr>
          <a:xfrm>
            <a:off x="10835824" y="3922776"/>
            <a:ext cx="23309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10859133" y="3922776"/>
            <a:ext cx="95111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11009376" y="389534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85" name="Text 82"/>
          <p:cNvSpPr txBox="1"/>
          <p:nvPr/>
        </p:nvSpPr>
        <p:spPr>
          <a:xfrm>
            <a:off x="7406640" y="4197096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8275320" y="4224528"/>
            <a:ext cx="1833103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8275320" y="4224528"/>
            <a:ext cx="18331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750" dirty="0"/>
          </a:p>
        </p:txBody>
      </p:sp>
      <p:sp>
        <p:nvSpPr>
          <p:cNvPr id="88" name="Shape 85"/>
          <p:cNvSpPr/>
          <p:nvPr/>
        </p:nvSpPr>
        <p:spPr>
          <a:xfrm>
            <a:off x="10108423" y="4224528"/>
            <a:ext cx="153518" cy="201168"/>
          </a:xfrm>
          <a:prstGeom prst="rect">
            <a:avLst/>
          </a:prstGeom>
          <a:solidFill>
            <a:srgbClr val="7FA6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261941" y="4224528"/>
            <a:ext cx="344544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10261941" y="4224528"/>
            <a:ext cx="344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750" dirty="0"/>
          </a:p>
        </p:txBody>
      </p:sp>
      <p:sp>
        <p:nvSpPr>
          <p:cNvPr id="91" name="Shape 88"/>
          <p:cNvSpPr/>
          <p:nvPr/>
        </p:nvSpPr>
        <p:spPr>
          <a:xfrm>
            <a:off x="10606485" y="4224528"/>
            <a:ext cx="8573" cy="201168"/>
          </a:xfrm>
          <a:prstGeom prst="rect">
            <a:avLst/>
          </a:prstGeom>
          <a:solidFill>
            <a:srgbClr val="8E99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10615058" y="4224528"/>
            <a:ext cx="338650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10615058" y="4224528"/>
            <a:ext cx="3386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1009376" y="419709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95" name="Text 92"/>
          <p:cNvSpPr txBox="1"/>
          <p:nvPr/>
        </p:nvSpPr>
        <p:spPr>
          <a:xfrm>
            <a:off x="7406640" y="4498848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8275320" y="4526280"/>
            <a:ext cx="1818100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8275320" y="4526280"/>
            <a:ext cx="18181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68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10093420" y="4526280"/>
            <a:ext cx="148963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10242383" y="4526280"/>
            <a:ext cx="179506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10421889" y="4526280"/>
            <a:ext cx="6698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10428587" y="4526280"/>
            <a:ext cx="4019" cy="201168"/>
          </a:xfrm>
          <a:prstGeom prst="rect">
            <a:avLst/>
          </a:prstGeom>
          <a:solidFill>
            <a:srgbClr val="8E99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2" name="Shape 99"/>
          <p:cNvSpPr/>
          <p:nvPr/>
        </p:nvSpPr>
        <p:spPr>
          <a:xfrm>
            <a:off x="10432605" y="4526280"/>
            <a:ext cx="21434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10454039" y="4526280"/>
            <a:ext cx="499937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10454039" y="4526280"/>
            <a:ext cx="49993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11009376" y="449884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106" name="Text 103"/>
          <p:cNvSpPr txBox="1"/>
          <p:nvPr/>
        </p:nvSpPr>
        <p:spPr>
          <a:xfrm>
            <a:off x="7406640" y="4800600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107" name="Shape 104"/>
          <p:cNvSpPr/>
          <p:nvPr/>
        </p:nvSpPr>
        <p:spPr>
          <a:xfrm>
            <a:off x="8275320" y="4828032"/>
            <a:ext cx="3751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Shape 105"/>
          <p:cNvSpPr/>
          <p:nvPr/>
        </p:nvSpPr>
        <p:spPr>
          <a:xfrm>
            <a:off x="8279071" y="4828032"/>
            <a:ext cx="743476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8279071" y="4828032"/>
            <a:ext cx="7434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750" dirty="0"/>
          </a:p>
        </p:txBody>
      </p:sp>
      <p:sp>
        <p:nvSpPr>
          <p:cNvPr id="110" name="Shape 107"/>
          <p:cNvSpPr/>
          <p:nvPr/>
        </p:nvSpPr>
        <p:spPr>
          <a:xfrm>
            <a:off x="9022547" y="4828032"/>
            <a:ext cx="147891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Shape 108"/>
          <p:cNvSpPr/>
          <p:nvPr/>
        </p:nvSpPr>
        <p:spPr>
          <a:xfrm>
            <a:off x="9170438" y="4828032"/>
            <a:ext cx="1576972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9170438" y="4828032"/>
            <a:ext cx="15769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750" dirty="0"/>
          </a:p>
        </p:txBody>
      </p:sp>
      <p:sp>
        <p:nvSpPr>
          <p:cNvPr id="113" name="Shape 110"/>
          <p:cNvSpPr/>
          <p:nvPr/>
        </p:nvSpPr>
        <p:spPr>
          <a:xfrm>
            <a:off x="10747410" y="4828032"/>
            <a:ext cx="28132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10775542" y="4828032"/>
            <a:ext cx="74482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>
            <a:off x="10850024" y="4828032"/>
            <a:ext cx="104488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11009376" y="480060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117" name="Text 114"/>
          <p:cNvSpPr txBox="1"/>
          <p:nvPr/>
        </p:nvSpPr>
        <p:spPr>
          <a:xfrm>
            <a:off x="7406640" y="5102352"/>
            <a:ext cx="804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118" name="Shape 115"/>
          <p:cNvSpPr/>
          <p:nvPr/>
        </p:nvSpPr>
        <p:spPr>
          <a:xfrm>
            <a:off x="8275320" y="5129784"/>
            <a:ext cx="627199" cy="201168"/>
          </a:xfrm>
          <a:prstGeom prst="rect">
            <a:avLst/>
          </a:prstGeom>
          <a:solidFill>
            <a:srgbClr val="16305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8275320" y="5129784"/>
            <a:ext cx="6271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750" dirty="0"/>
          </a:p>
        </p:txBody>
      </p:sp>
      <p:sp>
        <p:nvSpPr>
          <p:cNvPr id="120" name="Shape 117"/>
          <p:cNvSpPr/>
          <p:nvPr/>
        </p:nvSpPr>
        <p:spPr>
          <a:xfrm>
            <a:off x="8902519" y="5129784"/>
            <a:ext cx="520567" cy="201168"/>
          </a:xfrm>
          <a:prstGeom prst="rect">
            <a:avLst/>
          </a:prstGeom>
          <a:solidFill>
            <a:srgbClr val="3D6FB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8"/>
          <p:cNvSpPr txBox="1"/>
          <p:nvPr/>
        </p:nvSpPr>
        <p:spPr>
          <a:xfrm>
            <a:off x="8902519" y="5129784"/>
            <a:ext cx="52056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750" dirty="0"/>
          </a:p>
        </p:txBody>
      </p:sp>
      <p:sp>
        <p:nvSpPr>
          <p:cNvPr id="122" name="Shape 119"/>
          <p:cNvSpPr/>
          <p:nvPr/>
        </p:nvSpPr>
        <p:spPr>
          <a:xfrm>
            <a:off x="9423086" y="5129784"/>
            <a:ext cx="668458" cy="201168"/>
          </a:xfrm>
          <a:prstGeom prst="rect">
            <a:avLst/>
          </a:prstGeom>
          <a:solidFill>
            <a:srgbClr val="7FA6D9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Text 120"/>
          <p:cNvSpPr txBox="1"/>
          <p:nvPr/>
        </p:nvSpPr>
        <p:spPr>
          <a:xfrm>
            <a:off x="9423086" y="5129784"/>
            <a:ext cx="6684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750" dirty="0"/>
          </a:p>
        </p:txBody>
      </p:sp>
      <p:sp>
        <p:nvSpPr>
          <p:cNvPr id="124" name="Shape 121"/>
          <p:cNvSpPr/>
          <p:nvPr/>
        </p:nvSpPr>
        <p:spPr>
          <a:xfrm>
            <a:off x="10091544" y="5129784"/>
            <a:ext cx="549234" cy="201168"/>
          </a:xfrm>
          <a:prstGeom prst="rect">
            <a:avLst/>
          </a:prstGeom>
          <a:solidFill>
            <a:srgbClr val="B7CDE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5" name="Text 122"/>
          <p:cNvSpPr txBox="1"/>
          <p:nvPr/>
        </p:nvSpPr>
        <p:spPr>
          <a:xfrm>
            <a:off x="10091544" y="5129784"/>
            <a:ext cx="5492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750" dirty="0"/>
          </a:p>
        </p:txBody>
      </p:sp>
      <p:sp>
        <p:nvSpPr>
          <p:cNvPr id="126" name="Shape 123"/>
          <p:cNvSpPr/>
          <p:nvPr/>
        </p:nvSpPr>
        <p:spPr>
          <a:xfrm>
            <a:off x="10640779" y="5129784"/>
            <a:ext cx="4019" cy="201168"/>
          </a:xfrm>
          <a:prstGeom prst="rect">
            <a:avLst/>
          </a:prstGeom>
          <a:solidFill>
            <a:srgbClr val="E08A2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>
            <a:off x="10644797" y="5129784"/>
            <a:ext cx="28667" cy="201168"/>
          </a:xfrm>
          <a:prstGeom prst="rect">
            <a:avLst/>
          </a:prstGeom>
          <a:solidFill>
            <a:srgbClr val="F2C14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10673465" y="5129784"/>
            <a:ext cx="18486" cy="201168"/>
          </a:xfrm>
          <a:prstGeom prst="rect">
            <a:avLst/>
          </a:prstGeom>
          <a:solidFill>
            <a:srgbClr val="8E99A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10691951" y="5129784"/>
            <a:ext cx="75017" cy="201168"/>
          </a:xfrm>
          <a:prstGeom prst="rect">
            <a:avLst/>
          </a:prstGeom>
          <a:solidFill>
            <a:srgbClr val="C9D0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0" name="Shape 127"/>
          <p:cNvSpPr/>
          <p:nvPr/>
        </p:nvSpPr>
        <p:spPr>
          <a:xfrm>
            <a:off x="10766969" y="5129784"/>
            <a:ext cx="187543" cy="201168"/>
          </a:xfrm>
          <a:prstGeom prst="rect">
            <a:avLst/>
          </a:prstGeom>
          <a:solidFill>
            <a:srgbClr val="00A3C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8"/>
          <p:cNvSpPr txBox="1"/>
          <p:nvPr/>
        </p:nvSpPr>
        <p:spPr>
          <a:xfrm>
            <a:off x="11009376" y="51023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132" name="Text 129"/>
          <p:cNvSpPr txBox="1"/>
          <p:nvPr/>
        </p:nvSpPr>
        <p:spPr>
          <a:xfrm>
            <a:off x="7406640" y="5449824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안 숫자 = 변수별 단독 효과(%) · 오른쪽 % = 교호작용</a:t>
            </a:r>
            <a:endParaRPr lang="en-US" sz="800" dirty="0"/>
          </a:p>
        </p:txBody>
      </p:sp>
      <p:sp>
        <p:nvSpPr>
          <p:cNvPr id="133" name="Shape 130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34" name="Text 131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2026-10-27T02:25:58Z</dcterms:created>
  <dcterms:modified xsi:type="dcterms:W3CDTF">2026-10-27T02:25:58Z</dcterms:modified>
</cp:coreProperties>
</file>